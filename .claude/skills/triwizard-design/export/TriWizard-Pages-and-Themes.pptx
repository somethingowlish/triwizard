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svg"/><Relationship Id="rId14" Type="http://schemas.openxmlformats.org/officeDocument/2006/relationships/image" Target="../media/image-9-14.png"/><Relationship Id="rId15" Type="http://schemas.openxmlformats.org/officeDocument/2006/relationships/image" Target="../media/image-9-15.sv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image" Target="../media/image-11-13.png"/><Relationship Id="rId14" Type="http://schemas.openxmlformats.org/officeDocument/2006/relationships/image" Target="../media/image-11-14.svg"/><Relationship Id="rId15" Type="http://schemas.openxmlformats.org/officeDocument/2006/relationships/image" Target="../media/image-11-15.png"/><Relationship Id="rId16" Type="http://schemas.openxmlformats.org/officeDocument/2006/relationships/image" Target="../media/image-11-16.svg"/><Relationship Id="rId17" Type="http://schemas.openxmlformats.org/officeDocument/2006/relationships/image" Target="../media/image-11-17.png"/><Relationship Id="rId18" Type="http://schemas.openxmlformats.org/officeDocument/2006/relationships/image" Target="../media/image-11-18.svg"/><Relationship Id="rId19" Type="http://schemas.openxmlformats.org/officeDocument/2006/relationships/slideLayout" Target="../slideLayouts/slideLayout1.xml"/><Relationship Id="rId2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9.png"/><Relationship Id="rId10" Type="http://schemas.openxmlformats.org/officeDocument/2006/relationships/image" Target="../media/image-14-10.sv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9.png"/><Relationship Id="rId10" Type="http://schemas.openxmlformats.org/officeDocument/2006/relationships/image" Target="../media/image-15-10.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image" Target="../media/image-16-7.png"/><Relationship Id="rId8" Type="http://schemas.openxmlformats.org/officeDocument/2006/relationships/image" Target="../media/image-16-8.svg"/><Relationship Id="rId9" Type="http://schemas.openxmlformats.org/officeDocument/2006/relationships/image" Target="../media/image-16-9.png"/><Relationship Id="rId10" Type="http://schemas.openxmlformats.org/officeDocument/2006/relationships/image" Target="../media/image-16-10.sv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8-9.png"/><Relationship Id="rId10" Type="http://schemas.openxmlformats.org/officeDocument/2006/relationships/image" Target="../media/image-18-10.svg"/><Relationship Id="rId11" Type="http://schemas.openxmlformats.org/officeDocument/2006/relationships/image" Target="../media/image-18-11.png"/><Relationship Id="rId12" Type="http://schemas.openxmlformats.org/officeDocument/2006/relationships/image" Target="../media/image-18-12.sv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svg"/><Relationship Id="rId13" Type="http://schemas.openxmlformats.org/officeDocument/2006/relationships/image" Target="../media/image-19-13.png"/><Relationship Id="rId14" Type="http://schemas.openxmlformats.org/officeDocument/2006/relationships/image" Target="../media/image-19-14.svg"/><Relationship Id="rId15" Type="http://schemas.openxmlformats.org/officeDocument/2006/relationships/slideLayout" Target="../slideLayouts/slideLayout1.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svg"/><Relationship Id="rId13" Type="http://schemas.openxmlformats.org/officeDocument/2006/relationships/image" Target="../media/image-20-13.png"/><Relationship Id="rId14" Type="http://schemas.openxmlformats.org/officeDocument/2006/relationships/image" Target="../media/image-20-14.svg"/><Relationship Id="rId15" Type="http://schemas.openxmlformats.org/officeDocument/2006/relationships/slideLayout" Target="../slideLayouts/slideLayout1.xml"/><Relationship Id="rId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2399556"/>
            <a:ext cx="2500357" cy="552450"/>
          </a:xfrm>
          <a:prstGeom prst="rect">
            <a:avLst/>
          </a:prstGeom>
          <a:noFill/>
          <a:ln/>
        </p:spPr>
        <p:txBody>
          <a:bodyPr wrap="square" lIns="25400" tIns="25400" rIns="25400" bIns="25400" rtlCol="0" anchor="t">
            <a:normAutofit/>
          </a:bodyPr>
          <a:lstStyle/>
          <a:p>
            <a:pPr algn="l" indent="0" marL="0">
              <a:buNone/>
            </a:pPr>
            <a:r>
              <a:rPr lang="en-US" sz="3000" spc="1200" kern="0" dirty="0">
                <a:solidFill>
                  <a:srgbClr val="DB4A3F"/>
                </a:solidFill>
                <a:latin typeface="Georgia" pitchFamily="34" charset="0"/>
                <a:ea typeface="Georgia" pitchFamily="34" charset="-122"/>
                <a:cs typeface="Georgia" pitchFamily="34" charset="-120"/>
              </a:rPr>
              <a:t>ᛏ ᛁ ᛜ</a:t>
            </a:r>
            <a:endParaRPr lang="en-US" sz="3000" dirty="0"/>
          </a:p>
        </p:txBody>
      </p:sp>
      <p:sp>
        <p:nvSpPr>
          <p:cNvPr id="4" name="Text 2"/>
          <p:cNvSpPr/>
          <p:nvPr/>
        </p:nvSpPr>
        <p:spPr>
          <a:xfrm>
            <a:off x="533400" y="3161556"/>
            <a:ext cx="8517307" cy="1194792"/>
          </a:xfrm>
          <a:prstGeom prst="rect">
            <a:avLst/>
          </a:prstGeom>
          <a:noFill/>
          <a:ln/>
        </p:spPr>
        <p:txBody>
          <a:bodyPr wrap="square" lIns="25400" tIns="25400" rIns="25400" bIns="25400" rtlCol="0" anchor="t">
            <a:normAutofit/>
          </a:bodyPr>
          <a:lstStyle/>
          <a:p>
            <a:pPr algn="l" indent="0" marL="0">
              <a:lnSpc>
                <a:spcPct val="92000"/>
              </a:lnSpc>
              <a:buNone/>
            </a:pPr>
            <a:r>
              <a:rPr lang="en-US" sz="9900" b="1" spc="396" kern="0" dirty="0">
                <a:solidFill>
                  <a:srgbClr val="ECE6D6"/>
                </a:solidFill>
                <a:latin typeface="Georgia" pitchFamily="34" charset="0"/>
                <a:ea typeface="Georgia" pitchFamily="34" charset="-122"/>
                <a:cs typeface="Georgia" pitchFamily="34" charset="-120"/>
              </a:rPr>
              <a:t>TRI</a:t>
            </a:r>
            <a:pPr algn="l" indent="0" marL="0">
              <a:lnSpc>
                <a:spcPct val="92000"/>
              </a:lnSpc>
              <a:buNone/>
            </a:pPr>
            <a:r>
              <a:rPr lang="en-US" sz="9900" b="1" spc="396" kern="0" dirty="0">
                <a:solidFill>
                  <a:srgbClr val="DB4A3F"/>
                </a:solidFill>
                <a:latin typeface="Georgia" pitchFamily="34" charset="0"/>
                <a:ea typeface="Georgia" pitchFamily="34" charset="-122"/>
                <a:cs typeface="Georgia" pitchFamily="34" charset="-120"/>
              </a:rPr>
              <a:t>WIZARD</a:t>
            </a:r>
            <a:endParaRPr lang="en-US" sz="9900" dirty="0"/>
          </a:p>
        </p:txBody>
      </p:sp>
      <p:sp>
        <p:nvSpPr>
          <p:cNvPr id="5" name="Text 3"/>
          <p:cNvSpPr/>
          <p:nvPr/>
        </p:nvSpPr>
        <p:spPr>
          <a:xfrm>
            <a:off x="533400" y="4527798"/>
            <a:ext cx="5170646" cy="304800"/>
          </a:xfrm>
          <a:prstGeom prst="rect">
            <a:avLst/>
          </a:prstGeom>
          <a:noFill/>
          <a:ln/>
        </p:spPr>
        <p:txBody>
          <a:bodyPr wrap="square" lIns="25400" tIns="25400" rIns="25400" bIns="25400" rtlCol="0" anchor="t">
            <a:normAutofit/>
          </a:bodyPr>
          <a:lstStyle/>
          <a:p>
            <a:pPr algn="l" indent="0" marL="0">
              <a:buNone/>
            </a:pPr>
            <a:r>
              <a:rPr lang="en-US" sz="1575" spc="536" kern="0" dirty="0">
                <a:solidFill>
                  <a:srgbClr val="837B66"/>
                </a:solidFill>
                <a:latin typeface="Courier New" pitchFamily="34" charset="0"/>
                <a:ea typeface="Courier New" pitchFamily="34" charset="-122"/>
                <a:cs typeface="Courier New" pitchFamily="34" charset="-120"/>
              </a:rPr>
              <a:t>DURMSTRANG · LARP &amp; TTRPG</a:t>
            </a:r>
            <a:endParaRPr lang="en-US" sz="1575" dirty="0"/>
          </a:p>
        </p:txBody>
      </p:sp>
      <p:sp>
        <p:nvSpPr>
          <p:cNvPr id="6" name="Text 4"/>
          <p:cNvSpPr/>
          <p:nvPr/>
        </p:nvSpPr>
        <p:spPr>
          <a:xfrm>
            <a:off x="533400" y="5175498"/>
            <a:ext cx="3973354" cy="2030909"/>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C5BDA6"/>
                </a:solidFill>
                <a:latin typeface="Georgia" pitchFamily="34" charset="0"/>
                <a:ea typeface="Georgia" pitchFamily="34" charset="-122"/>
                <a:cs typeface="Georgia" pitchFamily="34" charset="-120"/>
              </a:rPr>
              <a:t>Every page, every skin — how the keep looks across all three surfaces and five themes, with the shared element set that builds them.</a:t>
            </a:r>
            <a:endParaRPr lang="en-US" sz="2025" dirty="0"/>
          </a:p>
        </p:txBody>
      </p:sp>
      <p:sp>
        <p:nvSpPr>
          <p:cNvPr id="7" name="Text 5"/>
          <p:cNvSpPr/>
          <p:nvPr/>
        </p:nvSpPr>
        <p:spPr>
          <a:xfrm>
            <a:off x="533400" y="7625507"/>
            <a:ext cx="3949608" cy="242888"/>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837B66"/>
                </a:solidFill>
                <a:latin typeface="Courier New" pitchFamily="34" charset="0"/>
                <a:ea typeface="Courier New" pitchFamily="34" charset="-122"/>
                <a:cs typeface="Courier New" pitchFamily="34" charset="-120"/>
              </a:rPr>
              <a:t>DESIGN SYSTEM REVIEW · INTERNAL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5209036"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AT A GLANCE</a:t>
            </a:r>
            <a:endParaRPr lang="en-US" sz="1275" dirty="0"/>
          </a:p>
        </p:txBody>
      </p:sp>
      <p:sp>
        <p:nvSpPr>
          <p:cNvPr id="4" name="Text 2"/>
          <p:cNvSpPr/>
          <p:nvPr/>
        </p:nvSpPr>
        <p:spPr>
          <a:xfrm>
            <a:off x="533400" y="766763"/>
            <a:ext cx="5209036"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Three surfaces, five skins</a:t>
            </a:r>
            <a:endParaRPr lang="en-US" sz="3450" dirty="0"/>
          </a:p>
        </p:txBody>
      </p:sp>
      <p:sp>
        <p:nvSpPr>
          <p:cNvPr id="5" name="Shape 3"/>
          <p:cNvSpPr/>
          <p:nvPr/>
        </p:nvSpPr>
        <p:spPr>
          <a:xfrm>
            <a:off x="533400" y="1452563"/>
            <a:ext cx="5575250" cy="2652713"/>
          </a:xfrm>
          <a:prstGeom prst="roundRect">
            <a:avLst>
              <a:gd name="adj" fmla="val 3591"/>
            </a:avLst>
          </a:prstGeom>
          <a:solidFill>
            <a:srgbClr val="16151D"/>
          </a:solidFill>
          <a:ln w="9525">
            <a:solidFill>
              <a:srgbClr val="35343F"/>
            </a:solidFill>
            <a:prstDash val="solid"/>
          </a:ln>
          <a:effectLst>
            <a:outerShdw sx="100000" sy="100000" kx="0" ky="0" algn="bl" rotWithShape="0" blurRad="133350" dist="38100" dir="5400000">
              <a:srgbClr val="000000">
                <a:alpha val="40000"/>
              </a:srgbClr>
            </a:outerShdw>
          </a:effectLst>
        </p:spPr>
      </p:sp>
      <p:sp>
        <p:nvSpPr>
          <p:cNvPr id="6" name="Text 4"/>
          <p:cNvSpPr/>
          <p:nvPr/>
        </p:nvSpPr>
        <p:spPr>
          <a:xfrm>
            <a:off x="828675" y="1747838"/>
            <a:ext cx="5483170" cy="552450"/>
          </a:xfrm>
          <a:prstGeom prst="rect">
            <a:avLst/>
          </a:prstGeom>
          <a:noFill/>
          <a:ln/>
        </p:spPr>
        <p:txBody>
          <a:bodyPr wrap="square" lIns="25400" tIns="25400" rIns="25400" bIns="25400" rtlCol="0" anchor="t">
            <a:normAutofit/>
          </a:bodyPr>
          <a:lstStyle/>
          <a:p>
            <a:pPr algn="l" indent="0" marL="0">
              <a:buNone/>
            </a:pPr>
            <a:r>
              <a:rPr lang="en-US" sz="3000" dirty="0">
                <a:solidFill>
                  <a:srgbClr val="DB4A3F"/>
                </a:solidFill>
                <a:latin typeface="Georgia" pitchFamily="34" charset="0"/>
                <a:ea typeface="Georgia" pitchFamily="34" charset="-122"/>
                <a:cs typeface="Georgia" pitchFamily="34" charset="-120"/>
              </a:rPr>
              <a:t>ᚦ</a:t>
            </a:r>
            <a:endParaRPr lang="en-US" sz="3000" dirty="0"/>
          </a:p>
        </p:txBody>
      </p:sp>
      <p:sp>
        <p:nvSpPr>
          <p:cNvPr id="7" name="Text 5"/>
          <p:cNvSpPr/>
          <p:nvPr/>
        </p:nvSpPr>
        <p:spPr>
          <a:xfrm>
            <a:off x="828675" y="2433638"/>
            <a:ext cx="5483170"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ECE6D6"/>
                </a:solidFill>
                <a:latin typeface="Georgia" pitchFamily="34" charset="0"/>
                <a:ea typeface="Georgia" pitchFamily="34" charset="-122"/>
                <a:cs typeface="Georgia" pitchFamily="34" charset="-120"/>
              </a:rPr>
              <a:t>Site</a:t>
            </a:r>
            <a:endParaRPr lang="en-US" sz="2550" dirty="0"/>
          </a:p>
        </p:txBody>
      </p:sp>
      <p:sp>
        <p:nvSpPr>
          <p:cNvPr id="8" name="Text 6"/>
          <p:cNvSpPr/>
          <p:nvPr/>
        </p:nvSpPr>
        <p:spPr>
          <a:xfrm>
            <a:off x="828675" y="2876550"/>
            <a:ext cx="5483170"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837B66"/>
                </a:solidFill>
                <a:latin typeface="Courier New" pitchFamily="34" charset="0"/>
                <a:ea typeface="Courier New" pitchFamily="34" charset="-122"/>
                <a:cs typeface="Courier New" pitchFamily="34" charset="-120"/>
              </a:rPr>
              <a:t>OPEN · NO LOGIN</a:t>
            </a:r>
            <a:endParaRPr lang="en-US" sz="1125" dirty="0"/>
          </a:p>
        </p:txBody>
      </p:sp>
      <p:sp>
        <p:nvSpPr>
          <p:cNvPr id="9" name="Text 7"/>
          <p:cNvSpPr/>
          <p:nvPr/>
        </p:nvSpPr>
        <p:spPr>
          <a:xfrm>
            <a:off x="828675" y="3219450"/>
            <a:ext cx="5134241"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C5BDA6"/>
                </a:solidFill>
                <a:latin typeface="Georgia" pitchFamily="34" charset="0"/>
                <a:ea typeface="Georgia" pitchFamily="34" charset="-122"/>
                <a:cs typeface="Georgia" pitchFamily="34" charset="-120"/>
              </a:rPr>
              <a:t>Dark Scandinavian academy with folklore. Dark &amp; light, blood accent.</a:t>
            </a:r>
            <a:endParaRPr lang="en-US" sz="1500" dirty="0"/>
          </a:p>
        </p:txBody>
      </p:sp>
      <p:sp>
        <p:nvSpPr>
          <p:cNvPr id="10" name="Shape 8"/>
          <p:cNvSpPr/>
          <p:nvPr/>
        </p:nvSpPr>
        <p:spPr>
          <a:xfrm>
            <a:off x="6356300" y="1452563"/>
            <a:ext cx="5575325" cy="2652713"/>
          </a:xfrm>
          <a:prstGeom prst="roundRect">
            <a:avLst>
              <a:gd name="adj" fmla="val 3591"/>
            </a:avLst>
          </a:prstGeom>
          <a:solidFill>
            <a:srgbClr val="16151D"/>
          </a:solidFill>
          <a:ln w="9525">
            <a:solidFill>
              <a:srgbClr val="35343F"/>
            </a:solidFill>
            <a:prstDash val="solid"/>
          </a:ln>
          <a:effectLst>
            <a:outerShdw sx="100000" sy="100000" kx="0" ky="0" algn="bl" rotWithShape="0" blurRad="133350" dist="38100" dir="5400000">
              <a:srgbClr val="000000">
                <a:alpha val="40000"/>
              </a:srgbClr>
            </a:outerShdw>
          </a:effectLst>
        </p:spPr>
      </p:sp>
      <p:sp>
        <p:nvSpPr>
          <p:cNvPr id="11" name="Text 9"/>
          <p:cNvSpPr/>
          <p:nvPr/>
        </p:nvSpPr>
        <p:spPr>
          <a:xfrm>
            <a:off x="6651575" y="1747838"/>
            <a:ext cx="5483252" cy="552450"/>
          </a:xfrm>
          <a:prstGeom prst="rect">
            <a:avLst/>
          </a:prstGeom>
          <a:noFill/>
          <a:ln/>
        </p:spPr>
        <p:txBody>
          <a:bodyPr wrap="square" lIns="25400" tIns="25400" rIns="25400" bIns="25400" rtlCol="0" anchor="t">
            <a:normAutofit/>
          </a:bodyPr>
          <a:lstStyle/>
          <a:p>
            <a:pPr algn="l" indent="0" marL="0">
              <a:buNone/>
            </a:pPr>
            <a:r>
              <a:rPr lang="en-US" sz="3000" dirty="0">
                <a:solidFill>
                  <a:srgbClr val="DB4A3F"/>
                </a:solidFill>
                <a:latin typeface="Georgia" pitchFamily="34" charset="0"/>
                <a:ea typeface="Georgia" pitchFamily="34" charset="-122"/>
                <a:cs typeface="Georgia" pitchFamily="34" charset="-120"/>
              </a:rPr>
              <a:t>ᛟ</a:t>
            </a:r>
            <a:endParaRPr lang="en-US" sz="3000" dirty="0"/>
          </a:p>
        </p:txBody>
      </p:sp>
      <p:sp>
        <p:nvSpPr>
          <p:cNvPr id="12" name="Text 10"/>
          <p:cNvSpPr/>
          <p:nvPr/>
        </p:nvSpPr>
        <p:spPr>
          <a:xfrm>
            <a:off x="6651575" y="2433638"/>
            <a:ext cx="5483252"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ECE6D6"/>
                </a:solidFill>
                <a:latin typeface="Georgia" pitchFamily="34" charset="0"/>
                <a:ea typeface="Georgia" pitchFamily="34" charset="-122"/>
                <a:cs typeface="Georgia" pitchFamily="34" charset="-120"/>
              </a:rPr>
              <a:t>LARP Cabinet</a:t>
            </a:r>
            <a:endParaRPr lang="en-US" sz="2550" dirty="0"/>
          </a:p>
        </p:txBody>
      </p:sp>
      <p:sp>
        <p:nvSpPr>
          <p:cNvPr id="13" name="Text 11"/>
          <p:cNvSpPr/>
          <p:nvPr/>
        </p:nvSpPr>
        <p:spPr>
          <a:xfrm>
            <a:off x="6651575" y="2876550"/>
            <a:ext cx="5483252"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837B66"/>
                </a:solidFill>
                <a:latin typeface="Courier New" pitchFamily="34" charset="0"/>
                <a:ea typeface="Courier New" pitchFamily="34" charset="-122"/>
                <a:cs typeface="Courier New" pitchFamily="34" charset="-120"/>
              </a:rPr>
              <a:t>PLAYERS &amp; MASTERS</a:t>
            </a:r>
            <a:endParaRPr lang="en-US" sz="1125" dirty="0"/>
          </a:p>
        </p:txBody>
      </p:sp>
      <p:sp>
        <p:nvSpPr>
          <p:cNvPr id="14" name="Text 12"/>
          <p:cNvSpPr/>
          <p:nvPr/>
        </p:nvSpPr>
        <p:spPr>
          <a:xfrm>
            <a:off x="6651575" y="3219450"/>
            <a:ext cx="5134318"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C5BDA6"/>
                </a:solidFill>
                <a:latin typeface="Georgia" pitchFamily="34" charset="0"/>
                <a:ea typeface="Georgia" pitchFamily="34" charset="-122"/>
                <a:cs typeface="Georgia" pitchFamily="34" charset="-120"/>
              </a:rPr>
              <a:t>Data stored as cards, remarks everywhere, master tools. Dark &amp; light.</a:t>
            </a:r>
            <a:endParaRPr lang="en-US" sz="1500" dirty="0"/>
          </a:p>
        </p:txBody>
      </p:sp>
      <p:sp>
        <p:nvSpPr>
          <p:cNvPr id="15" name="Shape 13"/>
          <p:cNvSpPr/>
          <p:nvPr/>
        </p:nvSpPr>
        <p:spPr>
          <a:xfrm>
            <a:off x="12179275" y="1452563"/>
            <a:ext cx="5575250" cy="2652713"/>
          </a:xfrm>
          <a:prstGeom prst="roundRect">
            <a:avLst>
              <a:gd name="adj" fmla="val 3591"/>
            </a:avLst>
          </a:prstGeom>
          <a:solidFill>
            <a:srgbClr val="161025"/>
          </a:solidFill>
          <a:ln w="9525">
            <a:solidFill>
              <a:srgbClr val="33274D"/>
            </a:solidFill>
            <a:prstDash val="solid"/>
          </a:ln>
          <a:effectLst>
            <a:outerShdw sx="100000" sy="100000" kx="0" ky="0" algn="bl" rotWithShape="0" blurRad="133350" dist="38100" dir="5400000">
              <a:srgbClr val="000000">
                <a:alpha val="40000"/>
              </a:srgbClr>
            </a:outerShdw>
          </a:effectLst>
        </p:spPr>
      </p:sp>
      <p:sp>
        <p:nvSpPr>
          <p:cNvPr id="16" name="Text 14"/>
          <p:cNvSpPr/>
          <p:nvPr/>
        </p:nvSpPr>
        <p:spPr>
          <a:xfrm>
            <a:off x="12474550" y="1747838"/>
            <a:ext cx="5483170" cy="552450"/>
          </a:xfrm>
          <a:prstGeom prst="rect">
            <a:avLst/>
          </a:prstGeom>
          <a:noFill/>
          <a:ln/>
        </p:spPr>
        <p:txBody>
          <a:bodyPr wrap="square" lIns="25400" tIns="25400" rIns="25400" bIns="25400" rtlCol="0" anchor="t">
            <a:normAutofit/>
          </a:bodyPr>
          <a:lstStyle/>
          <a:p>
            <a:pPr algn="l" indent="0" marL="0">
              <a:buNone/>
            </a:pPr>
            <a:r>
              <a:rPr lang="en-US" sz="3000" dirty="0">
                <a:solidFill>
                  <a:srgbClr val="B49CE6"/>
                </a:solidFill>
                <a:latin typeface="Georgia" pitchFamily="34" charset="0"/>
                <a:ea typeface="Georgia" pitchFamily="34" charset="-122"/>
                <a:cs typeface="Georgia" pitchFamily="34" charset="-120"/>
              </a:rPr>
              <a:t>ᛜ</a:t>
            </a:r>
            <a:endParaRPr lang="en-US" sz="3000" dirty="0"/>
          </a:p>
        </p:txBody>
      </p:sp>
      <p:sp>
        <p:nvSpPr>
          <p:cNvPr id="17" name="Text 15"/>
          <p:cNvSpPr/>
          <p:nvPr/>
        </p:nvSpPr>
        <p:spPr>
          <a:xfrm>
            <a:off x="12474550" y="2433638"/>
            <a:ext cx="5483170"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E6DEF2"/>
                </a:solidFill>
                <a:latin typeface="Georgia" pitchFamily="34" charset="0"/>
                <a:ea typeface="Georgia" pitchFamily="34" charset="-122"/>
                <a:cs typeface="Georgia" pitchFamily="34" charset="-120"/>
              </a:rPr>
              <a:t>TTRPG Cabinet</a:t>
            </a:r>
            <a:endParaRPr lang="en-US" sz="2550" dirty="0"/>
          </a:p>
        </p:txBody>
      </p:sp>
      <p:sp>
        <p:nvSpPr>
          <p:cNvPr id="18" name="Text 16"/>
          <p:cNvSpPr/>
          <p:nvPr/>
        </p:nvSpPr>
        <p:spPr>
          <a:xfrm>
            <a:off x="12474550" y="2876550"/>
            <a:ext cx="5483170"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847699"/>
                </a:solidFill>
                <a:latin typeface="Courier New" pitchFamily="34" charset="0"/>
                <a:ea typeface="Courier New" pitchFamily="34" charset="-122"/>
                <a:cs typeface="Courier New" pitchFamily="34" charset="-120"/>
              </a:rPr>
              <a:t>PLAYERS &amp; MASTERS</a:t>
            </a:r>
            <a:endParaRPr lang="en-US" sz="1125" dirty="0"/>
          </a:p>
        </p:txBody>
      </p:sp>
      <p:sp>
        <p:nvSpPr>
          <p:cNvPr id="19" name="Text 17"/>
          <p:cNvSpPr/>
          <p:nvPr/>
        </p:nvSpPr>
        <p:spPr>
          <a:xfrm>
            <a:off x="12474550" y="3219450"/>
            <a:ext cx="5134241"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BCAFD3"/>
                </a:solidFill>
                <a:latin typeface="Georgia" pitchFamily="34" charset="0"/>
                <a:ea typeface="Georgia" pitchFamily="34" charset="-122"/>
                <a:cs typeface="Georgia" pitchFamily="34" charset="-120"/>
              </a:rPr>
              <a:t>Folklore horror × dark academia. Dice, graphs, tables, chronicle.</a:t>
            </a:r>
            <a:endParaRPr lang="en-US" sz="1500" dirty="0"/>
          </a:p>
        </p:txBody>
      </p:sp>
      <p:sp>
        <p:nvSpPr>
          <p:cNvPr id="20" name="Shape 18"/>
          <p:cNvSpPr/>
          <p:nvPr/>
        </p:nvSpPr>
        <p:spPr>
          <a:xfrm>
            <a:off x="533400" y="4429125"/>
            <a:ext cx="3322290" cy="590550"/>
          </a:xfrm>
          <a:prstGeom prst="roundRect">
            <a:avLst>
              <a:gd name="adj" fmla="val 12903"/>
            </a:avLst>
          </a:prstGeom>
          <a:solidFill>
            <a:srgbClr val="16151D"/>
          </a:solidFill>
          <a:ln w="9525">
            <a:solidFill>
              <a:srgbClr val="35343F"/>
            </a:solidFill>
            <a:prstDash val="solid"/>
          </a:ln>
        </p:spPr>
      </p:sp>
      <p:sp>
        <p:nvSpPr>
          <p:cNvPr id="21" name="Shape 19"/>
          <p:cNvSpPr/>
          <p:nvPr/>
        </p:nvSpPr>
        <p:spPr>
          <a:xfrm>
            <a:off x="733425" y="4591050"/>
            <a:ext cx="266700" cy="266700"/>
          </a:xfrm>
          <a:prstGeom prst="ellipse">
            <a:avLst/>
          </a:prstGeom>
          <a:solidFill>
            <a:srgbClr val="0B0A0F"/>
          </a:solidFill>
          <a:ln w="9525">
            <a:solidFill>
              <a:srgbClr val="FFFFFF">
                <a:alpha val="18000"/>
              </a:srgbClr>
            </a:solidFill>
            <a:prstDash val="solid"/>
          </a:ln>
        </p:spPr>
      </p:sp>
      <p:sp>
        <p:nvSpPr>
          <p:cNvPr id="22" name="Text 20"/>
          <p:cNvSpPr/>
          <p:nvPr/>
        </p:nvSpPr>
        <p:spPr>
          <a:xfrm>
            <a:off x="1114425" y="4622006"/>
            <a:ext cx="490761" cy="242888"/>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C5BDA6"/>
                </a:solidFill>
                <a:latin typeface="Courier New" pitchFamily="34" charset="0"/>
                <a:ea typeface="Courier New" pitchFamily="34" charset="-122"/>
                <a:cs typeface="Courier New" pitchFamily="34" charset="-120"/>
              </a:rPr>
              <a:t>dark</a:t>
            </a:r>
            <a:endParaRPr lang="en-US" sz="1200" dirty="0"/>
          </a:p>
        </p:txBody>
      </p:sp>
      <p:sp>
        <p:nvSpPr>
          <p:cNvPr id="23" name="Shape 21"/>
          <p:cNvSpPr/>
          <p:nvPr/>
        </p:nvSpPr>
        <p:spPr>
          <a:xfrm>
            <a:off x="4008090" y="4429125"/>
            <a:ext cx="3322365" cy="590550"/>
          </a:xfrm>
          <a:prstGeom prst="roundRect">
            <a:avLst>
              <a:gd name="adj" fmla="val 12903"/>
            </a:avLst>
          </a:prstGeom>
          <a:solidFill>
            <a:srgbClr val="F2ECDC"/>
          </a:solidFill>
          <a:ln w="9525">
            <a:solidFill>
              <a:srgbClr val="C2B79C"/>
            </a:solidFill>
            <a:prstDash val="solid"/>
          </a:ln>
        </p:spPr>
      </p:sp>
      <p:sp>
        <p:nvSpPr>
          <p:cNvPr id="24" name="Shape 22"/>
          <p:cNvSpPr/>
          <p:nvPr/>
        </p:nvSpPr>
        <p:spPr>
          <a:xfrm>
            <a:off x="4208115" y="4591050"/>
            <a:ext cx="266700" cy="266700"/>
          </a:xfrm>
          <a:prstGeom prst="ellipse">
            <a:avLst/>
          </a:prstGeom>
          <a:solidFill>
            <a:srgbClr val="E7DFCC"/>
          </a:solidFill>
          <a:ln w="9525">
            <a:solidFill>
              <a:srgbClr val="FFFFFF">
                <a:alpha val="18000"/>
              </a:srgbClr>
            </a:solidFill>
            <a:prstDash val="solid"/>
          </a:ln>
        </p:spPr>
      </p:sp>
      <p:sp>
        <p:nvSpPr>
          <p:cNvPr id="25" name="Text 23"/>
          <p:cNvSpPr/>
          <p:nvPr/>
        </p:nvSpPr>
        <p:spPr>
          <a:xfrm>
            <a:off x="4589115" y="4622006"/>
            <a:ext cx="594420" cy="242888"/>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423A2C"/>
                </a:solidFill>
                <a:latin typeface="Courier New" pitchFamily="34" charset="0"/>
                <a:ea typeface="Courier New" pitchFamily="34" charset="-122"/>
                <a:cs typeface="Courier New" pitchFamily="34" charset="-120"/>
              </a:rPr>
              <a:t>light</a:t>
            </a:r>
            <a:endParaRPr lang="en-US" sz="1200" dirty="0"/>
          </a:p>
        </p:txBody>
      </p:sp>
      <p:sp>
        <p:nvSpPr>
          <p:cNvPr id="26" name="Shape 24"/>
          <p:cNvSpPr/>
          <p:nvPr/>
        </p:nvSpPr>
        <p:spPr>
          <a:xfrm>
            <a:off x="7482855" y="4429125"/>
            <a:ext cx="3322290" cy="590550"/>
          </a:xfrm>
          <a:prstGeom prst="roundRect">
            <a:avLst>
              <a:gd name="adj" fmla="val 12903"/>
            </a:avLst>
          </a:prstGeom>
          <a:solidFill>
            <a:srgbClr val="111824"/>
          </a:solidFill>
          <a:ln w="9525">
            <a:solidFill>
              <a:srgbClr val="243349"/>
            </a:solidFill>
            <a:prstDash val="solid"/>
          </a:ln>
        </p:spPr>
      </p:sp>
      <p:sp>
        <p:nvSpPr>
          <p:cNvPr id="27" name="Shape 25"/>
          <p:cNvSpPr/>
          <p:nvPr/>
        </p:nvSpPr>
        <p:spPr>
          <a:xfrm>
            <a:off x="7682880" y="4591050"/>
            <a:ext cx="266700" cy="266700"/>
          </a:xfrm>
          <a:prstGeom prst="ellipse">
            <a:avLst/>
          </a:prstGeom>
          <a:solidFill>
            <a:srgbClr val="080C12"/>
          </a:solidFill>
          <a:ln w="9525">
            <a:solidFill>
              <a:srgbClr val="FFFFFF">
                <a:alpha val="18000"/>
              </a:srgbClr>
            </a:solidFill>
            <a:prstDash val="solid"/>
          </a:ln>
        </p:spPr>
      </p:sp>
      <p:sp>
        <p:nvSpPr>
          <p:cNvPr id="28" name="Text 26"/>
          <p:cNvSpPr/>
          <p:nvPr/>
        </p:nvSpPr>
        <p:spPr>
          <a:xfrm>
            <a:off x="8063880" y="4622006"/>
            <a:ext cx="1112565" cy="242888"/>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A7BACE"/>
                </a:solidFill>
                <a:latin typeface="Courier New" pitchFamily="34" charset="0"/>
                <a:ea typeface="Courier New" pitchFamily="34" charset="-122"/>
                <a:cs typeface="Courier New" pitchFamily="34" charset="-120"/>
              </a:rPr>
              <a:t>ttrpg-blue</a:t>
            </a:r>
            <a:endParaRPr lang="en-US" sz="1200" dirty="0"/>
          </a:p>
        </p:txBody>
      </p:sp>
      <p:sp>
        <p:nvSpPr>
          <p:cNvPr id="29" name="Shape 27"/>
          <p:cNvSpPr/>
          <p:nvPr/>
        </p:nvSpPr>
        <p:spPr>
          <a:xfrm>
            <a:off x="10957545" y="4429125"/>
            <a:ext cx="3322365" cy="590550"/>
          </a:xfrm>
          <a:prstGeom prst="roundRect">
            <a:avLst>
              <a:gd name="adj" fmla="val 12903"/>
            </a:avLst>
          </a:prstGeom>
          <a:solidFill>
            <a:srgbClr val="161025"/>
          </a:solidFill>
          <a:ln w="9525">
            <a:solidFill>
              <a:srgbClr val="33274D"/>
            </a:solidFill>
            <a:prstDash val="solid"/>
          </a:ln>
        </p:spPr>
      </p:sp>
      <p:sp>
        <p:nvSpPr>
          <p:cNvPr id="30" name="Shape 28"/>
          <p:cNvSpPr/>
          <p:nvPr/>
        </p:nvSpPr>
        <p:spPr>
          <a:xfrm>
            <a:off x="11157570" y="4591050"/>
            <a:ext cx="266700" cy="266700"/>
          </a:xfrm>
          <a:prstGeom prst="ellipse">
            <a:avLst/>
          </a:prstGeom>
          <a:solidFill>
            <a:srgbClr val="0B0813"/>
          </a:solidFill>
          <a:ln w="9525">
            <a:solidFill>
              <a:srgbClr val="FFFFFF">
                <a:alpha val="18000"/>
              </a:srgbClr>
            </a:solidFill>
            <a:prstDash val="solid"/>
          </a:ln>
        </p:spPr>
      </p:sp>
      <p:sp>
        <p:nvSpPr>
          <p:cNvPr id="31" name="Text 29"/>
          <p:cNvSpPr/>
          <p:nvPr/>
        </p:nvSpPr>
        <p:spPr>
          <a:xfrm>
            <a:off x="11538570" y="4622006"/>
            <a:ext cx="1367969" cy="242888"/>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BCAFD3"/>
                </a:solidFill>
                <a:latin typeface="Courier New" pitchFamily="34" charset="0"/>
                <a:ea typeface="Courier New" pitchFamily="34" charset="-122"/>
                <a:cs typeface="Courier New" pitchFamily="34" charset="-120"/>
              </a:rPr>
              <a:t>ttrpg-violet</a:t>
            </a:r>
            <a:endParaRPr lang="en-US" sz="1200" dirty="0"/>
          </a:p>
        </p:txBody>
      </p:sp>
      <p:sp>
        <p:nvSpPr>
          <p:cNvPr id="32" name="Shape 30"/>
          <p:cNvSpPr/>
          <p:nvPr/>
        </p:nvSpPr>
        <p:spPr>
          <a:xfrm>
            <a:off x="14432310" y="4429125"/>
            <a:ext cx="3322290" cy="590550"/>
          </a:xfrm>
          <a:prstGeom prst="roundRect">
            <a:avLst>
              <a:gd name="adj" fmla="val 12903"/>
            </a:avLst>
          </a:prstGeom>
          <a:solidFill>
            <a:srgbClr val="F6F3FB"/>
          </a:solidFill>
          <a:ln w="9525">
            <a:solidFill>
              <a:srgbClr val="C7BBDC"/>
            </a:solidFill>
            <a:prstDash val="solid"/>
          </a:ln>
        </p:spPr>
      </p:sp>
      <p:sp>
        <p:nvSpPr>
          <p:cNvPr id="33" name="Shape 31"/>
          <p:cNvSpPr/>
          <p:nvPr/>
        </p:nvSpPr>
        <p:spPr>
          <a:xfrm>
            <a:off x="14632335" y="4591050"/>
            <a:ext cx="266700" cy="266700"/>
          </a:xfrm>
          <a:prstGeom prst="ellipse">
            <a:avLst/>
          </a:prstGeom>
          <a:solidFill>
            <a:srgbClr val="ECE8F2"/>
          </a:solidFill>
          <a:ln w="9525">
            <a:solidFill>
              <a:srgbClr val="FFFFFF">
                <a:alpha val="18000"/>
              </a:srgbClr>
            </a:solidFill>
            <a:prstDash val="solid"/>
          </a:ln>
        </p:spPr>
      </p:sp>
      <p:sp>
        <p:nvSpPr>
          <p:cNvPr id="34" name="Text 32"/>
          <p:cNvSpPr/>
          <p:nvPr/>
        </p:nvSpPr>
        <p:spPr>
          <a:xfrm>
            <a:off x="15013335" y="4622006"/>
            <a:ext cx="1216223" cy="242888"/>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3D3554"/>
                </a:solidFill>
                <a:latin typeface="Courier New" pitchFamily="34" charset="0"/>
                <a:ea typeface="Courier New" pitchFamily="34" charset="-122"/>
                <a:cs typeface="Courier New" pitchFamily="34" charset="-120"/>
              </a:rPr>
              <a:t>ttrpg-light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5527209"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THE FIVE SKINS</a:t>
            </a:r>
            <a:endParaRPr lang="en-US" sz="1275" dirty="0"/>
          </a:p>
        </p:txBody>
      </p:sp>
      <p:sp>
        <p:nvSpPr>
          <p:cNvPr id="4" name="Text 2"/>
          <p:cNvSpPr/>
          <p:nvPr/>
        </p:nvSpPr>
        <p:spPr>
          <a:xfrm>
            <a:off x="533400" y="766763"/>
            <a:ext cx="5527209"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One structure, re-coloured</a:t>
            </a:r>
            <a:endParaRPr lang="en-US" sz="3450" dirty="0"/>
          </a:p>
        </p:txBody>
      </p:sp>
      <p:sp>
        <p:nvSpPr>
          <p:cNvPr id="5" name="Shape 3"/>
          <p:cNvSpPr/>
          <p:nvPr/>
        </p:nvSpPr>
        <p:spPr>
          <a:xfrm>
            <a:off x="533400" y="1452563"/>
            <a:ext cx="3291780" cy="8339137"/>
          </a:xfrm>
          <a:prstGeom prst="roundRect">
            <a:avLst>
              <a:gd name="adj" fmla="val 3472"/>
            </a:avLst>
          </a:prstGeom>
          <a:solidFill>
            <a:srgbClr val="0B0A0F"/>
          </a:solidFill>
          <a:ln w="9525">
            <a:solidFill>
              <a:srgbClr val="35343F"/>
            </a:solidFill>
            <a:prstDash val="solid"/>
          </a:ln>
          <a:effectLst>
            <a:outerShdw sx="100000" sy="100000" kx="0" ky="0" algn="bl" rotWithShape="0" blurRad="133350" dist="38100" dir="5400000">
              <a:srgbClr val="000000">
                <a:alpha val="40000"/>
              </a:srgbClr>
            </a:outerShdw>
          </a:effectLst>
        </p:spPr>
      </p:sp>
      <p:sp>
        <p:nvSpPr>
          <p:cNvPr id="6" name="Text 4"/>
          <p:cNvSpPr/>
          <p:nvPr/>
        </p:nvSpPr>
        <p:spPr>
          <a:xfrm>
            <a:off x="790575" y="1709738"/>
            <a:ext cx="3055174"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837B66"/>
                </a:solidFill>
                <a:latin typeface="Courier New" pitchFamily="34" charset="0"/>
                <a:ea typeface="Courier New" pitchFamily="34" charset="-122"/>
                <a:cs typeface="Courier New" pitchFamily="34" charset="-120"/>
              </a:rPr>
              <a:t>DARK</a:t>
            </a:r>
            <a:endParaRPr lang="en-US" sz="1125" dirty="0"/>
          </a:p>
        </p:txBody>
      </p:sp>
      <p:sp>
        <p:nvSpPr>
          <p:cNvPr id="7" name="Text 5"/>
          <p:cNvSpPr/>
          <p:nvPr/>
        </p:nvSpPr>
        <p:spPr>
          <a:xfrm>
            <a:off x="790575" y="2033588"/>
            <a:ext cx="3055174"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ECE6D6"/>
                </a:solidFill>
                <a:latin typeface="Georgia" pitchFamily="34" charset="0"/>
                <a:ea typeface="Georgia" pitchFamily="34" charset="-122"/>
                <a:cs typeface="Georgia" pitchFamily="34" charset="-120"/>
              </a:rPr>
              <a:t>Keep</a:t>
            </a:r>
            <a:endParaRPr lang="en-US" sz="2550" dirty="0"/>
          </a:p>
        </p:txBody>
      </p:sp>
      <p:sp>
        <p:nvSpPr>
          <p:cNvPr id="8" name="Shape 6"/>
          <p:cNvSpPr/>
          <p:nvPr/>
        </p:nvSpPr>
        <p:spPr>
          <a:xfrm>
            <a:off x="790575" y="2533650"/>
            <a:ext cx="2777430" cy="995363"/>
          </a:xfrm>
          <a:prstGeom prst="roundRect">
            <a:avLst>
              <a:gd name="adj" fmla="val 7655"/>
            </a:avLst>
          </a:prstGeom>
          <a:solidFill>
            <a:srgbClr val="16151D"/>
          </a:solidFill>
          <a:ln w="9525">
            <a:solidFill>
              <a:srgbClr val="35343F"/>
            </a:solidFill>
            <a:prstDash val="solid"/>
          </a:ln>
          <a:effectLst>
            <a:outerShdw sx="100000" sy="100000" kx="0" ky="0" algn="bl" rotWithShape="0" blurRad="133350" dist="38100" dir="5400000">
              <a:srgbClr val="000000">
                <a:alpha val="40000"/>
              </a:srgbClr>
            </a:outerShdw>
          </a:effectLst>
        </p:spPr>
      </p:sp>
      <p:sp>
        <p:nvSpPr>
          <p:cNvPr id="9" name="Shape 7"/>
          <p:cNvSpPr/>
          <p:nvPr/>
        </p:nvSpPr>
        <p:spPr>
          <a:xfrm>
            <a:off x="952500" y="2695575"/>
            <a:ext cx="1108770" cy="252413"/>
          </a:xfrm>
          <a:prstGeom prst="roundRect">
            <a:avLst>
              <a:gd name="adj" fmla="val 50000"/>
            </a:avLst>
          </a:prstGeom>
          <a:solidFill>
            <a:srgbClr val="9B1C1C">
              <a:alpha val="16000"/>
            </a:srgbClr>
          </a:solidFill>
          <a:ln/>
        </p:spPr>
      </p:sp>
      <p:sp>
        <p:nvSpPr>
          <p:cNvPr id="10" name="Text 8"/>
          <p:cNvSpPr/>
          <p:nvPr/>
        </p:nvSpPr>
        <p:spPr>
          <a:xfrm>
            <a:off x="1066800" y="2733675"/>
            <a:ext cx="95637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DB4A3F"/>
                </a:solidFill>
                <a:latin typeface="Courier New" pitchFamily="34" charset="0"/>
                <a:ea typeface="Courier New" pitchFamily="34" charset="-122"/>
                <a:cs typeface="Courier New" pitchFamily="34" charset="-120"/>
              </a:rPr>
              <a:t>Site · LARP</a:t>
            </a:r>
            <a:endParaRPr lang="en-US" sz="1050" dirty="0"/>
          </a:p>
        </p:txBody>
      </p:sp>
      <p:sp>
        <p:nvSpPr>
          <p:cNvPr id="11" name="Shape 9"/>
          <p:cNvSpPr/>
          <p:nvPr/>
        </p:nvSpPr>
        <p:spPr>
          <a:xfrm>
            <a:off x="952500" y="3062288"/>
            <a:ext cx="2453580" cy="95250"/>
          </a:xfrm>
          <a:prstGeom prst="roundRect">
            <a:avLst>
              <a:gd name="adj" fmla="val 40000"/>
            </a:avLst>
          </a:prstGeom>
          <a:solidFill>
            <a:srgbClr val="35343F"/>
          </a:solidFill>
          <a:ln/>
        </p:spPr>
      </p:sp>
      <p:sp>
        <p:nvSpPr>
          <p:cNvPr id="12" name="Shape 10"/>
          <p:cNvSpPr/>
          <p:nvPr/>
        </p:nvSpPr>
        <p:spPr>
          <a:xfrm>
            <a:off x="952500" y="3271838"/>
            <a:ext cx="1472133" cy="95250"/>
          </a:xfrm>
          <a:prstGeom prst="roundRect">
            <a:avLst>
              <a:gd name="adj" fmla="val 40000"/>
            </a:avLst>
          </a:prstGeom>
          <a:solidFill>
            <a:srgbClr val="35343F"/>
          </a:solidFill>
          <a:ln/>
        </p:spPr>
      </p:sp>
      <p:sp>
        <p:nvSpPr>
          <p:cNvPr id="13" name="Shape 11"/>
          <p:cNvSpPr/>
          <p:nvPr/>
        </p:nvSpPr>
        <p:spPr>
          <a:xfrm>
            <a:off x="790575" y="9082088"/>
            <a:ext cx="2777430" cy="452438"/>
          </a:xfrm>
          <a:prstGeom prst="roundRect">
            <a:avLst>
              <a:gd name="adj" fmla="val 12632"/>
            </a:avLst>
          </a:prstGeom>
          <a:solidFill>
            <a:srgbClr val="9B1C1C"/>
          </a:solidFill>
          <a:ln/>
        </p:spPr>
      </p:sp>
      <p:sp>
        <p:nvSpPr>
          <p:cNvPr id="14" name="Text 12"/>
          <p:cNvSpPr/>
          <p:nvPr/>
        </p:nvSpPr>
        <p:spPr>
          <a:xfrm>
            <a:off x="872739" y="9205912"/>
            <a:ext cx="2613103" cy="242888"/>
          </a:xfrm>
          <a:prstGeom prst="rect">
            <a:avLst/>
          </a:prstGeom>
          <a:noFill/>
          <a:ln/>
        </p:spPr>
        <p:txBody>
          <a:bodyPr wrap="square" lIns="25400" tIns="25400" rIns="25400" bIns="25400" rtlCol="0" anchor="t">
            <a:normAutofit/>
          </a:bodyPr>
          <a:lstStyle/>
          <a:p>
            <a:pPr algn="ctr" indent="0" marL="0">
              <a:buNone/>
            </a:pPr>
            <a:r>
              <a:rPr lang="en-US" sz="1425" b="1" dirty="0">
                <a:solidFill>
                  <a:srgbClr val="F6F1E4"/>
                </a:solidFill>
                <a:latin typeface="Georgia" pitchFamily="34" charset="0"/>
                <a:ea typeface="Georgia" pitchFamily="34" charset="-122"/>
                <a:cs typeface="Georgia" pitchFamily="34" charset="-120"/>
              </a:rPr>
              <a:t>Enter</a:t>
            </a:r>
            <a:endParaRPr lang="en-US" sz="1425" dirty="0"/>
          </a:p>
        </p:txBody>
      </p:sp>
      <p:sp>
        <p:nvSpPr>
          <p:cNvPr id="15" name="Shape 13"/>
          <p:cNvSpPr/>
          <p:nvPr/>
        </p:nvSpPr>
        <p:spPr>
          <a:xfrm>
            <a:off x="4015680" y="1452563"/>
            <a:ext cx="3291855" cy="8339137"/>
          </a:xfrm>
          <a:prstGeom prst="roundRect">
            <a:avLst>
              <a:gd name="adj" fmla="val 3472"/>
            </a:avLst>
          </a:prstGeom>
          <a:solidFill>
            <a:srgbClr val="E7DFCC"/>
          </a:solidFill>
          <a:ln w="9525">
            <a:solidFill>
              <a:srgbClr val="C2B79C"/>
            </a:solidFill>
            <a:prstDash val="solid"/>
          </a:ln>
          <a:effectLst>
            <a:outerShdw sx="100000" sy="100000" kx="0" ky="0" algn="bl" rotWithShape="0" blurRad="133350" dist="38100" dir="5400000">
              <a:srgbClr val="000000">
                <a:alpha val="40000"/>
              </a:srgbClr>
            </a:outerShdw>
          </a:effectLst>
        </p:spPr>
      </p:sp>
      <p:sp>
        <p:nvSpPr>
          <p:cNvPr id="16" name="Text 14"/>
          <p:cNvSpPr/>
          <p:nvPr/>
        </p:nvSpPr>
        <p:spPr>
          <a:xfrm>
            <a:off x="4272855" y="1709738"/>
            <a:ext cx="3055255"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756B57"/>
                </a:solidFill>
                <a:latin typeface="Courier New" pitchFamily="34" charset="0"/>
                <a:ea typeface="Courier New" pitchFamily="34" charset="-122"/>
                <a:cs typeface="Courier New" pitchFamily="34" charset="-120"/>
              </a:rPr>
              <a:t>LIGHT</a:t>
            </a:r>
            <a:endParaRPr lang="en-US" sz="1125" dirty="0"/>
          </a:p>
        </p:txBody>
      </p:sp>
      <p:sp>
        <p:nvSpPr>
          <p:cNvPr id="17" name="Text 15"/>
          <p:cNvSpPr/>
          <p:nvPr/>
        </p:nvSpPr>
        <p:spPr>
          <a:xfrm>
            <a:off x="4272855" y="2033588"/>
            <a:ext cx="3055255"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1C1812"/>
                </a:solidFill>
                <a:latin typeface="Georgia" pitchFamily="34" charset="0"/>
                <a:ea typeface="Georgia" pitchFamily="34" charset="-122"/>
                <a:cs typeface="Georgia" pitchFamily="34" charset="-120"/>
              </a:rPr>
              <a:t>Keep</a:t>
            </a:r>
            <a:endParaRPr lang="en-US" sz="2550" dirty="0"/>
          </a:p>
        </p:txBody>
      </p:sp>
      <p:sp>
        <p:nvSpPr>
          <p:cNvPr id="18" name="Shape 16"/>
          <p:cNvSpPr/>
          <p:nvPr/>
        </p:nvSpPr>
        <p:spPr>
          <a:xfrm>
            <a:off x="4272855" y="2533650"/>
            <a:ext cx="2777505" cy="995363"/>
          </a:xfrm>
          <a:prstGeom prst="roundRect">
            <a:avLst>
              <a:gd name="adj" fmla="val 7655"/>
            </a:avLst>
          </a:prstGeom>
          <a:solidFill>
            <a:srgbClr val="F2ECDC"/>
          </a:solidFill>
          <a:ln w="9525">
            <a:solidFill>
              <a:srgbClr val="C2B79C"/>
            </a:solidFill>
            <a:prstDash val="solid"/>
          </a:ln>
          <a:effectLst>
            <a:outerShdw sx="100000" sy="100000" kx="0" ky="0" algn="bl" rotWithShape="0" blurRad="133350" dist="38100" dir="5400000">
              <a:srgbClr val="000000">
                <a:alpha val="40000"/>
              </a:srgbClr>
            </a:outerShdw>
          </a:effectLst>
        </p:spPr>
      </p:sp>
      <p:sp>
        <p:nvSpPr>
          <p:cNvPr id="19" name="Shape 17"/>
          <p:cNvSpPr/>
          <p:nvPr/>
        </p:nvSpPr>
        <p:spPr>
          <a:xfrm>
            <a:off x="4434780" y="2695575"/>
            <a:ext cx="1108770" cy="252413"/>
          </a:xfrm>
          <a:prstGeom prst="roundRect">
            <a:avLst>
              <a:gd name="adj" fmla="val 50000"/>
            </a:avLst>
          </a:prstGeom>
          <a:solidFill>
            <a:srgbClr val="7C1418">
              <a:alpha val="12000"/>
            </a:srgbClr>
          </a:solidFill>
          <a:ln/>
        </p:spPr>
      </p:sp>
      <p:sp>
        <p:nvSpPr>
          <p:cNvPr id="20" name="Text 18"/>
          <p:cNvSpPr/>
          <p:nvPr/>
        </p:nvSpPr>
        <p:spPr>
          <a:xfrm>
            <a:off x="4549080" y="2733675"/>
            <a:ext cx="95637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7C1418"/>
                </a:solidFill>
                <a:latin typeface="Courier New" pitchFamily="34" charset="0"/>
                <a:ea typeface="Courier New" pitchFamily="34" charset="-122"/>
                <a:cs typeface="Courier New" pitchFamily="34" charset="-120"/>
              </a:rPr>
              <a:t>Site · LARP</a:t>
            </a:r>
            <a:endParaRPr lang="en-US" sz="1050" dirty="0"/>
          </a:p>
        </p:txBody>
      </p:sp>
      <p:sp>
        <p:nvSpPr>
          <p:cNvPr id="21" name="Shape 19"/>
          <p:cNvSpPr/>
          <p:nvPr/>
        </p:nvSpPr>
        <p:spPr>
          <a:xfrm>
            <a:off x="4434780" y="3062288"/>
            <a:ext cx="2453655" cy="95250"/>
          </a:xfrm>
          <a:prstGeom prst="roundRect">
            <a:avLst>
              <a:gd name="adj" fmla="val 40000"/>
            </a:avLst>
          </a:prstGeom>
          <a:solidFill>
            <a:srgbClr val="C2B79C"/>
          </a:solidFill>
          <a:ln/>
        </p:spPr>
      </p:sp>
      <p:sp>
        <p:nvSpPr>
          <p:cNvPr id="22" name="Shape 20"/>
          <p:cNvSpPr/>
          <p:nvPr/>
        </p:nvSpPr>
        <p:spPr>
          <a:xfrm>
            <a:off x="4434780" y="3271838"/>
            <a:ext cx="1472133" cy="95250"/>
          </a:xfrm>
          <a:prstGeom prst="roundRect">
            <a:avLst>
              <a:gd name="adj" fmla="val 40000"/>
            </a:avLst>
          </a:prstGeom>
          <a:solidFill>
            <a:srgbClr val="C2B79C"/>
          </a:solidFill>
          <a:ln/>
        </p:spPr>
      </p:sp>
      <p:sp>
        <p:nvSpPr>
          <p:cNvPr id="23" name="Shape 21"/>
          <p:cNvSpPr/>
          <p:nvPr/>
        </p:nvSpPr>
        <p:spPr>
          <a:xfrm>
            <a:off x="4272855" y="9082088"/>
            <a:ext cx="2777505" cy="452438"/>
          </a:xfrm>
          <a:prstGeom prst="roundRect">
            <a:avLst>
              <a:gd name="adj" fmla="val 12632"/>
            </a:avLst>
          </a:prstGeom>
          <a:solidFill>
            <a:srgbClr val="7C1418"/>
          </a:solidFill>
          <a:ln/>
        </p:spPr>
      </p:sp>
      <p:sp>
        <p:nvSpPr>
          <p:cNvPr id="24" name="Text 22"/>
          <p:cNvSpPr/>
          <p:nvPr/>
        </p:nvSpPr>
        <p:spPr>
          <a:xfrm>
            <a:off x="4355018" y="9205912"/>
            <a:ext cx="2613180" cy="242888"/>
          </a:xfrm>
          <a:prstGeom prst="rect">
            <a:avLst/>
          </a:prstGeom>
          <a:noFill/>
          <a:ln/>
        </p:spPr>
        <p:txBody>
          <a:bodyPr wrap="square" lIns="25400" tIns="25400" rIns="25400" bIns="25400" rtlCol="0" anchor="t">
            <a:normAutofit/>
          </a:bodyPr>
          <a:lstStyle/>
          <a:p>
            <a:pPr algn="ctr" indent="0" marL="0">
              <a:buNone/>
            </a:pPr>
            <a:r>
              <a:rPr lang="en-US" sz="1425" b="1" dirty="0">
                <a:solidFill>
                  <a:srgbClr val="F6F1E4"/>
                </a:solidFill>
                <a:latin typeface="Georgia" pitchFamily="34" charset="0"/>
                <a:ea typeface="Georgia" pitchFamily="34" charset="-122"/>
                <a:cs typeface="Georgia" pitchFamily="34" charset="-120"/>
              </a:rPr>
              <a:t>Enter</a:t>
            </a:r>
            <a:endParaRPr lang="en-US" sz="1425" dirty="0"/>
          </a:p>
        </p:txBody>
      </p:sp>
      <p:sp>
        <p:nvSpPr>
          <p:cNvPr id="25" name="Shape 23"/>
          <p:cNvSpPr/>
          <p:nvPr/>
        </p:nvSpPr>
        <p:spPr>
          <a:xfrm>
            <a:off x="7498035" y="1452563"/>
            <a:ext cx="3291855" cy="8339137"/>
          </a:xfrm>
          <a:prstGeom prst="roundRect">
            <a:avLst>
              <a:gd name="adj" fmla="val 3472"/>
            </a:avLst>
          </a:prstGeom>
          <a:solidFill>
            <a:srgbClr val="080C12"/>
          </a:solidFill>
          <a:ln w="9525">
            <a:solidFill>
              <a:srgbClr val="243349"/>
            </a:solidFill>
            <a:prstDash val="solid"/>
          </a:ln>
          <a:effectLst>
            <a:outerShdw sx="100000" sy="100000" kx="0" ky="0" algn="bl" rotWithShape="0" blurRad="133350" dist="38100" dir="5400000">
              <a:srgbClr val="000000">
                <a:alpha val="40000"/>
              </a:srgbClr>
            </a:outerShdw>
          </a:effectLst>
        </p:spPr>
      </p:sp>
      <p:sp>
        <p:nvSpPr>
          <p:cNvPr id="26" name="Text 24"/>
          <p:cNvSpPr/>
          <p:nvPr/>
        </p:nvSpPr>
        <p:spPr>
          <a:xfrm>
            <a:off x="7755210" y="1709738"/>
            <a:ext cx="3055255"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6C8199"/>
                </a:solidFill>
                <a:latin typeface="Courier New" pitchFamily="34" charset="0"/>
                <a:ea typeface="Courier New" pitchFamily="34" charset="-122"/>
                <a:cs typeface="Courier New" pitchFamily="34" charset="-120"/>
              </a:rPr>
              <a:t>TTRPG-BLUE</a:t>
            </a:r>
            <a:endParaRPr lang="en-US" sz="1125" dirty="0"/>
          </a:p>
        </p:txBody>
      </p:sp>
      <p:sp>
        <p:nvSpPr>
          <p:cNvPr id="27" name="Text 25"/>
          <p:cNvSpPr/>
          <p:nvPr/>
        </p:nvSpPr>
        <p:spPr>
          <a:xfrm>
            <a:off x="7755210" y="2033588"/>
            <a:ext cx="3055255"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DCE6F0"/>
                </a:solidFill>
                <a:latin typeface="Georgia" pitchFamily="34" charset="0"/>
                <a:ea typeface="Georgia" pitchFamily="34" charset="-122"/>
                <a:cs typeface="Georgia" pitchFamily="34" charset="-120"/>
              </a:rPr>
              <a:t>Drowned</a:t>
            </a:r>
            <a:endParaRPr lang="en-US" sz="2550" dirty="0"/>
          </a:p>
        </p:txBody>
      </p:sp>
      <p:sp>
        <p:nvSpPr>
          <p:cNvPr id="28" name="Shape 26"/>
          <p:cNvSpPr/>
          <p:nvPr/>
        </p:nvSpPr>
        <p:spPr>
          <a:xfrm>
            <a:off x="7755210" y="2533650"/>
            <a:ext cx="2777505" cy="995363"/>
          </a:xfrm>
          <a:prstGeom prst="roundRect">
            <a:avLst>
              <a:gd name="adj" fmla="val 7655"/>
            </a:avLst>
          </a:prstGeom>
          <a:solidFill>
            <a:srgbClr val="111824"/>
          </a:solidFill>
          <a:ln w="9525">
            <a:solidFill>
              <a:srgbClr val="243349"/>
            </a:solidFill>
            <a:prstDash val="solid"/>
          </a:ln>
          <a:effectLst>
            <a:outerShdw sx="100000" sy="100000" kx="0" ky="0" algn="bl" rotWithShape="0" blurRad="133350" dist="38100" dir="5400000">
              <a:srgbClr val="000000">
                <a:alpha val="40000"/>
              </a:srgbClr>
            </a:outerShdw>
          </a:effectLst>
        </p:spPr>
      </p:sp>
      <p:sp>
        <p:nvSpPr>
          <p:cNvPr id="29" name="Shape 27"/>
          <p:cNvSpPr/>
          <p:nvPr/>
        </p:nvSpPr>
        <p:spPr>
          <a:xfrm>
            <a:off x="7917135" y="2695575"/>
            <a:ext cx="628650" cy="252413"/>
          </a:xfrm>
          <a:prstGeom prst="roundRect">
            <a:avLst>
              <a:gd name="adj" fmla="val 50000"/>
            </a:avLst>
          </a:prstGeom>
          <a:solidFill>
            <a:srgbClr val="3E78A8">
              <a:alpha val="18000"/>
            </a:srgbClr>
          </a:solidFill>
          <a:ln/>
        </p:spPr>
      </p:sp>
      <p:sp>
        <p:nvSpPr>
          <p:cNvPr id="30" name="Text 28"/>
          <p:cNvSpPr/>
          <p:nvPr/>
        </p:nvSpPr>
        <p:spPr>
          <a:xfrm>
            <a:off x="8031435" y="2733675"/>
            <a:ext cx="47625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8BC2E6"/>
                </a:solidFill>
                <a:latin typeface="Courier New" pitchFamily="34" charset="0"/>
                <a:ea typeface="Courier New" pitchFamily="34" charset="-122"/>
                <a:cs typeface="Courier New" pitchFamily="34" charset="-120"/>
              </a:rPr>
              <a:t>TTRPG</a:t>
            </a:r>
            <a:endParaRPr lang="en-US" sz="1050" dirty="0"/>
          </a:p>
        </p:txBody>
      </p:sp>
      <p:sp>
        <p:nvSpPr>
          <p:cNvPr id="31" name="Shape 29"/>
          <p:cNvSpPr/>
          <p:nvPr/>
        </p:nvSpPr>
        <p:spPr>
          <a:xfrm>
            <a:off x="7917135" y="3062288"/>
            <a:ext cx="2453655" cy="95250"/>
          </a:xfrm>
          <a:prstGeom prst="roundRect">
            <a:avLst>
              <a:gd name="adj" fmla="val 40000"/>
            </a:avLst>
          </a:prstGeom>
          <a:solidFill>
            <a:srgbClr val="243349"/>
          </a:solidFill>
          <a:ln/>
        </p:spPr>
      </p:sp>
      <p:sp>
        <p:nvSpPr>
          <p:cNvPr id="32" name="Shape 30"/>
          <p:cNvSpPr/>
          <p:nvPr/>
        </p:nvSpPr>
        <p:spPr>
          <a:xfrm>
            <a:off x="7917135" y="3271838"/>
            <a:ext cx="1472133" cy="95250"/>
          </a:xfrm>
          <a:prstGeom prst="roundRect">
            <a:avLst>
              <a:gd name="adj" fmla="val 40000"/>
            </a:avLst>
          </a:prstGeom>
          <a:solidFill>
            <a:srgbClr val="243349"/>
          </a:solidFill>
          <a:ln/>
        </p:spPr>
      </p:sp>
      <p:sp>
        <p:nvSpPr>
          <p:cNvPr id="33" name="Shape 31"/>
          <p:cNvSpPr/>
          <p:nvPr/>
        </p:nvSpPr>
        <p:spPr>
          <a:xfrm>
            <a:off x="7755210" y="9082088"/>
            <a:ext cx="2777505" cy="452438"/>
          </a:xfrm>
          <a:prstGeom prst="roundRect">
            <a:avLst>
              <a:gd name="adj" fmla="val 12632"/>
            </a:avLst>
          </a:prstGeom>
          <a:solidFill>
            <a:srgbClr val="3E78A8"/>
          </a:solidFill>
          <a:ln/>
        </p:spPr>
      </p:sp>
      <p:sp>
        <p:nvSpPr>
          <p:cNvPr id="34" name="Text 32"/>
          <p:cNvSpPr/>
          <p:nvPr/>
        </p:nvSpPr>
        <p:spPr>
          <a:xfrm>
            <a:off x="7837373" y="9205912"/>
            <a:ext cx="2613180" cy="242888"/>
          </a:xfrm>
          <a:prstGeom prst="rect">
            <a:avLst/>
          </a:prstGeom>
          <a:noFill/>
          <a:ln/>
        </p:spPr>
        <p:txBody>
          <a:bodyPr wrap="square" lIns="25400" tIns="25400" rIns="25400" bIns="25400" rtlCol="0" anchor="t">
            <a:normAutofit/>
          </a:bodyPr>
          <a:lstStyle/>
          <a:p>
            <a:pPr algn="ctr" indent="0" marL="0">
              <a:buNone/>
            </a:pPr>
            <a:r>
              <a:rPr lang="en-US" sz="1425" b="1" dirty="0">
                <a:solidFill>
                  <a:srgbClr val="061018"/>
                </a:solidFill>
                <a:latin typeface="Georgia" pitchFamily="34" charset="0"/>
                <a:ea typeface="Georgia" pitchFamily="34" charset="-122"/>
                <a:cs typeface="Georgia" pitchFamily="34" charset="-120"/>
              </a:rPr>
              <a:t>Roll</a:t>
            </a:r>
            <a:endParaRPr lang="en-US" sz="1425" dirty="0"/>
          </a:p>
        </p:txBody>
      </p:sp>
      <p:sp>
        <p:nvSpPr>
          <p:cNvPr id="35" name="Shape 33"/>
          <p:cNvSpPr/>
          <p:nvPr/>
        </p:nvSpPr>
        <p:spPr>
          <a:xfrm>
            <a:off x="10980390" y="1452563"/>
            <a:ext cx="3291855" cy="8339137"/>
          </a:xfrm>
          <a:prstGeom prst="roundRect">
            <a:avLst>
              <a:gd name="adj" fmla="val 3472"/>
            </a:avLst>
          </a:prstGeom>
          <a:solidFill>
            <a:srgbClr val="0B0813"/>
          </a:solidFill>
          <a:ln w="9525">
            <a:solidFill>
              <a:srgbClr val="33274D"/>
            </a:solidFill>
            <a:prstDash val="solid"/>
          </a:ln>
          <a:effectLst>
            <a:outerShdw sx="100000" sy="100000" kx="0" ky="0" algn="bl" rotWithShape="0" blurRad="133350" dist="38100" dir="5400000">
              <a:srgbClr val="000000">
                <a:alpha val="40000"/>
              </a:srgbClr>
            </a:outerShdw>
          </a:effectLst>
        </p:spPr>
      </p:sp>
      <p:sp>
        <p:nvSpPr>
          <p:cNvPr id="36" name="Text 34"/>
          <p:cNvSpPr/>
          <p:nvPr/>
        </p:nvSpPr>
        <p:spPr>
          <a:xfrm>
            <a:off x="11237565" y="1709738"/>
            <a:ext cx="3055255"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847699"/>
                </a:solidFill>
                <a:latin typeface="Courier New" pitchFamily="34" charset="0"/>
                <a:ea typeface="Courier New" pitchFamily="34" charset="-122"/>
                <a:cs typeface="Courier New" pitchFamily="34" charset="-120"/>
              </a:rPr>
              <a:t>TTRPG-VIOLET</a:t>
            </a:r>
            <a:endParaRPr lang="en-US" sz="1125" dirty="0"/>
          </a:p>
        </p:txBody>
      </p:sp>
      <p:sp>
        <p:nvSpPr>
          <p:cNvPr id="37" name="Text 35"/>
          <p:cNvSpPr/>
          <p:nvPr/>
        </p:nvSpPr>
        <p:spPr>
          <a:xfrm>
            <a:off x="11237565" y="2033588"/>
            <a:ext cx="3055255"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E6DEF2"/>
                </a:solidFill>
                <a:latin typeface="Georgia" pitchFamily="34" charset="0"/>
                <a:ea typeface="Georgia" pitchFamily="34" charset="-122"/>
                <a:cs typeface="Georgia" pitchFamily="34" charset="-120"/>
              </a:rPr>
              <a:t>Folklore</a:t>
            </a:r>
            <a:endParaRPr lang="en-US" sz="2550" dirty="0"/>
          </a:p>
        </p:txBody>
      </p:sp>
      <p:sp>
        <p:nvSpPr>
          <p:cNvPr id="38" name="Shape 36"/>
          <p:cNvSpPr/>
          <p:nvPr/>
        </p:nvSpPr>
        <p:spPr>
          <a:xfrm>
            <a:off x="11237565" y="2533650"/>
            <a:ext cx="2777505" cy="995363"/>
          </a:xfrm>
          <a:prstGeom prst="roundRect">
            <a:avLst>
              <a:gd name="adj" fmla="val 7655"/>
            </a:avLst>
          </a:prstGeom>
          <a:solidFill>
            <a:srgbClr val="161025"/>
          </a:solidFill>
          <a:ln w="9525">
            <a:solidFill>
              <a:srgbClr val="33274D"/>
            </a:solidFill>
            <a:prstDash val="solid"/>
          </a:ln>
          <a:effectLst>
            <a:outerShdw sx="100000" sy="100000" kx="0" ky="0" algn="bl" rotWithShape="0" blurRad="133350" dist="38100" dir="5400000">
              <a:srgbClr val="000000">
                <a:alpha val="40000"/>
              </a:srgbClr>
            </a:outerShdw>
          </a:effectLst>
        </p:spPr>
      </p:sp>
      <p:sp>
        <p:nvSpPr>
          <p:cNvPr id="39" name="Shape 37"/>
          <p:cNvSpPr/>
          <p:nvPr/>
        </p:nvSpPr>
        <p:spPr>
          <a:xfrm>
            <a:off x="11399490" y="2695575"/>
            <a:ext cx="628650" cy="252413"/>
          </a:xfrm>
          <a:prstGeom prst="roundRect">
            <a:avLst>
              <a:gd name="adj" fmla="val 50000"/>
            </a:avLst>
          </a:prstGeom>
          <a:solidFill>
            <a:srgbClr val="6B4FB0">
              <a:alpha val="20000"/>
            </a:srgbClr>
          </a:solidFill>
          <a:ln/>
        </p:spPr>
      </p:sp>
      <p:sp>
        <p:nvSpPr>
          <p:cNvPr id="40" name="Text 38"/>
          <p:cNvSpPr/>
          <p:nvPr/>
        </p:nvSpPr>
        <p:spPr>
          <a:xfrm>
            <a:off x="11513790" y="2733675"/>
            <a:ext cx="47625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B49CE6"/>
                </a:solidFill>
                <a:latin typeface="Courier New" pitchFamily="34" charset="0"/>
                <a:ea typeface="Courier New" pitchFamily="34" charset="-122"/>
                <a:cs typeface="Courier New" pitchFamily="34" charset="-120"/>
              </a:rPr>
              <a:t>TTRPG</a:t>
            </a:r>
            <a:endParaRPr lang="en-US" sz="1050" dirty="0"/>
          </a:p>
        </p:txBody>
      </p:sp>
      <p:sp>
        <p:nvSpPr>
          <p:cNvPr id="41" name="Shape 39"/>
          <p:cNvSpPr/>
          <p:nvPr/>
        </p:nvSpPr>
        <p:spPr>
          <a:xfrm>
            <a:off x="11399490" y="3062288"/>
            <a:ext cx="2453655" cy="95250"/>
          </a:xfrm>
          <a:prstGeom prst="roundRect">
            <a:avLst>
              <a:gd name="adj" fmla="val 40000"/>
            </a:avLst>
          </a:prstGeom>
          <a:solidFill>
            <a:srgbClr val="33274D"/>
          </a:solidFill>
          <a:ln/>
        </p:spPr>
      </p:sp>
      <p:sp>
        <p:nvSpPr>
          <p:cNvPr id="42" name="Shape 40"/>
          <p:cNvSpPr/>
          <p:nvPr/>
        </p:nvSpPr>
        <p:spPr>
          <a:xfrm>
            <a:off x="11399490" y="3271838"/>
            <a:ext cx="1472133" cy="95250"/>
          </a:xfrm>
          <a:prstGeom prst="roundRect">
            <a:avLst>
              <a:gd name="adj" fmla="val 40000"/>
            </a:avLst>
          </a:prstGeom>
          <a:solidFill>
            <a:srgbClr val="33274D"/>
          </a:solidFill>
          <a:ln/>
        </p:spPr>
      </p:sp>
      <p:sp>
        <p:nvSpPr>
          <p:cNvPr id="43" name="Shape 41"/>
          <p:cNvSpPr/>
          <p:nvPr/>
        </p:nvSpPr>
        <p:spPr>
          <a:xfrm>
            <a:off x="11237565" y="9082088"/>
            <a:ext cx="2777505" cy="452438"/>
          </a:xfrm>
          <a:prstGeom prst="roundRect">
            <a:avLst>
              <a:gd name="adj" fmla="val 12632"/>
            </a:avLst>
          </a:prstGeom>
          <a:solidFill>
            <a:srgbClr val="6B4FB0"/>
          </a:solidFill>
          <a:ln/>
        </p:spPr>
      </p:sp>
      <p:sp>
        <p:nvSpPr>
          <p:cNvPr id="44" name="Text 42"/>
          <p:cNvSpPr/>
          <p:nvPr/>
        </p:nvSpPr>
        <p:spPr>
          <a:xfrm>
            <a:off x="11319728" y="9205912"/>
            <a:ext cx="2613180" cy="242888"/>
          </a:xfrm>
          <a:prstGeom prst="rect">
            <a:avLst/>
          </a:prstGeom>
          <a:noFill/>
          <a:ln/>
        </p:spPr>
        <p:txBody>
          <a:bodyPr wrap="square" lIns="25400" tIns="25400" rIns="25400" bIns="25400" rtlCol="0" anchor="t">
            <a:normAutofit/>
          </a:bodyPr>
          <a:lstStyle/>
          <a:p>
            <a:pPr algn="ctr" indent="0" marL="0">
              <a:buNone/>
            </a:pPr>
            <a:r>
              <a:rPr lang="en-US" sz="1425" b="1" dirty="0">
                <a:solidFill>
                  <a:srgbClr val="0C0716"/>
                </a:solidFill>
                <a:latin typeface="Georgia" pitchFamily="34" charset="0"/>
                <a:ea typeface="Georgia" pitchFamily="34" charset="-122"/>
                <a:cs typeface="Georgia" pitchFamily="34" charset="-120"/>
              </a:rPr>
              <a:t>Roll</a:t>
            </a:r>
            <a:endParaRPr lang="en-US" sz="1425" dirty="0"/>
          </a:p>
        </p:txBody>
      </p:sp>
      <p:sp>
        <p:nvSpPr>
          <p:cNvPr id="45" name="Shape 43"/>
          <p:cNvSpPr/>
          <p:nvPr/>
        </p:nvSpPr>
        <p:spPr>
          <a:xfrm>
            <a:off x="14462745" y="1452563"/>
            <a:ext cx="3291855" cy="8339137"/>
          </a:xfrm>
          <a:prstGeom prst="roundRect">
            <a:avLst>
              <a:gd name="adj" fmla="val 3472"/>
            </a:avLst>
          </a:prstGeom>
          <a:solidFill>
            <a:srgbClr val="ECE8F2"/>
          </a:solidFill>
          <a:ln w="9525">
            <a:solidFill>
              <a:srgbClr val="C7BBDC"/>
            </a:solidFill>
            <a:prstDash val="solid"/>
          </a:ln>
          <a:effectLst>
            <a:outerShdw sx="100000" sy="100000" kx="0" ky="0" algn="bl" rotWithShape="0" blurRad="133350" dist="38100" dir="5400000">
              <a:srgbClr val="000000">
                <a:alpha val="40000"/>
              </a:srgbClr>
            </a:outerShdw>
          </a:effectLst>
        </p:spPr>
      </p:sp>
      <p:sp>
        <p:nvSpPr>
          <p:cNvPr id="46" name="Text 44"/>
          <p:cNvSpPr/>
          <p:nvPr/>
        </p:nvSpPr>
        <p:spPr>
          <a:xfrm>
            <a:off x="14719920" y="1709738"/>
            <a:ext cx="3055255" cy="228600"/>
          </a:xfrm>
          <a:prstGeom prst="rect">
            <a:avLst/>
          </a:prstGeom>
          <a:noFill/>
          <a:ln/>
        </p:spPr>
        <p:txBody>
          <a:bodyPr wrap="square" lIns="25400" tIns="25400" rIns="25400" bIns="25400" rtlCol="0" anchor="t">
            <a:normAutofit/>
          </a:bodyPr>
          <a:lstStyle/>
          <a:p>
            <a:pPr algn="l" indent="0" marL="0">
              <a:buNone/>
            </a:pPr>
            <a:r>
              <a:rPr lang="en-US" sz="1125" spc="180" kern="0" dirty="0">
                <a:solidFill>
                  <a:srgbClr val="6E6485"/>
                </a:solidFill>
                <a:latin typeface="Courier New" pitchFamily="34" charset="0"/>
                <a:ea typeface="Courier New" pitchFamily="34" charset="-122"/>
                <a:cs typeface="Courier New" pitchFamily="34" charset="-120"/>
              </a:rPr>
              <a:t>TTRPG-LIGHT</a:t>
            </a:r>
            <a:endParaRPr lang="en-US" sz="1125" dirty="0"/>
          </a:p>
        </p:txBody>
      </p:sp>
      <p:sp>
        <p:nvSpPr>
          <p:cNvPr id="47" name="Text 45"/>
          <p:cNvSpPr/>
          <p:nvPr/>
        </p:nvSpPr>
        <p:spPr>
          <a:xfrm>
            <a:off x="14719920" y="2033588"/>
            <a:ext cx="3055255"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1A1626"/>
                </a:solidFill>
                <a:latin typeface="Georgia" pitchFamily="34" charset="0"/>
                <a:ea typeface="Georgia" pitchFamily="34" charset="-122"/>
                <a:cs typeface="Georgia" pitchFamily="34" charset="-120"/>
              </a:rPr>
              <a:t>Folklore</a:t>
            </a:r>
            <a:endParaRPr lang="en-US" sz="2550" dirty="0"/>
          </a:p>
        </p:txBody>
      </p:sp>
      <p:sp>
        <p:nvSpPr>
          <p:cNvPr id="48" name="Shape 46"/>
          <p:cNvSpPr/>
          <p:nvPr/>
        </p:nvSpPr>
        <p:spPr>
          <a:xfrm>
            <a:off x="14719920" y="2533650"/>
            <a:ext cx="2777505" cy="995363"/>
          </a:xfrm>
          <a:prstGeom prst="roundRect">
            <a:avLst>
              <a:gd name="adj" fmla="val 7655"/>
            </a:avLst>
          </a:prstGeom>
          <a:solidFill>
            <a:srgbClr val="F6F3FB"/>
          </a:solidFill>
          <a:ln w="9525">
            <a:solidFill>
              <a:srgbClr val="C7BBDC"/>
            </a:solidFill>
            <a:prstDash val="solid"/>
          </a:ln>
          <a:effectLst>
            <a:outerShdw sx="100000" sy="100000" kx="0" ky="0" algn="bl" rotWithShape="0" blurRad="133350" dist="38100" dir="5400000">
              <a:srgbClr val="000000">
                <a:alpha val="40000"/>
              </a:srgbClr>
            </a:outerShdw>
          </a:effectLst>
        </p:spPr>
      </p:sp>
      <p:sp>
        <p:nvSpPr>
          <p:cNvPr id="49" name="Shape 47"/>
          <p:cNvSpPr/>
          <p:nvPr/>
        </p:nvSpPr>
        <p:spPr>
          <a:xfrm>
            <a:off x="14881845" y="2695575"/>
            <a:ext cx="628650" cy="252413"/>
          </a:xfrm>
          <a:prstGeom prst="roundRect">
            <a:avLst>
              <a:gd name="adj" fmla="val 50000"/>
            </a:avLst>
          </a:prstGeom>
          <a:solidFill>
            <a:srgbClr val="4A3478">
              <a:alpha val="12000"/>
            </a:srgbClr>
          </a:solidFill>
          <a:ln/>
        </p:spPr>
      </p:sp>
      <p:sp>
        <p:nvSpPr>
          <p:cNvPr id="50" name="Text 48"/>
          <p:cNvSpPr/>
          <p:nvPr/>
        </p:nvSpPr>
        <p:spPr>
          <a:xfrm>
            <a:off x="14996145" y="2733675"/>
            <a:ext cx="476250" cy="214313"/>
          </a:xfrm>
          <a:prstGeom prst="rect">
            <a:avLst/>
          </a:prstGeom>
          <a:noFill/>
          <a:ln/>
        </p:spPr>
        <p:txBody>
          <a:bodyPr wrap="square" lIns="25400" tIns="25400" rIns="25400" bIns="25400" rtlCol="0" anchor="t">
            <a:normAutofit/>
          </a:bodyPr>
          <a:lstStyle/>
          <a:p>
            <a:pPr algn="l" indent="0" marL="0">
              <a:buNone/>
            </a:pPr>
            <a:r>
              <a:rPr lang="en-US" sz="1050" dirty="0">
                <a:solidFill>
                  <a:srgbClr val="4A3478"/>
                </a:solidFill>
                <a:latin typeface="Courier New" pitchFamily="34" charset="0"/>
                <a:ea typeface="Courier New" pitchFamily="34" charset="-122"/>
                <a:cs typeface="Courier New" pitchFamily="34" charset="-120"/>
              </a:rPr>
              <a:t>TTRPG</a:t>
            </a:r>
            <a:endParaRPr lang="en-US" sz="1050" dirty="0"/>
          </a:p>
        </p:txBody>
      </p:sp>
      <p:sp>
        <p:nvSpPr>
          <p:cNvPr id="51" name="Shape 49"/>
          <p:cNvSpPr/>
          <p:nvPr/>
        </p:nvSpPr>
        <p:spPr>
          <a:xfrm>
            <a:off x="14881845" y="3062288"/>
            <a:ext cx="2453655" cy="95250"/>
          </a:xfrm>
          <a:prstGeom prst="roundRect">
            <a:avLst>
              <a:gd name="adj" fmla="val 40000"/>
            </a:avLst>
          </a:prstGeom>
          <a:solidFill>
            <a:srgbClr val="C7BBDC"/>
          </a:solidFill>
          <a:ln/>
        </p:spPr>
      </p:sp>
      <p:sp>
        <p:nvSpPr>
          <p:cNvPr id="52" name="Shape 50"/>
          <p:cNvSpPr/>
          <p:nvPr/>
        </p:nvSpPr>
        <p:spPr>
          <a:xfrm>
            <a:off x="14881845" y="3271838"/>
            <a:ext cx="1472133" cy="95250"/>
          </a:xfrm>
          <a:prstGeom prst="roundRect">
            <a:avLst>
              <a:gd name="adj" fmla="val 40000"/>
            </a:avLst>
          </a:prstGeom>
          <a:solidFill>
            <a:srgbClr val="C7BBDC"/>
          </a:solidFill>
          <a:ln/>
        </p:spPr>
      </p:sp>
      <p:sp>
        <p:nvSpPr>
          <p:cNvPr id="53" name="Shape 51"/>
          <p:cNvSpPr/>
          <p:nvPr/>
        </p:nvSpPr>
        <p:spPr>
          <a:xfrm>
            <a:off x="14719920" y="9082088"/>
            <a:ext cx="2777505" cy="452438"/>
          </a:xfrm>
          <a:prstGeom prst="roundRect">
            <a:avLst>
              <a:gd name="adj" fmla="val 12632"/>
            </a:avLst>
          </a:prstGeom>
          <a:solidFill>
            <a:srgbClr val="4A3478"/>
          </a:solidFill>
          <a:ln/>
        </p:spPr>
      </p:sp>
      <p:sp>
        <p:nvSpPr>
          <p:cNvPr id="54" name="Text 52"/>
          <p:cNvSpPr/>
          <p:nvPr/>
        </p:nvSpPr>
        <p:spPr>
          <a:xfrm>
            <a:off x="14802083" y="9205912"/>
            <a:ext cx="2613180" cy="242888"/>
          </a:xfrm>
          <a:prstGeom prst="rect">
            <a:avLst/>
          </a:prstGeom>
          <a:noFill/>
          <a:ln/>
        </p:spPr>
        <p:txBody>
          <a:bodyPr wrap="square" lIns="25400" tIns="25400" rIns="25400" bIns="25400" rtlCol="0" anchor="t">
            <a:normAutofit/>
          </a:bodyPr>
          <a:lstStyle/>
          <a:p>
            <a:pPr algn="ctr" indent="0" marL="0">
              <a:buNone/>
            </a:pPr>
            <a:r>
              <a:rPr lang="en-US" sz="1425" b="1" dirty="0">
                <a:solidFill>
                  <a:srgbClr val="FBF9FE"/>
                </a:solidFill>
                <a:latin typeface="Georgia" pitchFamily="34" charset="0"/>
                <a:ea typeface="Georgia" pitchFamily="34" charset="-122"/>
                <a:cs typeface="Georgia" pitchFamily="34" charset="-120"/>
              </a:rPr>
              <a:t>Roll</a:t>
            </a:r>
            <a:endParaRPr lang="en-US" sz="14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4329336"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LARP · PUBLIC SITE</a:t>
            </a:r>
            <a:endParaRPr lang="en-US" sz="1275" dirty="0"/>
          </a:p>
        </p:txBody>
      </p:sp>
      <p:sp>
        <p:nvSpPr>
          <p:cNvPr id="4" name="Text 2"/>
          <p:cNvSpPr/>
          <p:nvPr/>
        </p:nvSpPr>
        <p:spPr>
          <a:xfrm>
            <a:off x="533400" y="766763"/>
            <a:ext cx="4329336"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The Keep — Landing</a:t>
            </a:r>
            <a:endParaRPr lang="en-US" sz="3450" dirty="0"/>
          </a:p>
        </p:txBody>
      </p:sp>
      <p:sp>
        <p:nvSpPr>
          <p:cNvPr id="5" name="Shape 3"/>
          <p:cNvSpPr/>
          <p:nvPr/>
        </p:nvSpPr>
        <p:spPr>
          <a:xfrm>
            <a:off x="16155293" y="438150"/>
            <a:ext cx="1599307" cy="381000"/>
          </a:xfrm>
          <a:prstGeom prst="roundRect">
            <a:avLst>
              <a:gd name="adj" fmla="val 50000"/>
            </a:avLst>
          </a:prstGeom>
          <a:solidFill>
            <a:srgbClr val="16151D"/>
          </a:solidFill>
          <a:ln w="9525">
            <a:solidFill>
              <a:srgbClr val="35343F"/>
            </a:solidFill>
            <a:prstDash val="solid"/>
          </a:ln>
        </p:spPr>
      </p:sp>
      <p:sp>
        <p:nvSpPr>
          <p:cNvPr id="6" name="Shape 4"/>
          <p:cNvSpPr/>
          <p:nvPr/>
        </p:nvSpPr>
        <p:spPr>
          <a:xfrm>
            <a:off x="16269593" y="533400"/>
            <a:ext cx="190500" cy="190500"/>
          </a:xfrm>
          <a:prstGeom prst="ellipse">
            <a:avLst/>
          </a:prstGeom>
          <a:solidFill>
            <a:srgbClr val="0B0A0F"/>
          </a:solidFill>
          <a:ln w="9525">
            <a:solidFill>
              <a:srgbClr val="FFFFFF">
                <a:alpha val="18000"/>
              </a:srgbClr>
            </a:solidFill>
            <a:prstDash val="solid"/>
          </a:ln>
        </p:spPr>
      </p:sp>
      <p:sp>
        <p:nvSpPr>
          <p:cNvPr id="7" name="Text 5"/>
          <p:cNvSpPr/>
          <p:nvPr/>
        </p:nvSpPr>
        <p:spPr>
          <a:xfrm>
            <a:off x="16555343" y="533400"/>
            <a:ext cx="1113532" cy="228600"/>
          </a:xfrm>
          <a:prstGeom prst="rect">
            <a:avLst/>
          </a:prstGeom>
          <a:noFill/>
          <a:ln/>
        </p:spPr>
        <p:txBody>
          <a:bodyPr wrap="none" lIns="0" tIns="0" rIns="0" bIns="0" rtlCol="0" anchor="t">
            <a:normAutofit/>
          </a:bodyPr>
          <a:lstStyle/>
          <a:p>
            <a:pPr algn="l" indent="0" marL="0">
              <a:buNone/>
            </a:pPr>
            <a:r>
              <a:rPr lang="en-US" sz="1125" spc="68" kern="0" dirty="0">
                <a:solidFill>
                  <a:srgbClr val="C5BDA6"/>
                </a:solidFill>
                <a:latin typeface="Courier New" pitchFamily="34" charset="0"/>
                <a:ea typeface="Courier New" pitchFamily="34" charset="-122"/>
                <a:cs typeface="Courier New" pitchFamily="34" charset="-120"/>
              </a:rPr>
              <a:t>Dark · dark</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B0A0F"/>
          </a:solidFill>
          <a:ln/>
        </p:spPr>
      </p:sp>
      <p:sp>
        <p:nvSpPr>
          <p:cNvPr id="10" name="Shape 8"/>
          <p:cNvSpPr/>
          <p:nvPr/>
        </p:nvSpPr>
        <p:spPr>
          <a:xfrm>
            <a:off x="542925" y="1462088"/>
            <a:ext cx="17202150" cy="6940302"/>
          </a:xfrm>
          <a:prstGeom prst="rect">
            <a:avLst/>
          </a:prstGeom>
          <a:gradFill rotWithShape="1">
            <a:gsLst>
              <a:gs pos="0">
                <a:srgbClr val="FFFFFF">
                  <a:alpha val="2000"/>
                </a:srgbClr>
              </a:gs>
              <a:gs pos="100000">
                <a:srgbClr val="FFFFFF">
                  <a:alpha val="0"/>
                </a:srgbClr>
              </a:gs>
            </a:gsLst>
            <a:lin ang="5400000" scaled="0"/>
          </a:gradFill>
          <a:ln/>
        </p:spPr>
      </p:sp>
      <p:sp>
        <p:nvSpPr>
          <p:cNvPr id="11" name="Shape 9"/>
          <p:cNvSpPr/>
          <p:nvPr/>
        </p:nvSpPr>
        <p:spPr>
          <a:xfrm>
            <a:off x="542925" y="8392864"/>
            <a:ext cx="17202150" cy="9525"/>
          </a:xfrm>
          <a:prstGeom prst="rect">
            <a:avLst/>
          </a:prstGeom>
          <a:solidFill>
            <a:srgbClr val="2A2933"/>
          </a:solidFill>
          <a:ln/>
        </p:spPr>
      </p:sp>
      <p:sp>
        <p:nvSpPr>
          <p:cNvPr id="12" name="Text 10"/>
          <p:cNvSpPr/>
          <p:nvPr/>
        </p:nvSpPr>
        <p:spPr>
          <a:xfrm>
            <a:off x="3524250" y="2509838"/>
            <a:ext cx="12363450" cy="319088"/>
          </a:xfrm>
          <a:prstGeom prst="rect">
            <a:avLst/>
          </a:prstGeom>
          <a:noFill/>
          <a:ln/>
        </p:spPr>
        <p:txBody>
          <a:bodyPr wrap="square" lIns="25400" tIns="25400" rIns="25400" bIns="25400" rtlCol="0" anchor="t">
            <a:normAutofit/>
          </a:bodyPr>
          <a:lstStyle/>
          <a:p>
            <a:pPr algn="l" indent="0" marL="0">
              <a:buNone/>
            </a:pPr>
            <a:r>
              <a:rPr lang="en-US" sz="1650" spc="495" kern="0" dirty="0">
                <a:solidFill>
                  <a:srgbClr val="DB4A3F"/>
                </a:solidFill>
                <a:latin typeface="Georgia" pitchFamily="34" charset="0"/>
                <a:ea typeface="Georgia" pitchFamily="34" charset="-122"/>
                <a:cs typeface="Georgia" pitchFamily="34" charset="-120"/>
              </a:rPr>
              <a:t>ᛏ ᛁ ᛜ</a:t>
            </a:r>
            <a:endParaRPr lang="en-US" sz="1650" dirty="0"/>
          </a:p>
        </p:txBody>
      </p:sp>
      <p:sp>
        <p:nvSpPr>
          <p:cNvPr id="13" name="Text 11"/>
          <p:cNvSpPr/>
          <p:nvPr/>
        </p:nvSpPr>
        <p:spPr>
          <a:xfrm>
            <a:off x="3524250" y="3000375"/>
            <a:ext cx="5887600" cy="1178868"/>
          </a:xfrm>
          <a:prstGeom prst="rect">
            <a:avLst/>
          </a:prstGeom>
          <a:noFill/>
          <a:ln/>
        </p:spPr>
        <p:txBody>
          <a:bodyPr wrap="square" lIns="25400" tIns="25400" rIns="25400" bIns="25400" rtlCol="0" anchor="t">
            <a:normAutofit/>
          </a:bodyPr>
          <a:lstStyle/>
          <a:p>
            <a:pPr algn="l" indent="0" marL="0">
              <a:lnSpc>
                <a:spcPct val="98000"/>
              </a:lnSpc>
              <a:buNone/>
            </a:pPr>
            <a:r>
              <a:rPr lang="en-US" sz="4583" b="1" spc="-46" kern="0" dirty="0">
                <a:solidFill>
                  <a:srgbClr val="ECE6D6"/>
                </a:solidFill>
                <a:latin typeface="Georgia" pitchFamily="34" charset="0"/>
                <a:ea typeface="Georgia" pitchFamily="34" charset="-122"/>
                <a:cs typeface="Georgia" pitchFamily="34" charset="-120"/>
              </a:rPr>
              <a:t>Enrolment is</a:t>
            </a:r>
            <a:pPr algn="l" indent="0" marL="0">
              <a:lnSpc>
                <a:spcPct val="98000"/>
              </a:lnSpc>
              <a:buNone/>
            </a:pPr>
            <a:r>
              <a:rPr lang="en-US" sz="4583" b="1" spc="-46" kern="0" dirty="0">
                <a:solidFill>
                  <a:srgbClr val="DB4A3F"/>
                </a:solidFill>
                <a:latin typeface="Georgia" pitchFamily="34" charset="0"/>
                <a:ea typeface="Georgia" pitchFamily="34" charset="-122"/>
                <a:cs typeface="Georgia" pitchFamily="34" charset="-120"/>
              </a:rPr>
              <a:t>survived </a:t>
            </a:r>
            <a:pPr algn="l" indent="0" marL="0">
              <a:lnSpc>
                <a:spcPct val="98000"/>
              </a:lnSpc>
              <a:buNone/>
            </a:pPr>
            <a:r>
              <a:rPr lang="en-US" sz="4583" b="1" spc="-46" kern="0" dirty="0">
                <a:solidFill>
                  <a:srgbClr val="ECE6D6"/>
                </a:solidFill>
                <a:latin typeface="Georgia" pitchFamily="34" charset="0"/>
                <a:ea typeface="Georgia" pitchFamily="34" charset="-122"/>
                <a:cs typeface="Georgia" pitchFamily="34" charset="-120"/>
              </a:rPr>
              <a:t>, not granted.</a:t>
            </a:r>
            <a:endParaRPr lang="en-US" sz="4583" dirty="0"/>
          </a:p>
        </p:txBody>
      </p:sp>
      <p:sp>
        <p:nvSpPr>
          <p:cNvPr id="14" name="Text 12"/>
          <p:cNvSpPr/>
          <p:nvPr/>
        </p:nvSpPr>
        <p:spPr>
          <a:xfrm>
            <a:off x="3524250" y="4407843"/>
            <a:ext cx="5032915" cy="1232297"/>
          </a:xfrm>
          <a:prstGeom prst="rect">
            <a:avLst/>
          </a:prstGeom>
          <a:noFill/>
          <a:ln/>
        </p:spPr>
        <p:txBody>
          <a:bodyPr wrap="square" lIns="25400" tIns="25400" rIns="25400" bIns="25400" rtlCol="0" anchor="t">
            <a:normAutofit/>
          </a:bodyPr>
          <a:lstStyle/>
          <a:p>
            <a:pPr algn="l" indent="0" marL="0">
              <a:lnSpc>
                <a:spcPct val="165000"/>
              </a:lnSpc>
              <a:buNone/>
            </a:pPr>
            <a:r>
              <a:rPr lang="en-US" sz="1425" dirty="0">
                <a:solidFill>
                  <a:srgbClr val="C5BDA6"/>
                </a:solidFill>
                <a:latin typeface="Georgia" pitchFamily="34" charset="0"/>
                <a:ea typeface="Georgia" pitchFamily="34" charset="-122"/>
                <a:cs typeface="Georgia" pitchFamily="34" charset="-120"/>
              </a:rPr>
              <a:t>A live-action saga set in the northern keep of Durmstrang. You arrive by sea, alone, bearing nothing but a name — and from that hour the school keeps a ledger of every oath you swear.</a:t>
            </a:r>
            <a:endParaRPr lang="en-US" sz="1425" dirty="0"/>
          </a:p>
        </p:txBody>
      </p:sp>
      <p:sp>
        <p:nvSpPr>
          <p:cNvPr id="15" name="Shape 13"/>
          <p:cNvSpPr/>
          <p:nvPr/>
        </p:nvSpPr>
        <p:spPr>
          <a:xfrm>
            <a:off x="3524250" y="5963989"/>
            <a:ext cx="2322686" cy="457200"/>
          </a:xfrm>
          <a:prstGeom prst="roundRect">
            <a:avLst>
              <a:gd name="adj" fmla="val 6250"/>
            </a:avLst>
          </a:prstGeom>
          <a:solidFill>
            <a:srgbClr val="9B1C1C"/>
          </a:solidFill>
          <a:ln w="9525">
            <a:solidFill>
              <a:srgbClr val="9B1C1C"/>
            </a:solidFill>
            <a:prstDash val="solid"/>
          </a:ln>
          <a:effectLst>
            <a:outerShdw sx="100000" sy="100000" kx="0" ky="0" algn="bl" rotWithShape="0" blurRad="19050" dist="9525" dir="5400000">
              <a:srgbClr val="000000">
                <a:alpha val="35000"/>
              </a:srgbClr>
            </a:outerShdw>
          </a:effectLst>
        </p:spPr>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81425" y="6106864"/>
            <a:ext cx="171450" cy="171450"/>
          </a:xfrm>
          <a:prstGeom prst="rect">
            <a:avLst/>
          </a:prstGeom>
        </p:spPr>
      </p:pic>
      <p:sp>
        <p:nvSpPr>
          <p:cNvPr id="17" name="Text 14"/>
          <p:cNvSpPr/>
          <p:nvPr/>
        </p:nvSpPr>
        <p:spPr>
          <a:xfrm>
            <a:off x="3971043" y="6106864"/>
            <a:ext cx="1695800" cy="209550"/>
          </a:xfrm>
          <a:prstGeom prst="rect">
            <a:avLst/>
          </a:prstGeom>
          <a:noFill/>
          <a:ln/>
        </p:spPr>
        <p:txBody>
          <a:bodyPr wrap="square" lIns="25400" tIns="25400" rIns="25400" bIns="25400" rtlCol="0" anchor="t">
            <a:normAutofit/>
          </a:bodyPr>
          <a:lstStyle/>
          <a:p>
            <a:pPr algn="ctr" indent="0" marL="0">
              <a:lnSpc>
                <a:spcPct val="100000"/>
              </a:lnSpc>
              <a:buNone/>
            </a:pPr>
            <a:r>
              <a:rPr lang="en-US" sz="1350" b="1" spc="54" kern="0" dirty="0">
                <a:solidFill>
                  <a:srgbClr val="F6F1E4"/>
                </a:solidFill>
                <a:latin typeface="Georgia" pitchFamily="34" charset="0"/>
                <a:ea typeface="Georgia" pitchFamily="34" charset="-122"/>
                <a:cs typeface="Georgia" pitchFamily="34" charset="-120"/>
              </a:rPr>
              <a:t>Begin the Crossing</a:t>
            </a:r>
            <a:endParaRPr lang="en-US" sz="1350" dirty="0"/>
          </a:p>
        </p:txBody>
      </p:sp>
      <p:sp>
        <p:nvSpPr>
          <p:cNvPr id="18" name="Shape 15"/>
          <p:cNvSpPr/>
          <p:nvPr/>
        </p:nvSpPr>
        <p:spPr>
          <a:xfrm>
            <a:off x="5980286" y="5963989"/>
            <a:ext cx="1895401" cy="457200"/>
          </a:xfrm>
          <a:prstGeom prst="roundRect">
            <a:avLst>
              <a:gd name="adj" fmla="val 6250"/>
            </a:avLst>
          </a:prstGeom>
          <a:solidFill>
            <a:srgbClr val="1C1B24"/>
          </a:solidFill>
          <a:ln w="9525">
            <a:solidFill>
              <a:srgbClr val="46454F"/>
            </a:solidFill>
            <a:prstDash val="solid"/>
          </a:ln>
          <a:effectLst>
            <a:outerShdw sx="100000" sy="100000" kx="0" ky="0" algn="bl" rotWithShape="0" blurRad="19050" dist="9525" dir="5400000">
              <a:srgbClr val="000000">
                <a:alpha val="35000"/>
              </a:srgbClr>
            </a:outerShdw>
          </a:effectLst>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7461" y="6106864"/>
            <a:ext cx="171450" cy="171450"/>
          </a:xfrm>
          <a:prstGeom prst="rect">
            <a:avLst/>
          </a:prstGeom>
        </p:spPr>
      </p:pic>
      <p:sp>
        <p:nvSpPr>
          <p:cNvPr id="20" name="Text 16"/>
          <p:cNvSpPr/>
          <p:nvPr/>
        </p:nvSpPr>
        <p:spPr>
          <a:xfrm>
            <a:off x="6466061" y="6106864"/>
            <a:ext cx="1190551" cy="209550"/>
          </a:xfrm>
          <a:prstGeom prst="rect">
            <a:avLst/>
          </a:prstGeom>
          <a:noFill/>
          <a:ln/>
        </p:spPr>
        <p:txBody>
          <a:bodyPr wrap="square" lIns="25400" tIns="25400" rIns="25400" bIns="25400" rtlCol="0" anchor="t">
            <a:normAutofit/>
          </a:bodyPr>
          <a:lstStyle/>
          <a:p>
            <a:pPr algn="ctr" indent="0" marL="0">
              <a:lnSpc>
                <a:spcPct val="100000"/>
              </a:lnSpc>
              <a:buNone/>
            </a:pPr>
            <a:r>
              <a:rPr lang="en-US" sz="1350" b="1" spc="54" kern="0" dirty="0">
                <a:solidFill>
                  <a:srgbClr val="ECE6D6"/>
                </a:solidFill>
                <a:latin typeface="Georgia" pitchFamily="34" charset="0"/>
                <a:ea typeface="Georgia" pitchFamily="34" charset="-122"/>
                <a:cs typeface="Georgia" pitchFamily="34" charset="-120"/>
              </a:rPr>
              <a:t>Read the Rite</a:t>
            </a:r>
            <a:endParaRPr lang="en-US" sz="1350" dirty="0"/>
          </a:p>
        </p:txBody>
      </p:sp>
      <p:sp>
        <p:nvSpPr>
          <p:cNvPr id="21" name="Text 17"/>
          <p:cNvSpPr/>
          <p:nvPr/>
        </p:nvSpPr>
        <p:spPr>
          <a:xfrm>
            <a:off x="3524250" y="6954589"/>
            <a:ext cx="893490"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ECE6D6"/>
                </a:solidFill>
                <a:latin typeface="Georgia" pitchFamily="34" charset="0"/>
                <a:ea typeface="Georgia" pitchFamily="34" charset="-122"/>
                <a:cs typeface="Georgia" pitchFamily="34" charset="-120"/>
              </a:rPr>
              <a:t>IV</a:t>
            </a:r>
            <a:endParaRPr lang="en-US" sz="2550" dirty="0"/>
          </a:p>
        </p:txBody>
      </p:sp>
      <p:sp>
        <p:nvSpPr>
          <p:cNvPr id="22" name="Text 18"/>
          <p:cNvSpPr/>
          <p:nvPr/>
        </p:nvSpPr>
        <p:spPr>
          <a:xfrm>
            <a:off x="3524250" y="7340352"/>
            <a:ext cx="893490" cy="176212"/>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37B66"/>
                </a:solidFill>
                <a:latin typeface="Courier New" pitchFamily="34" charset="0"/>
                <a:ea typeface="Courier New" pitchFamily="34" charset="-122"/>
                <a:cs typeface="Courier New" pitchFamily="34" charset="-120"/>
              </a:rPr>
              <a:t>SAGAS TOLD</a:t>
            </a:r>
            <a:endParaRPr lang="en-US" sz="825" dirty="0"/>
          </a:p>
        </p:txBody>
      </p:sp>
      <p:sp>
        <p:nvSpPr>
          <p:cNvPr id="23" name="Text 19"/>
          <p:cNvSpPr/>
          <p:nvPr/>
        </p:nvSpPr>
        <p:spPr>
          <a:xfrm>
            <a:off x="4722540" y="6954589"/>
            <a:ext cx="975196"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ECE6D6"/>
                </a:solidFill>
                <a:latin typeface="Georgia" pitchFamily="34" charset="0"/>
                <a:ea typeface="Georgia" pitchFamily="34" charset="-122"/>
                <a:cs typeface="Georgia" pitchFamily="34" charset="-120"/>
              </a:rPr>
              <a:t>312</a:t>
            </a:r>
            <a:endParaRPr lang="en-US" sz="2550" dirty="0"/>
          </a:p>
        </p:txBody>
      </p:sp>
      <p:sp>
        <p:nvSpPr>
          <p:cNvPr id="24" name="Text 20"/>
          <p:cNvSpPr/>
          <p:nvPr/>
        </p:nvSpPr>
        <p:spPr>
          <a:xfrm>
            <a:off x="4722540" y="7340352"/>
            <a:ext cx="975196" cy="176212"/>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37B66"/>
                </a:solidFill>
                <a:latin typeface="Courier New" pitchFamily="34" charset="0"/>
                <a:ea typeface="Courier New" pitchFamily="34" charset="-122"/>
                <a:cs typeface="Courier New" pitchFamily="34" charset="-120"/>
              </a:rPr>
              <a:t>OATHS SWORN</a:t>
            </a:r>
            <a:endParaRPr lang="en-US" sz="825" dirty="0"/>
          </a:p>
        </p:txBody>
      </p:sp>
      <p:sp>
        <p:nvSpPr>
          <p:cNvPr id="25" name="Text 21"/>
          <p:cNvSpPr/>
          <p:nvPr/>
        </p:nvSpPr>
        <p:spPr>
          <a:xfrm>
            <a:off x="6002536" y="6954589"/>
            <a:ext cx="1543057"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ECE6D6"/>
                </a:solidFill>
                <a:latin typeface="Georgia" pitchFamily="34" charset="0"/>
                <a:ea typeface="Georgia" pitchFamily="34" charset="-122"/>
                <a:cs typeface="Georgia" pitchFamily="34" charset="-120"/>
              </a:rPr>
              <a:t>MMXXVI</a:t>
            </a:r>
            <a:endParaRPr lang="en-US" sz="2550" dirty="0"/>
          </a:p>
        </p:txBody>
      </p:sp>
      <p:sp>
        <p:nvSpPr>
          <p:cNvPr id="26" name="Text 22"/>
          <p:cNvSpPr/>
          <p:nvPr/>
        </p:nvSpPr>
        <p:spPr>
          <a:xfrm>
            <a:off x="6002536" y="7340352"/>
            <a:ext cx="1543057" cy="176212"/>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37B66"/>
                </a:solidFill>
                <a:latin typeface="Courier New" pitchFamily="34" charset="0"/>
                <a:ea typeface="Courier New" pitchFamily="34" charset="-122"/>
                <a:cs typeface="Courier New" pitchFamily="34" charset="-120"/>
              </a:rPr>
              <a:t>COHORT</a:t>
            </a:r>
            <a:endParaRPr lang="en-US" sz="825" dirty="0"/>
          </a:p>
        </p:txBody>
      </p:sp>
      <p:sp>
        <p:nvSpPr>
          <p:cNvPr id="27" name="Text 23"/>
          <p:cNvSpPr/>
          <p:nvPr/>
        </p:nvSpPr>
        <p:spPr>
          <a:xfrm>
            <a:off x="3524250" y="9164389"/>
            <a:ext cx="123634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DB4A3F"/>
                </a:solidFill>
                <a:latin typeface="Courier New" pitchFamily="34" charset="0"/>
                <a:ea typeface="Courier New" pitchFamily="34" charset="-122"/>
                <a:cs typeface="Courier New" pitchFamily="34" charset="-120"/>
              </a:rPr>
              <a:t>WHAT THE KEEP IS</a:t>
            </a:r>
            <a:endParaRPr lang="en-US" sz="900" dirty="0"/>
          </a:p>
        </p:txBody>
      </p:sp>
      <p:sp>
        <p:nvSpPr>
          <p:cNvPr id="28" name="Shape 24"/>
          <p:cNvSpPr/>
          <p:nvPr/>
        </p:nvSpPr>
        <p:spPr>
          <a:xfrm>
            <a:off x="3524250" y="9445377"/>
            <a:ext cx="3606775" cy="1947863"/>
          </a:xfrm>
          <a:prstGeom prst="roundRect">
            <a:avLst>
              <a:gd name="adj" fmla="val 2445"/>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29" name="Shape 25"/>
          <p:cNvSpPr/>
          <p:nvPr/>
        </p:nvSpPr>
        <p:spPr>
          <a:xfrm>
            <a:off x="3533775" y="9454902"/>
            <a:ext cx="28575" cy="1928813"/>
          </a:xfrm>
          <a:prstGeom prst="rect">
            <a:avLst/>
          </a:prstGeom>
          <a:solidFill>
            <a:srgbClr val="9B1C1C"/>
          </a:solidFill>
          <a:ln/>
        </p:spPr>
      </p:sp>
      <p:pic>
        <p:nvPicPr>
          <p:cNvPr id="3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62375" y="9683502"/>
            <a:ext cx="247650" cy="247650"/>
          </a:xfrm>
          <a:prstGeom prst="rect">
            <a:avLst/>
          </a:prstGeom>
        </p:spPr>
      </p:pic>
      <p:sp>
        <p:nvSpPr>
          <p:cNvPr id="31" name="Text 26"/>
          <p:cNvSpPr/>
          <p:nvPr/>
        </p:nvSpPr>
        <p:spPr>
          <a:xfrm>
            <a:off x="3762375" y="10154989"/>
            <a:ext cx="3443578"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ECE6D6"/>
                </a:solidFill>
                <a:latin typeface="Georgia" pitchFamily="34" charset="0"/>
                <a:ea typeface="Georgia" pitchFamily="34" charset="-122"/>
                <a:cs typeface="Georgia" pitchFamily="34" charset="-120"/>
              </a:rPr>
              <a:t>The Crossing</a:t>
            </a:r>
            <a:endParaRPr lang="en-US" sz="1650" dirty="0"/>
          </a:p>
        </p:txBody>
      </p:sp>
      <p:sp>
        <p:nvSpPr>
          <p:cNvPr id="32" name="Text 27"/>
          <p:cNvSpPr/>
          <p:nvPr/>
        </p:nvSpPr>
        <p:spPr>
          <a:xfrm>
            <a:off x="3762375" y="10469314"/>
            <a:ext cx="3224441" cy="723900"/>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C5BDA6"/>
                </a:solidFill>
                <a:latin typeface="Georgia" pitchFamily="34" charset="0"/>
                <a:ea typeface="Georgia" pitchFamily="34" charset="-122"/>
                <a:cs typeface="Georgia" pitchFamily="34" charset="-120"/>
              </a:rPr>
              <a:t>New players arrive by sea and are assessed at the threshold. No background is refused — only tested.</a:t>
            </a:r>
            <a:endParaRPr lang="en-US" sz="1125" dirty="0"/>
          </a:p>
        </p:txBody>
      </p:sp>
      <p:sp>
        <p:nvSpPr>
          <p:cNvPr id="33" name="Shape 28"/>
          <p:cNvSpPr/>
          <p:nvPr/>
        </p:nvSpPr>
        <p:spPr>
          <a:xfrm>
            <a:off x="7340575" y="9445377"/>
            <a:ext cx="3606775" cy="1947863"/>
          </a:xfrm>
          <a:prstGeom prst="roundRect">
            <a:avLst>
              <a:gd name="adj" fmla="val 2445"/>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34" name="Shape 29"/>
          <p:cNvSpPr/>
          <p:nvPr/>
        </p:nvSpPr>
        <p:spPr>
          <a:xfrm>
            <a:off x="7350100" y="9454902"/>
            <a:ext cx="28575" cy="1928813"/>
          </a:xfrm>
          <a:prstGeom prst="rect">
            <a:avLst/>
          </a:prstGeom>
          <a:solidFill>
            <a:srgbClr val="9B1C1C"/>
          </a:solidFill>
          <a:ln/>
        </p:spPr>
      </p:sp>
      <p:pic>
        <p:nvPicPr>
          <p:cNvPr id="3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78700" y="9683502"/>
            <a:ext cx="247650" cy="247650"/>
          </a:xfrm>
          <a:prstGeom prst="rect">
            <a:avLst/>
          </a:prstGeom>
        </p:spPr>
      </p:pic>
      <p:sp>
        <p:nvSpPr>
          <p:cNvPr id="36" name="Text 30"/>
          <p:cNvSpPr/>
          <p:nvPr/>
        </p:nvSpPr>
        <p:spPr>
          <a:xfrm>
            <a:off x="7578700" y="10154989"/>
            <a:ext cx="3443578"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ECE6D6"/>
                </a:solidFill>
                <a:latin typeface="Georgia" pitchFamily="34" charset="0"/>
                <a:ea typeface="Georgia" pitchFamily="34" charset="-122"/>
                <a:cs typeface="Georgia" pitchFamily="34" charset="-120"/>
              </a:rPr>
              <a:t>The Ledger</a:t>
            </a:r>
            <a:endParaRPr lang="en-US" sz="1650" dirty="0"/>
          </a:p>
        </p:txBody>
      </p:sp>
      <p:sp>
        <p:nvSpPr>
          <p:cNvPr id="37" name="Text 31"/>
          <p:cNvSpPr/>
          <p:nvPr/>
        </p:nvSpPr>
        <p:spPr>
          <a:xfrm>
            <a:off x="7578700" y="10469314"/>
            <a:ext cx="3224441" cy="723900"/>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C5BDA6"/>
                </a:solidFill>
                <a:latin typeface="Georgia" pitchFamily="34" charset="0"/>
                <a:ea typeface="Georgia" pitchFamily="34" charset="-122"/>
                <a:cs typeface="Georgia" pitchFamily="34" charset="-120"/>
              </a:rPr>
              <a:t>Every deed, wound and debt is recorded as a card. Your character is the sum of what the keep remembers.</a:t>
            </a:r>
            <a:endParaRPr lang="en-US" sz="1125" dirty="0"/>
          </a:p>
        </p:txBody>
      </p:sp>
      <p:sp>
        <p:nvSpPr>
          <p:cNvPr id="38" name="Shape 32"/>
          <p:cNvSpPr/>
          <p:nvPr/>
        </p:nvSpPr>
        <p:spPr>
          <a:xfrm>
            <a:off x="11156900" y="9445377"/>
            <a:ext cx="3606775" cy="1947863"/>
          </a:xfrm>
          <a:prstGeom prst="roundRect">
            <a:avLst>
              <a:gd name="adj" fmla="val 2445"/>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39" name="Shape 33"/>
          <p:cNvSpPr/>
          <p:nvPr/>
        </p:nvSpPr>
        <p:spPr>
          <a:xfrm>
            <a:off x="11166425" y="9454902"/>
            <a:ext cx="28575" cy="1928813"/>
          </a:xfrm>
          <a:prstGeom prst="rect">
            <a:avLst/>
          </a:prstGeom>
          <a:solidFill>
            <a:srgbClr val="9B1C1C"/>
          </a:solidFill>
          <a:ln/>
        </p:spPr>
      </p:sp>
      <p:pic>
        <p:nvPicPr>
          <p:cNvPr id="4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395025" y="9683502"/>
            <a:ext cx="247650" cy="247650"/>
          </a:xfrm>
          <a:prstGeom prst="rect">
            <a:avLst/>
          </a:prstGeom>
        </p:spPr>
      </p:pic>
      <p:sp>
        <p:nvSpPr>
          <p:cNvPr id="41" name="Text 34"/>
          <p:cNvSpPr/>
          <p:nvPr/>
        </p:nvSpPr>
        <p:spPr>
          <a:xfrm>
            <a:off x="11395025" y="10154989"/>
            <a:ext cx="3443578"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ECE6D6"/>
                </a:solidFill>
                <a:latin typeface="Georgia" pitchFamily="34" charset="0"/>
                <a:ea typeface="Georgia" pitchFamily="34" charset="-122"/>
                <a:cs typeface="Georgia" pitchFamily="34" charset="-120"/>
              </a:rPr>
              <a:t>The Order</a:t>
            </a:r>
            <a:endParaRPr lang="en-US" sz="1650" dirty="0"/>
          </a:p>
        </p:txBody>
      </p:sp>
      <p:sp>
        <p:nvSpPr>
          <p:cNvPr id="42" name="Text 35"/>
          <p:cNvSpPr/>
          <p:nvPr/>
        </p:nvSpPr>
        <p:spPr>
          <a:xfrm>
            <a:off x="11395025" y="10469314"/>
            <a:ext cx="3224441" cy="723900"/>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C5BDA6"/>
                </a:solidFill>
                <a:latin typeface="Georgia" pitchFamily="34" charset="0"/>
                <a:ea typeface="Georgia" pitchFamily="34" charset="-122"/>
                <a:cs typeface="Georgia" pitchFamily="34" charset="-120"/>
              </a:rPr>
              <a:t>Masters keep the rite. They manage cohorts, author lore, and read the chronicle of the whole saga.</a:t>
            </a:r>
            <a:endParaRPr lang="en-US" sz="1125" dirty="0"/>
          </a:p>
        </p:txBody>
      </p:sp>
      <p:sp>
        <p:nvSpPr>
          <p:cNvPr id="43" name="Text 36"/>
          <p:cNvSpPr/>
          <p:nvPr/>
        </p:nvSpPr>
        <p:spPr>
          <a:xfrm>
            <a:off x="3524250" y="12155239"/>
            <a:ext cx="621258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DB4A3F"/>
                </a:solidFill>
                <a:latin typeface="Courier New" pitchFamily="34" charset="0"/>
                <a:ea typeface="Courier New" pitchFamily="34" charset="-122"/>
                <a:cs typeface="Courier New" pitchFamily="34" charset="-120"/>
              </a:rPr>
              <a:t>THE TWO SIDES</a:t>
            </a:r>
            <a:endParaRPr lang="en-US" sz="900" dirty="0"/>
          </a:p>
        </p:txBody>
      </p:sp>
      <p:sp>
        <p:nvSpPr>
          <p:cNvPr id="44" name="Text 37"/>
          <p:cNvSpPr/>
          <p:nvPr/>
        </p:nvSpPr>
        <p:spPr>
          <a:xfrm>
            <a:off x="3524250" y="12436227"/>
            <a:ext cx="6212585"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ECE6D6"/>
                </a:solidFill>
                <a:latin typeface="Georgia" pitchFamily="34" charset="0"/>
                <a:ea typeface="Georgia" pitchFamily="34" charset="-122"/>
                <a:cs typeface="Georgia" pitchFamily="34" charset="-120"/>
              </a:rPr>
              <a:t>One keep. Two ways to play.</a:t>
            </a:r>
            <a:endParaRPr lang="en-US" sz="3000" dirty="0"/>
          </a:p>
        </p:txBody>
      </p:sp>
      <p:sp>
        <p:nvSpPr>
          <p:cNvPr id="45" name="Text 38"/>
          <p:cNvSpPr/>
          <p:nvPr/>
        </p:nvSpPr>
        <p:spPr>
          <a:xfrm>
            <a:off x="3524250" y="13026777"/>
            <a:ext cx="3836003" cy="839539"/>
          </a:xfrm>
          <a:prstGeom prst="rect">
            <a:avLst/>
          </a:prstGeom>
          <a:noFill/>
          <a:ln/>
        </p:spPr>
        <p:txBody>
          <a:bodyPr wrap="square" lIns="25400" tIns="25400" rIns="25400" bIns="25400" rtlCol="0" anchor="t">
            <a:normAutofit/>
          </a:bodyPr>
          <a:lstStyle/>
          <a:p>
            <a:pPr algn="l" indent="0" marL="0">
              <a:lnSpc>
                <a:spcPct val="165000"/>
              </a:lnSpc>
              <a:buNone/>
            </a:pPr>
            <a:r>
              <a:rPr lang="en-US" sz="1275" dirty="0">
                <a:solidFill>
                  <a:srgbClr val="C5BDA6"/>
                </a:solidFill>
                <a:latin typeface="Georgia" pitchFamily="34" charset="0"/>
                <a:ea typeface="Georgia" pitchFamily="34" charset="-122"/>
                <a:cs typeface="Georgia" pitchFamily="34" charset="-120"/>
              </a:rPr>
              <a:t>Cross the hall to the field for live events, or to the table for the chronicle in miniature — dice, sessions, and the long saga of your house.</a:t>
            </a:r>
            <a:endParaRPr lang="en-US" sz="1275" dirty="0"/>
          </a:p>
        </p:txBody>
      </p:sp>
      <p:sp>
        <p:nvSpPr>
          <p:cNvPr id="46" name="Shape 39"/>
          <p:cNvSpPr/>
          <p:nvPr/>
        </p:nvSpPr>
        <p:spPr>
          <a:xfrm>
            <a:off x="3524250" y="14056816"/>
            <a:ext cx="1398836" cy="361950"/>
          </a:xfrm>
          <a:prstGeom prst="roundRect">
            <a:avLst>
              <a:gd name="adj" fmla="val 7895"/>
            </a:avLst>
          </a:prstGeom>
          <a:solidFill>
            <a:srgbClr val="9B1C1C"/>
          </a:solidFill>
          <a:ln w="9525">
            <a:solidFill>
              <a:srgbClr val="9B1C1C"/>
            </a:solidFill>
            <a:prstDash val="solid"/>
          </a:ln>
          <a:effectLst>
            <a:outerShdw sx="100000" sy="100000" kx="0" ky="0" algn="bl" rotWithShape="0" blurRad="19050" dist="9525" dir="5400000">
              <a:srgbClr val="000000">
                <a:alpha val="35000"/>
              </a:srgbClr>
            </a:outerShdw>
          </a:effectLst>
        </p:spPr>
      </p:sp>
      <p:sp>
        <p:nvSpPr>
          <p:cNvPr id="47" name="Text 40"/>
          <p:cNvSpPr/>
          <p:nvPr/>
        </p:nvSpPr>
        <p:spPr>
          <a:xfrm>
            <a:off x="3667125" y="14161591"/>
            <a:ext cx="1113086"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F6F1E4"/>
                </a:solidFill>
                <a:latin typeface="Georgia" pitchFamily="34" charset="0"/>
                <a:ea typeface="Georgia" pitchFamily="34" charset="-122"/>
                <a:cs typeface="Georgia" pitchFamily="34" charset="-120"/>
              </a:rPr>
              <a:t>The LARP rite</a:t>
            </a:r>
            <a:endParaRPr lang="en-US" sz="1200" dirty="0"/>
          </a:p>
        </p:txBody>
      </p:sp>
      <p:sp>
        <p:nvSpPr>
          <p:cNvPr id="48" name="Text 41"/>
          <p:cNvSpPr/>
          <p:nvPr/>
        </p:nvSpPr>
        <p:spPr>
          <a:xfrm>
            <a:off x="5145662" y="14161591"/>
            <a:ext cx="1599374"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C5BDA6"/>
                </a:solidFill>
                <a:latin typeface="Georgia" pitchFamily="34" charset="0"/>
                <a:ea typeface="Georgia" pitchFamily="34" charset="-122"/>
                <a:cs typeface="Georgia" pitchFamily="34" charset="-120"/>
              </a:rPr>
              <a:t>The TTRPG table →</a:t>
            </a:r>
            <a:endParaRPr lang="en-US" sz="1200" dirty="0"/>
          </a:p>
        </p:txBody>
      </p:sp>
      <p:sp>
        <p:nvSpPr>
          <p:cNvPr id="49" name="Shape 42"/>
          <p:cNvSpPr/>
          <p:nvPr/>
        </p:nvSpPr>
        <p:spPr>
          <a:xfrm>
            <a:off x="9629254" y="12420228"/>
            <a:ext cx="5134496" cy="800100"/>
          </a:xfrm>
          <a:prstGeom prst="roundRect">
            <a:avLst>
              <a:gd name="adj" fmla="val 5952"/>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50" name="Shape 43"/>
          <p:cNvSpPr/>
          <p:nvPr/>
        </p:nvSpPr>
        <p:spPr>
          <a:xfrm>
            <a:off x="9810229" y="12601203"/>
            <a:ext cx="438150" cy="438150"/>
          </a:xfrm>
          <a:prstGeom prst="roundRect">
            <a:avLst>
              <a:gd name="adj" fmla="val 6522"/>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51" name="Text 44"/>
          <p:cNvSpPr/>
          <p:nvPr/>
        </p:nvSpPr>
        <p:spPr>
          <a:xfrm>
            <a:off x="9781654" y="12610728"/>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C5BDA6"/>
                </a:solidFill>
                <a:latin typeface="Georgia" pitchFamily="34" charset="0"/>
                <a:ea typeface="Georgia" pitchFamily="34" charset="-122"/>
                <a:cs typeface="Georgia" pitchFamily="34" charset="-120"/>
              </a:rPr>
              <a:t>LA</a:t>
            </a:r>
            <a:endParaRPr lang="en-US" sz="1350" dirty="0"/>
          </a:p>
        </p:txBody>
      </p:sp>
      <p:sp>
        <p:nvSpPr>
          <p:cNvPr id="52" name="Text 45"/>
          <p:cNvSpPr/>
          <p:nvPr/>
        </p:nvSpPr>
        <p:spPr>
          <a:xfrm>
            <a:off x="10381729" y="12620253"/>
            <a:ext cx="2676919"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ECE6D6"/>
                </a:solidFill>
                <a:latin typeface="Georgia" pitchFamily="34" charset="0"/>
                <a:ea typeface="Georgia" pitchFamily="34" charset="-122"/>
                <a:cs typeface="Georgia" pitchFamily="34" charset="-120"/>
              </a:rPr>
              <a:t>LARP — the field</a:t>
            </a:r>
            <a:endParaRPr lang="en-US" sz="1350" dirty="0"/>
          </a:p>
        </p:txBody>
      </p:sp>
      <p:sp>
        <p:nvSpPr>
          <p:cNvPr id="53" name="Text 46"/>
          <p:cNvSpPr/>
          <p:nvPr/>
        </p:nvSpPr>
        <p:spPr>
          <a:xfrm>
            <a:off x="10381729" y="12815515"/>
            <a:ext cx="2676919" cy="242888"/>
          </a:xfrm>
          <a:prstGeom prst="rect">
            <a:avLst/>
          </a:prstGeom>
          <a:noFill/>
          <a:ln/>
        </p:spPr>
        <p:txBody>
          <a:bodyPr wrap="square" lIns="25400" tIns="25400" rIns="25400" bIns="25400" rtlCol="0" anchor="t">
            <a:normAutofit/>
          </a:bodyPr>
          <a:lstStyle/>
          <a:p>
            <a:pPr algn="l" indent="0" marL="0">
              <a:buNone/>
            </a:pPr>
            <a:r>
              <a:rPr lang="en-US" sz="1050" dirty="0">
                <a:solidFill>
                  <a:srgbClr val="837B66"/>
                </a:solidFill>
                <a:latin typeface="Georgia" pitchFamily="34" charset="0"/>
                <a:ea typeface="Georgia" pitchFamily="34" charset="-122"/>
                <a:cs typeface="Georgia" pitchFamily="34" charset="-120"/>
              </a:rPr>
              <a:t>Live events, assessments, house standing.</a:t>
            </a:r>
            <a:endParaRPr lang="en-US" sz="1050" dirty="0"/>
          </a:p>
        </p:txBody>
      </p:sp>
      <p:sp>
        <p:nvSpPr>
          <p:cNvPr id="54" name="Shape 47"/>
          <p:cNvSpPr/>
          <p:nvPr/>
        </p:nvSpPr>
        <p:spPr>
          <a:xfrm>
            <a:off x="9629254" y="13353678"/>
            <a:ext cx="5134496" cy="800100"/>
          </a:xfrm>
          <a:prstGeom prst="roundRect">
            <a:avLst>
              <a:gd name="adj" fmla="val 5952"/>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55" name="Shape 48"/>
          <p:cNvSpPr/>
          <p:nvPr/>
        </p:nvSpPr>
        <p:spPr>
          <a:xfrm>
            <a:off x="9810229" y="13534653"/>
            <a:ext cx="438150" cy="438150"/>
          </a:xfrm>
          <a:prstGeom prst="roundRect">
            <a:avLst>
              <a:gd name="adj" fmla="val 6522"/>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56" name="Text 49"/>
          <p:cNvSpPr/>
          <p:nvPr/>
        </p:nvSpPr>
        <p:spPr>
          <a:xfrm>
            <a:off x="9781654" y="13544178"/>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C5BDA6"/>
                </a:solidFill>
                <a:latin typeface="Georgia" pitchFamily="34" charset="0"/>
                <a:ea typeface="Georgia" pitchFamily="34" charset="-122"/>
                <a:cs typeface="Georgia" pitchFamily="34" charset="-120"/>
              </a:rPr>
              <a:t>TT</a:t>
            </a:r>
            <a:endParaRPr lang="en-US" sz="1350" dirty="0"/>
          </a:p>
        </p:txBody>
      </p:sp>
      <p:sp>
        <p:nvSpPr>
          <p:cNvPr id="57" name="Text 50"/>
          <p:cNvSpPr/>
          <p:nvPr/>
        </p:nvSpPr>
        <p:spPr>
          <a:xfrm>
            <a:off x="10381729" y="13553703"/>
            <a:ext cx="2381585"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ECE6D6"/>
                </a:solidFill>
                <a:latin typeface="Georgia" pitchFamily="34" charset="0"/>
                <a:ea typeface="Georgia" pitchFamily="34" charset="-122"/>
                <a:cs typeface="Georgia" pitchFamily="34" charset="-120"/>
              </a:rPr>
              <a:t>TTRPG — the table</a:t>
            </a:r>
            <a:endParaRPr lang="en-US" sz="1350" dirty="0"/>
          </a:p>
        </p:txBody>
      </p:sp>
      <p:sp>
        <p:nvSpPr>
          <p:cNvPr id="58" name="Text 51"/>
          <p:cNvSpPr/>
          <p:nvPr/>
        </p:nvSpPr>
        <p:spPr>
          <a:xfrm>
            <a:off x="10381729" y="13748965"/>
            <a:ext cx="2381585" cy="242888"/>
          </a:xfrm>
          <a:prstGeom prst="rect">
            <a:avLst/>
          </a:prstGeom>
          <a:noFill/>
          <a:ln/>
        </p:spPr>
        <p:txBody>
          <a:bodyPr wrap="square" lIns="25400" tIns="25400" rIns="25400" bIns="25400" rtlCol="0" anchor="t">
            <a:normAutofit/>
          </a:bodyPr>
          <a:lstStyle/>
          <a:p>
            <a:pPr algn="l" indent="0" marL="0">
              <a:buNone/>
            </a:pPr>
            <a:r>
              <a:rPr lang="en-US" sz="1050" dirty="0">
                <a:solidFill>
                  <a:srgbClr val="837B66"/>
                </a:solidFill>
                <a:latin typeface="Georgia" pitchFamily="34" charset="0"/>
                <a:ea typeface="Georgia" pitchFamily="34" charset="-122"/>
                <a:cs typeface="Georgia" pitchFamily="34" charset="-120"/>
              </a:rPr>
              <a:t>Dice, sessions, graphs, the chronicle.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5892939"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LARP · PUBLIC SITE</a:t>
            </a:r>
            <a:endParaRPr lang="en-US" sz="1275" dirty="0"/>
          </a:p>
        </p:txBody>
      </p:sp>
      <p:sp>
        <p:nvSpPr>
          <p:cNvPr id="4" name="Text 2"/>
          <p:cNvSpPr/>
          <p:nvPr/>
        </p:nvSpPr>
        <p:spPr>
          <a:xfrm>
            <a:off x="533400" y="766763"/>
            <a:ext cx="5892939"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The Keep — Landing (Light)</a:t>
            </a:r>
            <a:endParaRPr lang="en-US" sz="3450" dirty="0"/>
          </a:p>
        </p:txBody>
      </p:sp>
      <p:sp>
        <p:nvSpPr>
          <p:cNvPr id="5" name="Shape 3"/>
          <p:cNvSpPr/>
          <p:nvPr/>
        </p:nvSpPr>
        <p:spPr>
          <a:xfrm>
            <a:off x="15966728" y="438150"/>
            <a:ext cx="1787872" cy="381000"/>
          </a:xfrm>
          <a:prstGeom prst="roundRect">
            <a:avLst>
              <a:gd name="adj" fmla="val 50000"/>
            </a:avLst>
          </a:prstGeom>
          <a:solidFill>
            <a:srgbClr val="F2ECDC"/>
          </a:solidFill>
          <a:ln w="9525">
            <a:solidFill>
              <a:srgbClr val="C2B79C"/>
            </a:solidFill>
            <a:prstDash val="solid"/>
          </a:ln>
        </p:spPr>
      </p:sp>
      <p:sp>
        <p:nvSpPr>
          <p:cNvPr id="6" name="Shape 4"/>
          <p:cNvSpPr/>
          <p:nvPr/>
        </p:nvSpPr>
        <p:spPr>
          <a:xfrm>
            <a:off x="16081028" y="533400"/>
            <a:ext cx="190500" cy="190500"/>
          </a:xfrm>
          <a:prstGeom prst="ellipse">
            <a:avLst/>
          </a:prstGeom>
          <a:solidFill>
            <a:srgbClr val="E7DFCC"/>
          </a:solidFill>
          <a:ln w="9525">
            <a:solidFill>
              <a:srgbClr val="FFFFFF">
                <a:alpha val="18000"/>
              </a:srgbClr>
            </a:solidFill>
            <a:prstDash val="solid"/>
          </a:ln>
        </p:spPr>
      </p:sp>
      <p:sp>
        <p:nvSpPr>
          <p:cNvPr id="7" name="Text 5"/>
          <p:cNvSpPr/>
          <p:nvPr/>
        </p:nvSpPr>
        <p:spPr>
          <a:xfrm>
            <a:off x="16366778" y="533400"/>
            <a:ext cx="1302097" cy="228600"/>
          </a:xfrm>
          <a:prstGeom prst="rect">
            <a:avLst/>
          </a:prstGeom>
          <a:noFill/>
          <a:ln/>
        </p:spPr>
        <p:txBody>
          <a:bodyPr wrap="none" lIns="0" tIns="0" rIns="0" bIns="0" rtlCol="0" anchor="t">
            <a:normAutofit/>
          </a:bodyPr>
          <a:lstStyle/>
          <a:p>
            <a:pPr algn="l" indent="0" marL="0">
              <a:buNone/>
            </a:pPr>
            <a:r>
              <a:rPr lang="en-US" sz="1125" spc="68" kern="0" dirty="0">
                <a:solidFill>
                  <a:srgbClr val="423A2C"/>
                </a:solidFill>
                <a:latin typeface="Courier New" pitchFamily="34" charset="0"/>
                <a:ea typeface="Courier New" pitchFamily="34" charset="-122"/>
                <a:cs typeface="Courier New" pitchFamily="34" charset="-120"/>
              </a:rPr>
              <a:t>Light · light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E7DFCC"/>
          </a:solidFill>
          <a:ln/>
        </p:spPr>
      </p:sp>
      <p:sp>
        <p:nvSpPr>
          <p:cNvPr id="10" name="Shape 8"/>
          <p:cNvSpPr/>
          <p:nvPr/>
        </p:nvSpPr>
        <p:spPr>
          <a:xfrm>
            <a:off x="542925" y="1462088"/>
            <a:ext cx="17202150" cy="6940302"/>
          </a:xfrm>
          <a:prstGeom prst="rect">
            <a:avLst/>
          </a:prstGeom>
          <a:gradFill rotWithShape="1">
            <a:gsLst>
              <a:gs pos="0">
                <a:srgbClr val="FFFFFF">
                  <a:alpha val="2000"/>
                </a:srgbClr>
              </a:gs>
              <a:gs pos="100000">
                <a:srgbClr val="FFFFFF">
                  <a:alpha val="0"/>
                </a:srgbClr>
              </a:gs>
            </a:gsLst>
            <a:lin ang="5400000" scaled="0"/>
          </a:gradFill>
          <a:ln/>
        </p:spPr>
      </p:sp>
      <p:sp>
        <p:nvSpPr>
          <p:cNvPr id="11" name="Shape 9"/>
          <p:cNvSpPr/>
          <p:nvPr/>
        </p:nvSpPr>
        <p:spPr>
          <a:xfrm>
            <a:off x="542925" y="8392864"/>
            <a:ext cx="17202150" cy="9525"/>
          </a:xfrm>
          <a:prstGeom prst="rect">
            <a:avLst/>
          </a:prstGeom>
          <a:solidFill>
            <a:srgbClr val="D2C8B0"/>
          </a:solidFill>
          <a:ln/>
        </p:spPr>
      </p:sp>
      <p:sp>
        <p:nvSpPr>
          <p:cNvPr id="12" name="Text 10"/>
          <p:cNvSpPr/>
          <p:nvPr/>
        </p:nvSpPr>
        <p:spPr>
          <a:xfrm>
            <a:off x="3524250" y="2509838"/>
            <a:ext cx="12363450" cy="319088"/>
          </a:xfrm>
          <a:prstGeom prst="rect">
            <a:avLst/>
          </a:prstGeom>
          <a:noFill/>
          <a:ln/>
        </p:spPr>
        <p:txBody>
          <a:bodyPr wrap="square" lIns="25400" tIns="25400" rIns="25400" bIns="25400" rtlCol="0" anchor="t">
            <a:normAutofit/>
          </a:bodyPr>
          <a:lstStyle/>
          <a:p>
            <a:pPr algn="l" indent="0" marL="0">
              <a:buNone/>
            </a:pPr>
            <a:r>
              <a:rPr lang="en-US" sz="1650" spc="495" kern="0" dirty="0">
                <a:solidFill>
                  <a:srgbClr val="7C1418"/>
                </a:solidFill>
                <a:latin typeface="Georgia" pitchFamily="34" charset="0"/>
                <a:ea typeface="Georgia" pitchFamily="34" charset="-122"/>
                <a:cs typeface="Georgia" pitchFamily="34" charset="-120"/>
              </a:rPr>
              <a:t>ᛏ ᛁ ᛜ</a:t>
            </a:r>
            <a:endParaRPr lang="en-US" sz="1650" dirty="0"/>
          </a:p>
        </p:txBody>
      </p:sp>
      <p:sp>
        <p:nvSpPr>
          <p:cNvPr id="13" name="Text 11"/>
          <p:cNvSpPr/>
          <p:nvPr/>
        </p:nvSpPr>
        <p:spPr>
          <a:xfrm>
            <a:off x="3524250" y="3000375"/>
            <a:ext cx="5887600" cy="1178868"/>
          </a:xfrm>
          <a:prstGeom prst="rect">
            <a:avLst/>
          </a:prstGeom>
          <a:noFill/>
          <a:ln/>
        </p:spPr>
        <p:txBody>
          <a:bodyPr wrap="square" lIns="25400" tIns="25400" rIns="25400" bIns="25400" rtlCol="0" anchor="t">
            <a:normAutofit/>
          </a:bodyPr>
          <a:lstStyle/>
          <a:p>
            <a:pPr algn="l" indent="0" marL="0">
              <a:lnSpc>
                <a:spcPct val="98000"/>
              </a:lnSpc>
              <a:buNone/>
            </a:pPr>
            <a:r>
              <a:rPr lang="en-US" sz="4583" b="1" spc="-46" kern="0" dirty="0">
                <a:solidFill>
                  <a:srgbClr val="1C1812"/>
                </a:solidFill>
                <a:latin typeface="Georgia" pitchFamily="34" charset="0"/>
                <a:ea typeface="Georgia" pitchFamily="34" charset="-122"/>
                <a:cs typeface="Georgia" pitchFamily="34" charset="-120"/>
              </a:rPr>
              <a:t>Enrolment is</a:t>
            </a:r>
            <a:pPr algn="l" indent="0" marL="0">
              <a:lnSpc>
                <a:spcPct val="98000"/>
              </a:lnSpc>
              <a:buNone/>
            </a:pPr>
            <a:r>
              <a:rPr lang="en-US" sz="4583" b="1" spc="-46" kern="0" dirty="0">
                <a:solidFill>
                  <a:srgbClr val="7C1418"/>
                </a:solidFill>
                <a:latin typeface="Georgia" pitchFamily="34" charset="0"/>
                <a:ea typeface="Georgia" pitchFamily="34" charset="-122"/>
                <a:cs typeface="Georgia" pitchFamily="34" charset="-120"/>
              </a:rPr>
              <a:t>survived </a:t>
            </a:r>
            <a:pPr algn="l" indent="0" marL="0">
              <a:lnSpc>
                <a:spcPct val="98000"/>
              </a:lnSpc>
              <a:buNone/>
            </a:pPr>
            <a:r>
              <a:rPr lang="en-US" sz="4583" b="1" spc="-46" kern="0" dirty="0">
                <a:solidFill>
                  <a:srgbClr val="1C1812"/>
                </a:solidFill>
                <a:latin typeface="Georgia" pitchFamily="34" charset="0"/>
                <a:ea typeface="Georgia" pitchFamily="34" charset="-122"/>
                <a:cs typeface="Georgia" pitchFamily="34" charset="-120"/>
              </a:rPr>
              <a:t>, not granted.</a:t>
            </a:r>
            <a:endParaRPr lang="en-US" sz="4583" dirty="0"/>
          </a:p>
        </p:txBody>
      </p:sp>
      <p:sp>
        <p:nvSpPr>
          <p:cNvPr id="14" name="Text 12"/>
          <p:cNvSpPr/>
          <p:nvPr/>
        </p:nvSpPr>
        <p:spPr>
          <a:xfrm>
            <a:off x="3524250" y="4407843"/>
            <a:ext cx="5032915" cy="1232297"/>
          </a:xfrm>
          <a:prstGeom prst="rect">
            <a:avLst/>
          </a:prstGeom>
          <a:noFill/>
          <a:ln/>
        </p:spPr>
        <p:txBody>
          <a:bodyPr wrap="square" lIns="25400" tIns="25400" rIns="25400" bIns="25400" rtlCol="0" anchor="t">
            <a:normAutofit/>
          </a:bodyPr>
          <a:lstStyle/>
          <a:p>
            <a:pPr algn="l" indent="0" marL="0">
              <a:lnSpc>
                <a:spcPct val="165000"/>
              </a:lnSpc>
              <a:buNone/>
            </a:pPr>
            <a:r>
              <a:rPr lang="en-US" sz="1425" dirty="0">
                <a:solidFill>
                  <a:srgbClr val="423A2C"/>
                </a:solidFill>
                <a:latin typeface="Georgia" pitchFamily="34" charset="0"/>
                <a:ea typeface="Georgia" pitchFamily="34" charset="-122"/>
                <a:cs typeface="Georgia" pitchFamily="34" charset="-120"/>
              </a:rPr>
              <a:t>A live-action saga set in the northern keep of Durmstrang. You arrive by sea, alone, bearing nothing but a name — and from that hour the school keeps a ledger of every oath you swear.</a:t>
            </a:r>
            <a:endParaRPr lang="en-US" sz="1425" dirty="0"/>
          </a:p>
        </p:txBody>
      </p:sp>
      <p:sp>
        <p:nvSpPr>
          <p:cNvPr id="15" name="Shape 13"/>
          <p:cNvSpPr/>
          <p:nvPr/>
        </p:nvSpPr>
        <p:spPr>
          <a:xfrm>
            <a:off x="3524250" y="5963989"/>
            <a:ext cx="2322686" cy="457200"/>
          </a:xfrm>
          <a:prstGeom prst="roundRect">
            <a:avLst>
              <a:gd name="adj" fmla="val 6250"/>
            </a:avLst>
          </a:prstGeom>
          <a:solidFill>
            <a:srgbClr val="7C1418"/>
          </a:solidFill>
          <a:ln w="9525">
            <a:solidFill>
              <a:srgbClr val="7C1418"/>
            </a:solidFill>
            <a:prstDash val="solid"/>
          </a:ln>
          <a:effectLst>
            <a:outerShdw sx="100000" sy="100000" kx="0" ky="0" algn="bl" rotWithShape="0" blurRad="19050" dist="9525" dir="5400000">
              <a:srgbClr val="000000">
                <a:alpha val="35000"/>
              </a:srgbClr>
            </a:outerShdw>
          </a:effectLst>
        </p:spPr>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81425" y="6106864"/>
            <a:ext cx="171450" cy="171450"/>
          </a:xfrm>
          <a:prstGeom prst="rect">
            <a:avLst/>
          </a:prstGeom>
        </p:spPr>
      </p:pic>
      <p:sp>
        <p:nvSpPr>
          <p:cNvPr id="17" name="Text 14"/>
          <p:cNvSpPr/>
          <p:nvPr/>
        </p:nvSpPr>
        <p:spPr>
          <a:xfrm>
            <a:off x="3971043" y="6106864"/>
            <a:ext cx="1695800" cy="209550"/>
          </a:xfrm>
          <a:prstGeom prst="rect">
            <a:avLst/>
          </a:prstGeom>
          <a:noFill/>
          <a:ln/>
        </p:spPr>
        <p:txBody>
          <a:bodyPr wrap="square" lIns="25400" tIns="25400" rIns="25400" bIns="25400" rtlCol="0" anchor="t">
            <a:normAutofit/>
          </a:bodyPr>
          <a:lstStyle/>
          <a:p>
            <a:pPr algn="ctr" indent="0" marL="0">
              <a:lnSpc>
                <a:spcPct val="100000"/>
              </a:lnSpc>
              <a:buNone/>
            </a:pPr>
            <a:r>
              <a:rPr lang="en-US" sz="1350" b="1" spc="54" kern="0" dirty="0">
                <a:solidFill>
                  <a:srgbClr val="F6F1E4"/>
                </a:solidFill>
                <a:latin typeface="Georgia" pitchFamily="34" charset="0"/>
                <a:ea typeface="Georgia" pitchFamily="34" charset="-122"/>
                <a:cs typeface="Georgia" pitchFamily="34" charset="-120"/>
              </a:rPr>
              <a:t>Begin the Crossing</a:t>
            </a:r>
            <a:endParaRPr lang="en-US" sz="1350" dirty="0"/>
          </a:p>
        </p:txBody>
      </p:sp>
      <p:sp>
        <p:nvSpPr>
          <p:cNvPr id="18" name="Shape 15"/>
          <p:cNvSpPr/>
          <p:nvPr/>
        </p:nvSpPr>
        <p:spPr>
          <a:xfrm>
            <a:off x="5980286" y="5963989"/>
            <a:ext cx="1895401" cy="457200"/>
          </a:xfrm>
          <a:prstGeom prst="roundRect">
            <a:avLst>
              <a:gd name="adj" fmla="val 6250"/>
            </a:avLst>
          </a:prstGeom>
          <a:solidFill>
            <a:srgbClr val="F8F3E6"/>
          </a:solidFill>
          <a:ln w="9525">
            <a:solidFill>
              <a:srgbClr val="A99C7E"/>
            </a:solidFill>
            <a:prstDash val="solid"/>
          </a:ln>
          <a:effectLst>
            <a:outerShdw sx="100000" sy="100000" kx="0" ky="0" algn="bl" rotWithShape="0" blurRad="19050" dist="9525" dir="5400000">
              <a:srgbClr val="000000">
                <a:alpha val="35000"/>
              </a:srgbClr>
            </a:outerShdw>
          </a:effectLst>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7461" y="6106864"/>
            <a:ext cx="171450" cy="171450"/>
          </a:xfrm>
          <a:prstGeom prst="rect">
            <a:avLst/>
          </a:prstGeom>
        </p:spPr>
      </p:pic>
      <p:sp>
        <p:nvSpPr>
          <p:cNvPr id="20" name="Text 16"/>
          <p:cNvSpPr/>
          <p:nvPr/>
        </p:nvSpPr>
        <p:spPr>
          <a:xfrm>
            <a:off x="6466061" y="6106864"/>
            <a:ext cx="1190551" cy="209550"/>
          </a:xfrm>
          <a:prstGeom prst="rect">
            <a:avLst/>
          </a:prstGeom>
          <a:noFill/>
          <a:ln/>
        </p:spPr>
        <p:txBody>
          <a:bodyPr wrap="square" lIns="25400" tIns="25400" rIns="25400" bIns="25400" rtlCol="0" anchor="t">
            <a:normAutofit/>
          </a:bodyPr>
          <a:lstStyle/>
          <a:p>
            <a:pPr algn="ctr" indent="0" marL="0">
              <a:lnSpc>
                <a:spcPct val="100000"/>
              </a:lnSpc>
              <a:buNone/>
            </a:pPr>
            <a:r>
              <a:rPr lang="en-US" sz="1350" b="1" spc="54" kern="0" dirty="0">
                <a:solidFill>
                  <a:srgbClr val="1C1812"/>
                </a:solidFill>
                <a:latin typeface="Georgia" pitchFamily="34" charset="0"/>
                <a:ea typeface="Georgia" pitchFamily="34" charset="-122"/>
                <a:cs typeface="Georgia" pitchFamily="34" charset="-120"/>
              </a:rPr>
              <a:t>Read the Rite</a:t>
            </a:r>
            <a:endParaRPr lang="en-US" sz="1350" dirty="0"/>
          </a:p>
        </p:txBody>
      </p:sp>
      <p:sp>
        <p:nvSpPr>
          <p:cNvPr id="21" name="Text 17"/>
          <p:cNvSpPr/>
          <p:nvPr/>
        </p:nvSpPr>
        <p:spPr>
          <a:xfrm>
            <a:off x="3524250" y="6954589"/>
            <a:ext cx="893490"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1C1812"/>
                </a:solidFill>
                <a:latin typeface="Georgia" pitchFamily="34" charset="0"/>
                <a:ea typeface="Georgia" pitchFamily="34" charset="-122"/>
                <a:cs typeface="Georgia" pitchFamily="34" charset="-120"/>
              </a:rPr>
              <a:t>IV</a:t>
            </a:r>
            <a:endParaRPr lang="en-US" sz="2550" dirty="0"/>
          </a:p>
        </p:txBody>
      </p:sp>
      <p:sp>
        <p:nvSpPr>
          <p:cNvPr id="22" name="Text 18"/>
          <p:cNvSpPr/>
          <p:nvPr/>
        </p:nvSpPr>
        <p:spPr>
          <a:xfrm>
            <a:off x="3524250" y="7340352"/>
            <a:ext cx="893490" cy="176212"/>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56B57"/>
                </a:solidFill>
                <a:latin typeface="Courier New" pitchFamily="34" charset="0"/>
                <a:ea typeface="Courier New" pitchFamily="34" charset="-122"/>
                <a:cs typeface="Courier New" pitchFamily="34" charset="-120"/>
              </a:rPr>
              <a:t>SAGAS TOLD</a:t>
            </a:r>
            <a:endParaRPr lang="en-US" sz="825" dirty="0"/>
          </a:p>
        </p:txBody>
      </p:sp>
      <p:sp>
        <p:nvSpPr>
          <p:cNvPr id="23" name="Text 19"/>
          <p:cNvSpPr/>
          <p:nvPr/>
        </p:nvSpPr>
        <p:spPr>
          <a:xfrm>
            <a:off x="4722540" y="6954589"/>
            <a:ext cx="975196"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1C1812"/>
                </a:solidFill>
                <a:latin typeface="Georgia" pitchFamily="34" charset="0"/>
                <a:ea typeface="Georgia" pitchFamily="34" charset="-122"/>
                <a:cs typeface="Georgia" pitchFamily="34" charset="-120"/>
              </a:rPr>
              <a:t>312</a:t>
            </a:r>
            <a:endParaRPr lang="en-US" sz="2550" dirty="0"/>
          </a:p>
        </p:txBody>
      </p:sp>
      <p:sp>
        <p:nvSpPr>
          <p:cNvPr id="24" name="Text 20"/>
          <p:cNvSpPr/>
          <p:nvPr/>
        </p:nvSpPr>
        <p:spPr>
          <a:xfrm>
            <a:off x="4722540" y="7340352"/>
            <a:ext cx="975196" cy="176212"/>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56B57"/>
                </a:solidFill>
                <a:latin typeface="Courier New" pitchFamily="34" charset="0"/>
                <a:ea typeface="Courier New" pitchFamily="34" charset="-122"/>
                <a:cs typeface="Courier New" pitchFamily="34" charset="-120"/>
              </a:rPr>
              <a:t>OATHS SWORN</a:t>
            </a:r>
            <a:endParaRPr lang="en-US" sz="825" dirty="0"/>
          </a:p>
        </p:txBody>
      </p:sp>
      <p:sp>
        <p:nvSpPr>
          <p:cNvPr id="25" name="Text 21"/>
          <p:cNvSpPr/>
          <p:nvPr/>
        </p:nvSpPr>
        <p:spPr>
          <a:xfrm>
            <a:off x="6002536" y="6954589"/>
            <a:ext cx="1543057" cy="404813"/>
          </a:xfrm>
          <a:prstGeom prst="rect">
            <a:avLst/>
          </a:prstGeom>
          <a:noFill/>
          <a:ln/>
        </p:spPr>
        <p:txBody>
          <a:bodyPr wrap="square" lIns="25400" tIns="25400" rIns="25400" bIns="25400" rtlCol="0" anchor="t">
            <a:normAutofit/>
          </a:bodyPr>
          <a:lstStyle/>
          <a:p>
            <a:pPr algn="l" indent="0" marL="0">
              <a:buNone/>
            </a:pPr>
            <a:r>
              <a:rPr lang="en-US" sz="2550" b="1" dirty="0">
                <a:solidFill>
                  <a:srgbClr val="1C1812"/>
                </a:solidFill>
                <a:latin typeface="Georgia" pitchFamily="34" charset="0"/>
                <a:ea typeface="Georgia" pitchFamily="34" charset="-122"/>
                <a:cs typeface="Georgia" pitchFamily="34" charset="-120"/>
              </a:rPr>
              <a:t>MMXXVI</a:t>
            </a:r>
            <a:endParaRPr lang="en-US" sz="2550" dirty="0"/>
          </a:p>
        </p:txBody>
      </p:sp>
      <p:sp>
        <p:nvSpPr>
          <p:cNvPr id="26" name="Text 22"/>
          <p:cNvSpPr/>
          <p:nvPr/>
        </p:nvSpPr>
        <p:spPr>
          <a:xfrm>
            <a:off x="6002536" y="7340352"/>
            <a:ext cx="1543057" cy="176212"/>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56B57"/>
                </a:solidFill>
                <a:latin typeface="Courier New" pitchFamily="34" charset="0"/>
                <a:ea typeface="Courier New" pitchFamily="34" charset="-122"/>
                <a:cs typeface="Courier New" pitchFamily="34" charset="-120"/>
              </a:rPr>
              <a:t>COHORT</a:t>
            </a:r>
            <a:endParaRPr lang="en-US" sz="825" dirty="0"/>
          </a:p>
        </p:txBody>
      </p:sp>
      <p:sp>
        <p:nvSpPr>
          <p:cNvPr id="27" name="Text 23"/>
          <p:cNvSpPr/>
          <p:nvPr/>
        </p:nvSpPr>
        <p:spPr>
          <a:xfrm>
            <a:off x="3524250" y="9164389"/>
            <a:ext cx="123634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7C1418"/>
                </a:solidFill>
                <a:latin typeface="Courier New" pitchFamily="34" charset="0"/>
                <a:ea typeface="Courier New" pitchFamily="34" charset="-122"/>
                <a:cs typeface="Courier New" pitchFamily="34" charset="-120"/>
              </a:rPr>
              <a:t>WHAT THE KEEP IS</a:t>
            </a:r>
            <a:endParaRPr lang="en-US" sz="900" dirty="0"/>
          </a:p>
        </p:txBody>
      </p:sp>
      <p:sp>
        <p:nvSpPr>
          <p:cNvPr id="28" name="Shape 24"/>
          <p:cNvSpPr/>
          <p:nvPr/>
        </p:nvSpPr>
        <p:spPr>
          <a:xfrm>
            <a:off x="3524250" y="9445377"/>
            <a:ext cx="3606775" cy="1947863"/>
          </a:xfrm>
          <a:prstGeom prst="roundRect">
            <a:avLst>
              <a:gd name="adj" fmla="val 2445"/>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29" name="Shape 25"/>
          <p:cNvSpPr/>
          <p:nvPr/>
        </p:nvSpPr>
        <p:spPr>
          <a:xfrm>
            <a:off x="3533775" y="9454902"/>
            <a:ext cx="28575" cy="1928813"/>
          </a:xfrm>
          <a:prstGeom prst="rect">
            <a:avLst/>
          </a:prstGeom>
          <a:solidFill>
            <a:srgbClr val="7C1418"/>
          </a:solidFill>
          <a:ln/>
        </p:spPr>
      </p:sp>
      <p:pic>
        <p:nvPicPr>
          <p:cNvPr id="3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62375" y="9683502"/>
            <a:ext cx="247650" cy="247650"/>
          </a:xfrm>
          <a:prstGeom prst="rect">
            <a:avLst/>
          </a:prstGeom>
        </p:spPr>
      </p:pic>
      <p:sp>
        <p:nvSpPr>
          <p:cNvPr id="31" name="Text 26"/>
          <p:cNvSpPr/>
          <p:nvPr/>
        </p:nvSpPr>
        <p:spPr>
          <a:xfrm>
            <a:off x="3762375" y="10154989"/>
            <a:ext cx="3443578"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1C1812"/>
                </a:solidFill>
                <a:latin typeface="Georgia" pitchFamily="34" charset="0"/>
                <a:ea typeface="Georgia" pitchFamily="34" charset="-122"/>
                <a:cs typeface="Georgia" pitchFamily="34" charset="-120"/>
              </a:rPr>
              <a:t>The Crossing</a:t>
            </a:r>
            <a:endParaRPr lang="en-US" sz="1650" dirty="0"/>
          </a:p>
        </p:txBody>
      </p:sp>
      <p:sp>
        <p:nvSpPr>
          <p:cNvPr id="32" name="Text 27"/>
          <p:cNvSpPr/>
          <p:nvPr/>
        </p:nvSpPr>
        <p:spPr>
          <a:xfrm>
            <a:off x="3762375" y="10469314"/>
            <a:ext cx="3224441" cy="723900"/>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423A2C"/>
                </a:solidFill>
                <a:latin typeface="Georgia" pitchFamily="34" charset="0"/>
                <a:ea typeface="Georgia" pitchFamily="34" charset="-122"/>
                <a:cs typeface="Georgia" pitchFamily="34" charset="-120"/>
              </a:rPr>
              <a:t>New players arrive by sea and are assessed at the threshold. No background is refused — only tested.</a:t>
            </a:r>
            <a:endParaRPr lang="en-US" sz="1125" dirty="0"/>
          </a:p>
        </p:txBody>
      </p:sp>
      <p:sp>
        <p:nvSpPr>
          <p:cNvPr id="33" name="Shape 28"/>
          <p:cNvSpPr/>
          <p:nvPr/>
        </p:nvSpPr>
        <p:spPr>
          <a:xfrm>
            <a:off x="7340575" y="9445377"/>
            <a:ext cx="3606775" cy="1947863"/>
          </a:xfrm>
          <a:prstGeom prst="roundRect">
            <a:avLst>
              <a:gd name="adj" fmla="val 2445"/>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34" name="Shape 29"/>
          <p:cNvSpPr/>
          <p:nvPr/>
        </p:nvSpPr>
        <p:spPr>
          <a:xfrm>
            <a:off x="7350100" y="9454902"/>
            <a:ext cx="28575" cy="1928813"/>
          </a:xfrm>
          <a:prstGeom prst="rect">
            <a:avLst/>
          </a:prstGeom>
          <a:solidFill>
            <a:srgbClr val="7C1418"/>
          </a:solidFill>
          <a:ln/>
        </p:spPr>
      </p:sp>
      <p:pic>
        <p:nvPicPr>
          <p:cNvPr id="3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78700" y="9683502"/>
            <a:ext cx="247650" cy="247650"/>
          </a:xfrm>
          <a:prstGeom prst="rect">
            <a:avLst/>
          </a:prstGeom>
        </p:spPr>
      </p:pic>
      <p:sp>
        <p:nvSpPr>
          <p:cNvPr id="36" name="Text 30"/>
          <p:cNvSpPr/>
          <p:nvPr/>
        </p:nvSpPr>
        <p:spPr>
          <a:xfrm>
            <a:off x="7578700" y="10154989"/>
            <a:ext cx="3443578"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1C1812"/>
                </a:solidFill>
                <a:latin typeface="Georgia" pitchFamily="34" charset="0"/>
                <a:ea typeface="Georgia" pitchFamily="34" charset="-122"/>
                <a:cs typeface="Georgia" pitchFamily="34" charset="-120"/>
              </a:rPr>
              <a:t>The Ledger</a:t>
            </a:r>
            <a:endParaRPr lang="en-US" sz="1650" dirty="0"/>
          </a:p>
        </p:txBody>
      </p:sp>
      <p:sp>
        <p:nvSpPr>
          <p:cNvPr id="37" name="Text 31"/>
          <p:cNvSpPr/>
          <p:nvPr/>
        </p:nvSpPr>
        <p:spPr>
          <a:xfrm>
            <a:off x="7578700" y="10469314"/>
            <a:ext cx="3224441" cy="723900"/>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423A2C"/>
                </a:solidFill>
                <a:latin typeface="Georgia" pitchFamily="34" charset="0"/>
                <a:ea typeface="Georgia" pitchFamily="34" charset="-122"/>
                <a:cs typeface="Georgia" pitchFamily="34" charset="-120"/>
              </a:rPr>
              <a:t>Every deed, wound and debt is recorded as a card. Your character is the sum of what the keep remembers.</a:t>
            </a:r>
            <a:endParaRPr lang="en-US" sz="1125" dirty="0"/>
          </a:p>
        </p:txBody>
      </p:sp>
      <p:sp>
        <p:nvSpPr>
          <p:cNvPr id="38" name="Shape 32"/>
          <p:cNvSpPr/>
          <p:nvPr/>
        </p:nvSpPr>
        <p:spPr>
          <a:xfrm>
            <a:off x="11156900" y="9445377"/>
            <a:ext cx="3606775" cy="1947863"/>
          </a:xfrm>
          <a:prstGeom prst="roundRect">
            <a:avLst>
              <a:gd name="adj" fmla="val 2445"/>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39" name="Shape 33"/>
          <p:cNvSpPr/>
          <p:nvPr/>
        </p:nvSpPr>
        <p:spPr>
          <a:xfrm>
            <a:off x="11166425" y="9454902"/>
            <a:ext cx="28575" cy="1928813"/>
          </a:xfrm>
          <a:prstGeom prst="rect">
            <a:avLst/>
          </a:prstGeom>
          <a:solidFill>
            <a:srgbClr val="7C1418"/>
          </a:solidFill>
          <a:ln/>
        </p:spPr>
      </p:sp>
      <p:pic>
        <p:nvPicPr>
          <p:cNvPr id="4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395025" y="9683502"/>
            <a:ext cx="247650" cy="247650"/>
          </a:xfrm>
          <a:prstGeom prst="rect">
            <a:avLst/>
          </a:prstGeom>
        </p:spPr>
      </p:pic>
      <p:sp>
        <p:nvSpPr>
          <p:cNvPr id="41" name="Text 34"/>
          <p:cNvSpPr/>
          <p:nvPr/>
        </p:nvSpPr>
        <p:spPr>
          <a:xfrm>
            <a:off x="11395025" y="10154989"/>
            <a:ext cx="3443578"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1C1812"/>
                </a:solidFill>
                <a:latin typeface="Georgia" pitchFamily="34" charset="0"/>
                <a:ea typeface="Georgia" pitchFamily="34" charset="-122"/>
                <a:cs typeface="Georgia" pitchFamily="34" charset="-120"/>
              </a:rPr>
              <a:t>The Order</a:t>
            </a:r>
            <a:endParaRPr lang="en-US" sz="1650" dirty="0"/>
          </a:p>
        </p:txBody>
      </p:sp>
      <p:sp>
        <p:nvSpPr>
          <p:cNvPr id="42" name="Text 35"/>
          <p:cNvSpPr/>
          <p:nvPr/>
        </p:nvSpPr>
        <p:spPr>
          <a:xfrm>
            <a:off x="11395025" y="10469314"/>
            <a:ext cx="3224441" cy="723900"/>
          </a:xfrm>
          <a:prstGeom prst="rect">
            <a:avLst/>
          </a:prstGeom>
          <a:noFill/>
          <a:ln/>
        </p:spPr>
        <p:txBody>
          <a:bodyPr wrap="square" lIns="25400" tIns="25400" rIns="25400" bIns="25400" rtlCol="0" anchor="t">
            <a:normAutofit/>
          </a:bodyPr>
          <a:lstStyle/>
          <a:p>
            <a:pPr algn="l" indent="0" marL="0">
              <a:lnSpc>
                <a:spcPct val="160000"/>
              </a:lnSpc>
              <a:buNone/>
            </a:pPr>
            <a:r>
              <a:rPr lang="en-US" sz="1125" dirty="0">
                <a:solidFill>
                  <a:srgbClr val="423A2C"/>
                </a:solidFill>
                <a:latin typeface="Georgia" pitchFamily="34" charset="0"/>
                <a:ea typeface="Georgia" pitchFamily="34" charset="-122"/>
                <a:cs typeface="Georgia" pitchFamily="34" charset="-120"/>
              </a:rPr>
              <a:t>Masters keep the rite. They manage cohorts, author lore, and read the chronicle of the whole saga.</a:t>
            </a:r>
            <a:endParaRPr lang="en-US" sz="1125" dirty="0"/>
          </a:p>
        </p:txBody>
      </p:sp>
      <p:sp>
        <p:nvSpPr>
          <p:cNvPr id="43" name="Text 36"/>
          <p:cNvSpPr/>
          <p:nvPr/>
        </p:nvSpPr>
        <p:spPr>
          <a:xfrm>
            <a:off x="3524250" y="12155239"/>
            <a:ext cx="621258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7C1418"/>
                </a:solidFill>
                <a:latin typeface="Courier New" pitchFamily="34" charset="0"/>
                <a:ea typeface="Courier New" pitchFamily="34" charset="-122"/>
                <a:cs typeface="Courier New" pitchFamily="34" charset="-120"/>
              </a:rPr>
              <a:t>THE TWO SIDES</a:t>
            </a:r>
            <a:endParaRPr lang="en-US" sz="900" dirty="0"/>
          </a:p>
        </p:txBody>
      </p:sp>
      <p:sp>
        <p:nvSpPr>
          <p:cNvPr id="44" name="Text 37"/>
          <p:cNvSpPr/>
          <p:nvPr/>
        </p:nvSpPr>
        <p:spPr>
          <a:xfrm>
            <a:off x="3524250" y="12436227"/>
            <a:ext cx="6212585"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1C1812"/>
                </a:solidFill>
                <a:latin typeface="Georgia" pitchFamily="34" charset="0"/>
                <a:ea typeface="Georgia" pitchFamily="34" charset="-122"/>
                <a:cs typeface="Georgia" pitchFamily="34" charset="-120"/>
              </a:rPr>
              <a:t>One keep. Two ways to play.</a:t>
            </a:r>
            <a:endParaRPr lang="en-US" sz="3000" dirty="0"/>
          </a:p>
        </p:txBody>
      </p:sp>
      <p:sp>
        <p:nvSpPr>
          <p:cNvPr id="45" name="Text 38"/>
          <p:cNvSpPr/>
          <p:nvPr/>
        </p:nvSpPr>
        <p:spPr>
          <a:xfrm>
            <a:off x="3524250" y="13026777"/>
            <a:ext cx="3836003" cy="839539"/>
          </a:xfrm>
          <a:prstGeom prst="rect">
            <a:avLst/>
          </a:prstGeom>
          <a:noFill/>
          <a:ln/>
        </p:spPr>
        <p:txBody>
          <a:bodyPr wrap="square" lIns="25400" tIns="25400" rIns="25400" bIns="25400" rtlCol="0" anchor="t">
            <a:normAutofit/>
          </a:bodyPr>
          <a:lstStyle/>
          <a:p>
            <a:pPr algn="l" indent="0" marL="0">
              <a:lnSpc>
                <a:spcPct val="165000"/>
              </a:lnSpc>
              <a:buNone/>
            </a:pPr>
            <a:r>
              <a:rPr lang="en-US" sz="1275" dirty="0">
                <a:solidFill>
                  <a:srgbClr val="423A2C"/>
                </a:solidFill>
                <a:latin typeface="Georgia" pitchFamily="34" charset="0"/>
                <a:ea typeface="Georgia" pitchFamily="34" charset="-122"/>
                <a:cs typeface="Georgia" pitchFamily="34" charset="-120"/>
              </a:rPr>
              <a:t>Cross the hall to the field for live events, or to the table for the chronicle in miniature — dice, sessions, and the long saga of your house.</a:t>
            </a:r>
            <a:endParaRPr lang="en-US" sz="1275" dirty="0"/>
          </a:p>
        </p:txBody>
      </p:sp>
      <p:sp>
        <p:nvSpPr>
          <p:cNvPr id="46" name="Shape 39"/>
          <p:cNvSpPr/>
          <p:nvPr/>
        </p:nvSpPr>
        <p:spPr>
          <a:xfrm>
            <a:off x="3524250" y="14056816"/>
            <a:ext cx="1398836" cy="361950"/>
          </a:xfrm>
          <a:prstGeom prst="roundRect">
            <a:avLst>
              <a:gd name="adj" fmla="val 7895"/>
            </a:avLst>
          </a:prstGeom>
          <a:solidFill>
            <a:srgbClr val="7C1418"/>
          </a:solidFill>
          <a:ln w="9525">
            <a:solidFill>
              <a:srgbClr val="7C1418"/>
            </a:solidFill>
            <a:prstDash val="solid"/>
          </a:ln>
          <a:effectLst>
            <a:outerShdw sx="100000" sy="100000" kx="0" ky="0" algn="bl" rotWithShape="0" blurRad="19050" dist="9525" dir="5400000">
              <a:srgbClr val="000000">
                <a:alpha val="35000"/>
              </a:srgbClr>
            </a:outerShdw>
          </a:effectLst>
        </p:spPr>
      </p:sp>
      <p:sp>
        <p:nvSpPr>
          <p:cNvPr id="47" name="Text 40"/>
          <p:cNvSpPr/>
          <p:nvPr/>
        </p:nvSpPr>
        <p:spPr>
          <a:xfrm>
            <a:off x="3667125" y="14161591"/>
            <a:ext cx="1113086"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F6F1E4"/>
                </a:solidFill>
                <a:latin typeface="Georgia" pitchFamily="34" charset="0"/>
                <a:ea typeface="Georgia" pitchFamily="34" charset="-122"/>
                <a:cs typeface="Georgia" pitchFamily="34" charset="-120"/>
              </a:rPr>
              <a:t>The LARP rite</a:t>
            </a:r>
            <a:endParaRPr lang="en-US" sz="1200" dirty="0"/>
          </a:p>
        </p:txBody>
      </p:sp>
      <p:sp>
        <p:nvSpPr>
          <p:cNvPr id="48" name="Text 41"/>
          <p:cNvSpPr/>
          <p:nvPr/>
        </p:nvSpPr>
        <p:spPr>
          <a:xfrm>
            <a:off x="5145662" y="14161591"/>
            <a:ext cx="1599374"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423A2C"/>
                </a:solidFill>
                <a:latin typeface="Georgia" pitchFamily="34" charset="0"/>
                <a:ea typeface="Georgia" pitchFamily="34" charset="-122"/>
                <a:cs typeface="Georgia" pitchFamily="34" charset="-120"/>
              </a:rPr>
              <a:t>The TTRPG table →</a:t>
            </a:r>
            <a:endParaRPr lang="en-US" sz="1200" dirty="0"/>
          </a:p>
        </p:txBody>
      </p:sp>
      <p:sp>
        <p:nvSpPr>
          <p:cNvPr id="49" name="Shape 42"/>
          <p:cNvSpPr/>
          <p:nvPr/>
        </p:nvSpPr>
        <p:spPr>
          <a:xfrm>
            <a:off x="9629254" y="12420228"/>
            <a:ext cx="5134496" cy="800100"/>
          </a:xfrm>
          <a:prstGeom prst="roundRect">
            <a:avLst>
              <a:gd name="adj" fmla="val 5952"/>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50" name="Shape 43"/>
          <p:cNvSpPr/>
          <p:nvPr/>
        </p:nvSpPr>
        <p:spPr>
          <a:xfrm>
            <a:off x="9810229" y="12601203"/>
            <a:ext cx="438150" cy="438150"/>
          </a:xfrm>
          <a:prstGeom prst="roundRect">
            <a:avLst>
              <a:gd name="adj" fmla="val 6522"/>
            </a:avLst>
          </a:prstGeom>
          <a:solidFill>
            <a:srgbClr val="F8F3E6"/>
          </a:solidFill>
          <a:ln w="9525">
            <a:solidFill>
              <a:srgbClr val="C2B79C"/>
            </a:solidFill>
            <a:prstDash val="solid"/>
          </a:ln>
          <a:effectLst>
            <a:outerShdw sx="100000" sy="100000" kx="0" ky="0" algn="bl" rotWithShape="0" blurRad="19050" dist="9525" dir="5400000">
              <a:srgbClr val="000000">
                <a:alpha val="35000"/>
              </a:srgbClr>
            </a:outerShdw>
          </a:effectLst>
        </p:spPr>
      </p:sp>
      <p:sp>
        <p:nvSpPr>
          <p:cNvPr id="51" name="Text 44"/>
          <p:cNvSpPr/>
          <p:nvPr/>
        </p:nvSpPr>
        <p:spPr>
          <a:xfrm>
            <a:off x="9781654" y="12610728"/>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423A2C"/>
                </a:solidFill>
                <a:latin typeface="Georgia" pitchFamily="34" charset="0"/>
                <a:ea typeface="Georgia" pitchFamily="34" charset="-122"/>
                <a:cs typeface="Georgia" pitchFamily="34" charset="-120"/>
              </a:rPr>
              <a:t>LA</a:t>
            </a:r>
            <a:endParaRPr lang="en-US" sz="1350" dirty="0"/>
          </a:p>
        </p:txBody>
      </p:sp>
      <p:sp>
        <p:nvSpPr>
          <p:cNvPr id="52" name="Text 45"/>
          <p:cNvSpPr/>
          <p:nvPr/>
        </p:nvSpPr>
        <p:spPr>
          <a:xfrm>
            <a:off x="10381729" y="12620253"/>
            <a:ext cx="2676919"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1C1812"/>
                </a:solidFill>
                <a:latin typeface="Georgia" pitchFamily="34" charset="0"/>
                <a:ea typeface="Georgia" pitchFamily="34" charset="-122"/>
                <a:cs typeface="Georgia" pitchFamily="34" charset="-120"/>
              </a:rPr>
              <a:t>LARP — the field</a:t>
            </a:r>
            <a:endParaRPr lang="en-US" sz="1350" dirty="0"/>
          </a:p>
        </p:txBody>
      </p:sp>
      <p:sp>
        <p:nvSpPr>
          <p:cNvPr id="53" name="Text 46"/>
          <p:cNvSpPr/>
          <p:nvPr/>
        </p:nvSpPr>
        <p:spPr>
          <a:xfrm>
            <a:off x="10381729" y="12815515"/>
            <a:ext cx="2676919" cy="242888"/>
          </a:xfrm>
          <a:prstGeom prst="rect">
            <a:avLst/>
          </a:prstGeom>
          <a:noFill/>
          <a:ln/>
        </p:spPr>
        <p:txBody>
          <a:bodyPr wrap="square" lIns="25400" tIns="25400" rIns="25400" bIns="25400" rtlCol="0" anchor="t">
            <a:normAutofit/>
          </a:bodyPr>
          <a:lstStyle/>
          <a:p>
            <a:pPr algn="l" indent="0" marL="0">
              <a:buNone/>
            </a:pPr>
            <a:r>
              <a:rPr lang="en-US" sz="1050" dirty="0">
                <a:solidFill>
                  <a:srgbClr val="756B57"/>
                </a:solidFill>
                <a:latin typeface="Georgia" pitchFamily="34" charset="0"/>
                <a:ea typeface="Georgia" pitchFamily="34" charset="-122"/>
                <a:cs typeface="Georgia" pitchFamily="34" charset="-120"/>
              </a:rPr>
              <a:t>Live events, assessments, house standing.</a:t>
            </a:r>
            <a:endParaRPr lang="en-US" sz="1050" dirty="0"/>
          </a:p>
        </p:txBody>
      </p:sp>
      <p:sp>
        <p:nvSpPr>
          <p:cNvPr id="54" name="Shape 47"/>
          <p:cNvSpPr/>
          <p:nvPr/>
        </p:nvSpPr>
        <p:spPr>
          <a:xfrm>
            <a:off x="9629254" y="13353678"/>
            <a:ext cx="5134496" cy="800100"/>
          </a:xfrm>
          <a:prstGeom prst="roundRect">
            <a:avLst>
              <a:gd name="adj" fmla="val 5952"/>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55" name="Shape 48"/>
          <p:cNvSpPr/>
          <p:nvPr/>
        </p:nvSpPr>
        <p:spPr>
          <a:xfrm>
            <a:off x="9810229" y="13534653"/>
            <a:ext cx="438150" cy="438150"/>
          </a:xfrm>
          <a:prstGeom prst="roundRect">
            <a:avLst>
              <a:gd name="adj" fmla="val 6522"/>
            </a:avLst>
          </a:prstGeom>
          <a:solidFill>
            <a:srgbClr val="F8F3E6"/>
          </a:solidFill>
          <a:ln w="9525">
            <a:solidFill>
              <a:srgbClr val="C2B79C"/>
            </a:solidFill>
            <a:prstDash val="solid"/>
          </a:ln>
          <a:effectLst>
            <a:outerShdw sx="100000" sy="100000" kx="0" ky="0" algn="bl" rotWithShape="0" blurRad="19050" dist="9525" dir="5400000">
              <a:srgbClr val="000000">
                <a:alpha val="35000"/>
              </a:srgbClr>
            </a:outerShdw>
          </a:effectLst>
        </p:spPr>
      </p:sp>
      <p:sp>
        <p:nvSpPr>
          <p:cNvPr id="56" name="Text 49"/>
          <p:cNvSpPr/>
          <p:nvPr/>
        </p:nvSpPr>
        <p:spPr>
          <a:xfrm>
            <a:off x="9781654" y="13544178"/>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423A2C"/>
                </a:solidFill>
                <a:latin typeface="Georgia" pitchFamily="34" charset="0"/>
                <a:ea typeface="Georgia" pitchFamily="34" charset="-122"/>
                <a:cs typeface="Georgia" pitchFamily="34" charset="-120"/>
              </a:rPr>
              <a:t>TT</a:t>
            </a:r>
            <a:endParaRPr lang="en-US" sz="1350" dirty="0"/>
          </a:p>
        </p:txBody>
      </p:sp>
      <p:sp>
        <p:nvSpPr>
          <p:cNvPr id="57" name="Text 50"/>
          <p:cNvSpPr/>
          <p:nvPr/>
        </p:nvSpPr>
        <p:spPr>
          <a:xfrm>
            <a:off x="10381729" y="13553703"/>
            <a:ext cx="2381585"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1C1812"/>
                </a:solidFill>
                <a:latin typeface="Georgia" pitchFamily="34" charset="0"/>
                <a:ea typeface="Georgia" pitchFamily="34" charset="-122"/>
                <a:cs typeface="Georgia" pitchFamily="34" charset="-120"/>
              </a:rPr>
              <a:t>TTRPG — the table</a:t>
            </a:r>
            <a:endParaRPr lang="en-US" sz="1350" dirty="0"/>
          </a:p>
        </p:txBody>
      </p:sp>
      <p:sp>
        <p:nvSpPr>
          <p:cNvPr id="58" name="Text 51"/>
          <p:cNvSpPr/>
          <p:nvPr/>
        </p:nvSpPr>
        <p:spPr>
          <a:xfrm>
            <a:off x="10381729" y="13748965"/>
            <a:ext cx="2381585" cy="242888"/>
          </a:xfrm>
          <a:prstGeom prst="rect">
            <a:avLst/>
          </a:prstGeom>
          <a:noFill/>
          <a:ln/>
        </p:spPr>
        <p:txBody>
          <a:bodyPr wrap="square" lIns="25400" tIns="25400" rIns="25400" bIns="25400" rtlCol="0" anchor="t">
            <a:normAutofit/>
          </a:bodyPr>
          <a:lstStyle/>
          <a:p>
            <a:pPr algn="l" indent="0" marL="0">
              <a:buNone/>
            </a:pPr>
            <a:r>
              <a:rPr lang="en-US" sz="1050" dirty="0">
                <a:solidFill>
                  <a:srgbClr val="756B57"/>
                </a:solidFill>
                <a:latin typeface="Georgia" pitchFamily="34" charset="0"/>
                <a:ea typeface="Georgia" pitchFamily="34" charset="-122"/>
                <a:cs typeface="Georgia" pitchFamily="34" charset="-120"/>
              </a:rPr>
              <a:t>Dice, sessions, graphs, the chronicle.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5270592"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LARP · PUBLIC SITE</a:t>
            </a:r>
            <a:endParaRPr lang="en-US" sz="1275" dirty="0"/>
          </a:p>
        </p:txBody>
      </p:sp>
      <p:sp>
        <p:nvSpPr>
          <p:cNvPr id="4" name="Text 2"/>
          <p:cNvSpPr/>
          <p:nvPr/>
        </p:nvSpPr>
        <p:spPr>
          <a:xfrm>
            <a:off x="533400" y="766763"/>
            <a:ext cx="5270592"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The Rite — Reading View</a:t>
            </a:r>
            <a:endParaRPr lang="en-US" sz="3450" dirty="0"/>
          </a:p>
        </p:txBody>
      </p:sp>
      <p:sp>
        <p:nvSpPr>
          <p:cNvPr id="5" name="Shape 3"/>
          <p:cNvSpPr/>
          <p:nvPr/>
        </p:nvSpPr>
        <p:spPr>
          <a:xfrm>
            <a:off x="16155293" y="438150"/>
            <a:ext cx="1599307" cy="381000"/>
          </a:xfrm>
          <a:prstGeom prst="roundRect">
            <a:avLst>
              <a:gd name="adj" fmla="val 50000"/>
            </a:avLst>
          </a:prstGeom>
          <a:solidFill>
            <a:srgbClr val="16151D"/>
          </a:solidFill>
          <a:ln w="9525">
            <a:solidFill>
              <a:srgbClr val="35343F"/>
            </a:solidFill>
            <a:prstDash val="solid"/>
          </a:ln>
        </p:spPr>
      </p:sp>
      <p:sp>
        <p:nvSpPr>
          <p:cNvPr id="6" name="Shape 4"/>
          <p:cNvSpPr/>
          <p:nvPr/>
        </p:nvSpPr>
        <p:spPr>
          <a:xfrm>
            <a:off x="16269593" y="533400"/>
            <a:ext cx="190500" cy="190500"/>
          </a:xfrm>
          <a:prstGeom prst="ellipse">
            <a:avLst/>
          </a:prstGeom>
          <a:solidFill>
            <a:srgbClr val="0B0A0F"/>
          </a:solidFill>
          <a:ln w="9525">
            <a:solidFill>
              <a:srgbClr val="FFFFFF">
                <a:alpha val="18000"/>
              </a:srgbClr>
            </a:solidFill>
            <a:prstDash val="solid"/>
          </a:ln>
        </p:spPr>
      </p:sp>
      <p:sp>
        <p:nvSpPr>
          <p:cNvPr id="7" name="Text 5"/>
          <p:cNvSpPr/>
          <p:nvPr/>
        </p:nvSpPr>
        <p:spPr>
          <a:xfrm>
            <a:off x="16555343" y="533400"/>
            <a:ext cx="1113532" cy="228600"/>
          </a:xfrm>
          <a:prstGeom prst="rect">
            <a:avLst/>
          </a:prstGeom>
          <a:noFill/>
          <a:ln/>
        </p:spPr>
        <p:txBody>
          <a:bodyPr wrap="none" lIns="0" tIns="0" rIns="0" bIns="0" rtlCol="0" anchor="t">
            <a:normAutofit/>
          </a:bodyPr>
          <a:lstStyle/>
          <a:p>
            <a:pPr algn="l" indent="0" marL="0">
              <a:buNone/>
            </a:pPr>
            <a:r>
              <a:rPr lang="en-US" sz="1125" spc="68" kern="0" dirty="0">
                <a:solidFill>
                  <a:srgbClr val="C5BDA6"/>
                </a:solidFill>
                <a:latin typeface="Courier New" pitchFamily="34" charset="0"/>
                <a:ea typeface="Courier New" pitchFamily="34" charset="-122"/>
                <a:cs typeface="Courier New" pitchFamily="34" charset="-120"/>
              </a:rPr>
              <a:t>Dark · dark</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B0A0F"/>
          </a:solidFill>
          <a:ln/>
        </p:spPr>
      </p:sp>
      <p:sp>
        <p:nvSpPr>
          <p:cNvPr id="10" name="Text 8"/>
          <p:cNvSpPr/>
          <p:nvPr/>
        </p:nvSpPr>
        <p:spPr>
          <a:xfrm>
            <a:off x="3524250" y="1995487"/>
            <a:ext cx="123634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DB4A3F"/>
                </a:solidFill>
                <a:latin typeface="Courier New" pitchFamily="34" charset="0"/>
                <a:ea typeface="Courier New" pitchFamily="34" charset="-122"/>
                <a:cs typeface="Courier New" pitchFamily="34" charset="-120"/>
              </a:rPr>
              <a:t>THE RITE</a:t>
            </a:r>
            <a:endParaRPr lang="en-US" sz="900" dirty="0"/>
          </a:p>
        </p:txBody>
      </p:sp>
      <p:sp>
        <p:nvSpPr>
          <p:cNvPr id="11" name="Text 9"/>
          <p:cNvSpPr/>
          <p:nvPr/>
        </p:nvSpPr>
        <p:spPr>
          <a:xfrm>
            <a:off x="3524250" y="2257425"/>
            <a:ext cx="12363450" cy="647700"/>
          </a:xfrm>
          <a:prstGeom prst="rect">
            <a:avLst/>
          </a:prstGeom>
          <a:noFill/>
          <a:ln/>
        </p:spPr>
        <p:txBody>
          <a:bodyPr wrap="square" lIns="25400" tIns="25400" rIns="25400" bIns="25400" rtlCol="0" anchor="t">
            <a:normAutofit/>
          </a:bodyPr>
          <a:lstStyle/>
          <a:p>
            <a:pPr algn="l" indent="0" marL="0">
              <a:buNone/>
            </a:pPr>
            <a:r>
              <a:rPr lang="en-US" sz="4200" b="1" dirty="0">
                <a:solidFill>
                  <a:srgbClr val="ECE6D6"/>
                </a:solidFill>
                <a:latin typeface="Georgia" pitchFamily="34" charset="0"/>
                <a:ea typeface="Georgia" pitchFamily="34" charset="-122"/>
                <a:cs typeface="Georgia" pitchFamily="34" charset="-120"/>
              </a:rPr>
              <a:t>The Rite of Durmstrang</a:t>
            </a:r>
            <a:endParaRPr lang="en-US" sz="4200" dirty="0"/>
          </a:p>
        </p:txBody>
      </p:sp>
      <p:sp>
        <p:nvSpPr>
          <p:cNvPr id="12" name="Shape 10"/>
          <p:cNvSpPr/>
          <p:nvPr/>
        </p:nvSpPr>
        <p:spPr>
          <a:xfrm>
            <a:off x="3524250" y="3133725"/>
            <a:ext cx="2095500" cy="409575"/>
          </a:xfrm>
          <a:prstGeom prst="rect">
            <a:avLst/>
          </a:prstGeom>
          <a:solidFill>
            <a:srgbClr val="9B1C1C">
              <a:alpha val="16000"/>
            </a:srgbClr>
          </a:solidFill>
          <a:ln/>
        </p:spPr>
      </p:sp>
      <p:sp>
        <p:nvSpPr>
          <p:cNvPr id="13" name="Shape 11"/>
          <p:cNvSpPr/>
          <p:nvPr/>
        </p:nvSpPr>
        <p:spPr>
          <a:xfrm>
            <a:off x="3524250" y="3133725"/>
            <a:ext cx="19050" cy="409575"/>
          </a:xfrm>
          <a:prstGeom prst="rect">
            <a:avLst/>
          </a:prstGeom>
          <a:solidFill>
            <a:srgbClr val="9B1C1C"/>
          </a:solidFill>
          <a:ln/>
        </p:spPr>
      </p:sp>
      <p:sp>
        <p:nvSpPr>
          <p:cNvPr id="14" name="Text 12"/>
          <p:cNvSpPr/>
          <p:nvPr/>
        </p:nvSpPr>
        <p:spPr>
          <a:xfrm>
            <a:off x="3657600" y="3228975"/>
            <a:ext cx="1924050" cy="257175"/>
          </a:xfrm>
          <a:prstGeom prst="rect">
            <a:avLst/>
          </a:prstGeom>
          <a:noFill/>
          <a:ln/>
        </p:spPr>
        <p:txBody>
          <a:bodyPr wrap="square" lIns="25400" tIns="25400" rIns="25400" bIns="25400" rtlCol="0" anchor="t">
            <a:normAutofit/>
          </a:bodyPr>
          <a:lstStyle/>
          <a:p>
            <a:pPr algn="l" indent="0" marL="0">
              <a:buNone/>
            </a:pPr>
            <a:r>
              <a:rPr lang="en-US" sz="1125" dirty="0">
                <a:solidFill>
                  <a:srgbClr val="ECE6D6"/>
                </a:solidFill>
                <a:latin typeface="Georgia" pitchFamily="34" charset="0"/>
                <a:ea typeface="Georgia" pitchFamily="34" charset="-122"/>
                <a:cs typeface="Georgia" pitchFamily="34" charset="-120"/>
              </a:rPr>
              <a:t>I · The Crossing</a:t>
            </a:r>
            <a:endParaRPr lang="en-US" sz="1125" dirty="0"/>
          </a:p>
        </p:txBody>
      </p:sp>
      <p:sp>
        <p:nvSpPr>
          <p:cNvPr id="15" name="Shape 13"/>
          <p:cNvSpPr/>
          <p:nvPr/>
        </p:nvSpPr>
        <p:spPr>
          <a:xfrm>
            <a:off x="3524250" y="3562350"/>
            <a:ext cx="19050" cy="409575"/>
          </a:xfrm>
          <a:prstGeom prst="rect">
            <a:avLst/>
          </a:prstGeom>
          <a:solidFill>
            <a:srgbClr val="35343F"/>
          </a:solidFill>
          <a:ln/>
        </p:spPr>
      </p:sp>
      <p:sp>
        <p:nvSpPr>
          <p:cNvPr id="16" name="Text 14"/>
          <p:cNvSpPr/>
          <p:nvPr/>
        </p:nvSpPr>
        <p:spPr>
          <a:xfrm>
            <a:off x="3657600" y="3657600"/>
            <a:ext cx="1924050" cy="257175"/>
          </a:xfrm>
          <a:prstGeom prst="rect">
            <a:avLst/>
          </a:prstGeom>
          <a:noFill/>
          <a:ln/>
        </p:spPr>
        <p:txBody>
          <a:bodyPr wrap="square" lIns="25400" tIns="25400" rIns="25400" bIns="25400" rtlCol="0" anchor="t">
            <a:normAutofit/>
          </a:bodyPr>
          <a:lstStyle/>
          <a:p>
            <a:pPr algn="l" indent="0" marL="0">
              <a:buNone/>
            </a:pPr>
            <a:r>
              <a:rPr lang="en-US" sz="1125" dirty="0">
                <a:solidFill>
                  <a:srgbClr val="837B66"/>
                </a:solidFill>
                <a:latin typeface="Georgia" pitchFamily="34" charset="0"/>
                <a:ea typeface="Georgia" pitchFamily="34" charset="-122"/>
                <a:cs typeface="Georgia" pitchFamily="34" charset="-120"/>
              </a:rPr>
              <a:t>II · The Iron Oath</a:t>
            </a:r>
            <a:endParaRPr lang="en-US" sz="1125" dirty="0"/>
          </a:p>
        </p:txBody>
      </p:sp>
      <p:sp>
        <p:nvSpPr>
          <p:cNvPr id="17" name="Shape 15"/>
          <p:cNvSpPr/>
          <p:nvPr/>
        </p:nvSpPr>
        <p:spPr>
          <a:xfrm>
            <a:off x="3524250" y="3990975"/>
            <a:ext cx="19050" cy="409575"/>
          </a:xfrm>
          <a:prstGeom prst="rect">
            <a:avLst/>
          </a:prstGeom>
          <a:solidFill>
            <a:srgbClr val="35343F"/>
          </a:solidFill>
          <a:ln/>
        </p:spPr>
      </p:sp>
      <p:sp>
        <p:nvSpPr>
          <p:cNvPr id="18" name="Text 16"/>
          <p:cNvSpPr/>
          <p:nvPr/>
        </p:nvSpPr>
        <p:spPr>
          <a:xfrm>
            <a:off x="3657600" y="4086225"/>
            <a:ext cx="1924050" cy="257175"/>
          </a:xfrm>
          <a:prstGeom prst="rect">
            <a:avLst/>
          </a:prstGeom>
          <a:noFill/>
          <a:ln/>
        </p:spPr>
        <p:txBody>
          <a:bodyPr wrap="square" lIns="25400" tIns="25400" rIns="25400" bIns="25400" rtlCol="0" anchor="t">
            <a:normAutofit/>
          </a:bodyPr>
          <a:lstStyle/>
          <a:p>
            <a:pPr algn="l" indent="0" marL="0">
              <a:buNone/>
            </a:pPr>
            <a:r>
              <a:rPr lang="en-US" sz="1125" dirty="0">
                <a:solidFill>
                  <a:srgbClr val="837B66"/>
                </a:solidFill>
                <a:latin typeface="Georgia" pitchFamily="34" charset="0"/>
                <a:ea typeface="Georgia" pitchFamily="34" charset="-122"/>
                <a:cs typeface="Georgia" pitchFamily="34" charset="-120"/>
              </a:rPr>
              <a:t>III · House Standing</a:t>
            </a:r>
            <a:endParaRPr lang="en-US" sz="1125" dirty="0"/>
          </a:p>
        </p:txBody>
      </p:sp>
      <p:sp>
        <p:nvSpPr>
          <p:cNvPr id="19" name="Text 17"/>
          <p:cNvSpPr/>
          <p:nvPr/>
        </p:nvSpPr>
        <p:spPr>
          <a:xfrm>
            <a:off x="6000750" y="3133725"/>
            <a:ext cx="5699760" cy="385763"/>
          </a:xfrm>
          <a:prstGeom prst="rect">
            <a:avLst/>
          </a:prstGeom>
          <a:noFill/>
          <a:ln/>
        </p:spPr>
        <p:txBody>
          <a:bodyPr wrap="square" lIns="25400" tIns="25400" rIns="25400" bIns="25400" rtlCol="0" anchor="t">
            <a:normAutofit/>
          </a:bodyPr>
          <a:lstStyle/>
          <a:p>
            <a:pPr algn="l" indent="0" marL="0">
              <a:buNone/>
            </a:pPr>
            <a:r>
              <a:rPr lang="en-US" sz="2400" b="1" dirty="0">
                <a:solidFill>
                  <a:srgbClr val="ECE6D6"/>
                </a:solidFill>
                <a:latin typeface="Georgia" pitchFamily="34" charset="0"/>
                <a:ea typeface="Georgia" pitchFamily="34" charset="-122"/>
                <a:cs typeface="Georgia" pitchFamily="34" charset="-120"/>
              </a:rPr>
              <a:t>The Crossing</a:t>
            </a:r>
            <a:endParaRPr lang="en-US" sz="2400" dirty="0"/>
          </a:p>
        </p:txBody>
      </p:sp>
      <p:sp>
        <p:nvSpPr>
          <p:cNvPr id="20" name="Text 18"/>
          <p:cNvSpPr/>
          <p:nvPr/>
        </p:nvSpPr>
        <p:spPr>
          <a:xfrm>
            <a:off x="6000750" y="3652838"/>
            <a:ext cx="5337048" cy="1238250"/>
          </a:xfrm>
          <a:prstGeom prst="rect">
            <a:avLst/>
          </a:prstGeom>
          <a:noFill/>
          <a:ln/>
        </p:spPr>
        <p:txBody>
          <a:bodyPr wrap="square" lIns="25400" tIns="25400" rIns="25400" bIns="25400" rtlCol="0" anchor="t">
            <a:normAutofit/>
          </a:bodyPr>
          <a:lstStyle/>
          <a:p>
            <a:pPr algn="l" indent="0" marL="0">
              <a:lnSpc>
                <a:spcPct val="175000"/>
              </a:lnSpc>
              <a:buNone/>
            </a:pPr>
            <a:r>
              <a:rPr lang="en-US" sz="1350" dirty="0">
                <a:solidFill>
                  <a:srgbClr val="C5BDA6"/>
                </a:solidFill>
                <a:latin typeface="Georgia" pitchFamily="34" charset="0"/>
                <a:ea typeface="Georgia" pitchFamily="34" charset="-122"/>
                <a:cs typeface="Georgia" pitchFamily="34" charset="-120"/>
              </a:rPr>
              <a:t>No candidate enters the keep by land. You arrive at the sea-gate at dusk and are met by a master who records your name, your homeland, and the marks your past has left on you. This is your first ledger entry; it cannot be unwritten.</a:t>
            </a:r>
            <a:endParaRPr lang="en-US" sz="1350" dirty="0"/>
          </a:p>
        </p:txBody>
      </p:sp>
      <p:sp>
        <p:nvSpPr>
          <p:cNvPr id="21" name="Shape 19"/>
          <p:cNvSpPr/>
          <p:nvPr/>
        </p:nvSpPr>
        <p:spPr>
          <a:xfrm>
            <a:off x="6000750" y="5119688"/>
            <a:ext cx="28575" cy="655290"/>
          </a:xfrm>
          <a:prstGeom prst="rect">
            <a:avLst/>
          </a:prstGeom>
          <a:solidFill>
            <a:srgbClr val="9B1C1C"/>
          </a:solidFill>
          <a:ln/>
        </p:spPr>
      </p:sp>
      <p:sp>
        <p:nvSpPr>
          <p:cNvPr id="22" name="Text 20"/>
          <p:cNvSpPr/>
          <p:nvPr/>
        </p:nvSpPr>
        <p:spPr>
          <a:xfrm>
            <a:off x="6238875" y="5157788"/>
            <a:ext cx="5098923" cy="617190"/>
          </a:xfrm>
          <a:prstGeom prst="rect">
            <a:avLst/>
          </a:prstGeom>
          <a:noFill/>
          <a:ln/>
        </p:spPr>
        <p:txBody>
          <a:bodyPr wrap="square" lIns="25400" tIns="25400" rIns="25400" bIns="25400" rtlCol="0" anchor="t">
            <a:normAutofit/>
          </a:bodyPr>
          <a:lstStyle/>
          <a:p>
            <a:pPr algn="l" indent="0" marL="0">
              <a:lnSpc>
                <a:spcPct val="160000"/>
              </a:lnSpc>
              <a:buNone/>
            </a:pPr>
            <a:r>
              <a:rPr lang="en-US" sz="1425" i="1" dirty="0">
                <a:solidFill>
                  <a:srgbClr val="ECE6D6"/>
                </a:solidFill>
                <a:latin typeface="Georgia" pitchFamily="34" charset="0"/>
                <a:ea typeface="Georgia" pitchFamily="34" charset="-122"/>
                <a:cs typeface="Georgia" pitchFamily="34" charset="-120"/>
              </a:rPr>
              <a:t>“What the sea takes, the keep records. What the keep records, the saga keeps.”</a:t>
            </a:r>
            <a:endParaRPr lang="en-US" sz="1425" dirty="0"/>
          </a:p>
        </p:txBody>
      </p:sp>
      <p:sp>
        <p:nvSpPr>
          <p:cNvPr id="23" name="Text 21"/>
          <p:cNvSpPr/>
          <p:nvPr/>
        </p:nvSpPr>
        <p:spPr>
          <a:xfrm>
            <a:off x="6000750" y="6041678"/>
            <a:ext cx="5337048" cy="938213"/>
          </a:xfrm>
          <a:prstGeom prst="rect">
            <a:avLst/>
          </a:prstGeom>
          <a:noFill/>
          <a:ln/>
        </p:spPr>
        <p:txBody>
          <a:bodyPr wrap="square" lIns="25400" tIns="25400" rIns="25400" bIns="25400" rtlCol="0" anchor="t">
            <a:normAutofit/>
          </a:bodyPr>
          <a:lstStyle/>
          <a:p>
            <a:pPr algn="l" indent="0" marL="0">
              <a:lnSpc>
                <a:spcPct val="175000"/>
              </a:lnSpc>
              <a:buNone/>
            </a:pPr>
            <a:r>
              <a:rPr lang="en-US" sz="1350" dirty="0">
                <a:solidFill>
                  <a:srgbClr val="C5BDA6"/>
                </a:solidFill>
                <a:latin typeface="Georgia" pitchFamily="34" charset="0"/>
                <a:ea typeface="Georgia" pitchFamily="34" charset="-122"/>
                <a:cs typeface="Georgia" pitchFamily="34" charset="-120"/>
              </a:rPr>
              <a:t>Each clause of the rite is enforced not by guards but by the ledger. To play at Durmstrang is to accept that every action is written, and that the written cannot be undone — only answered.</a:t>
            </a:r>
            <a:endParaRPr lang="en-US" sz="1350" dirty="0"/>
          </a:p>
        </p:txBody>
      </p:sp>
      <p:sp>
        <p:nvSpPr>
          <p:cNvPr id="24" name="Shape 22"/>
          <p:cNvSpPr/>
          <p:nvPr/>
        </p:nvSpPr>
        <p:spPr>
          <a:xfrm>
            <a:off x="6000750" y="7170390"/>
            <a:ext cx="815504" cy="300038"/>
          </a:xfrm>
          <a:prstGeom prst="roundRect">
            <a:avLst>
              <a:gd name="adj" fmla="val 9524"/>
            </a:avLst>
          </a:prstGeom>
          <a:solidFill>
            <a:srgbClr val="1C1B24"/>
          </a:solidFill>
          <a:ln w="9525">
            <a:solidFill>
              <a:srgbClr val="35343F"/>
            </a:solidFill>
            <a:prstDash val="solid"/>
          </a:ln>
        </p:spPr>
      </p:sp>
      <p:sp>
        <p:nvSpPr>
          <p:cNvPr id="25" name="Text 23"/>
          <p:cNvSpPr/>
          <p:nvPr/>
        </p:nvSpPr>
        <p:spPr>
          <a:xfrm>
            <a:off x="6105525" y="7218015"/>
            <a:ext cx="682154"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Threshold</a:t>
            </a:r>
            <a:endParaRPr lang="en-US" sz="1050" dirty="0"/>
          </a:p>
        </p:txBody>
      </p:sp>
      <p:sp>
        <p:nvSpPr>
          <p:cNvPr id="26" name="Shape 24"/>
          <p:cNvSpPr/>
          <p:nvPr/>
        </p:nvSpPr>
        <p:spPr>
          <a:xfrm>
            <a:off x="6892454" y="7170390"/>
            <a:ext cx="507206" cy="300038"/>
          </a:xfrm>
          <a:prstGeom prst="roundRect">
            <a:avLst>
              <a:gd name="adj" fmla="val 9524"/>
            </a:avLst>
          </a:prstGeom>
          <a:solidFill>
            <a:srgbClr val="1C1B24"/>
          </a:solidFill>
          <a:ln w="9525">
            <a:solidFill>
              <a:srgbClr val="35343F"/>
            </a:solidFill>
            <a:prstDash val="solid"/>
          </a:ln>
        </p:spPr>
      </p:sp>
      <p:sp>
        <p:nvSpPr>
          <p:cNvPr id="27" name="Text 25"/>
          <p:cNvSpPr/>
          <p:nvPr/>
        </p:nvSpPr>
        <p:spPr>
          <a:xfrm>
            <a:off x="6997229" y="7218015"/>
            <a:ext cx="373856"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Oath</a:t>
            </a:r>
            <a:endParaRPr lang="en-US" sz="1050" dirty="0"/>
          </a:p>
        </p:txBody>
      </p:sp>
      <p:sp>
        <p:nvSpPr>
          <p:cNvPr id="28" name="Shape 26"/>
          <p:cNvSpPr/>
          <p:nvPr/>
        </p:nvSpPr>
        <p:spPr>
          <a:xfrm>
            <a:off x="7475860" y="7170390"/>
            <a:ext cx="621878" cy="300038"/>
          </a:xfrm>
          <a:prstGeom prst="roundRect">
            <a:avLst>
              <a:gd name="adj" fmla="val 9524"/>
            </a:avLst>
          </a:prstGeom>
          <a:solidFill>
            <a:srgbClr val="1C1B24"/>
          </a:solidFill>
          <a:ln w="9525">
            <a:solidFill>
              <a:srgbClr val="35343F"/>
            </a:solidFill>
            <a:prstDash val="solid"/>
          </a:ln>
        </p:spPr>
      </p:sp>
      <p:sp>
        <p:nvSpPr>
          <p:cNvPr id="29" name="Text 27"/>
          <p:cNvSpPr/>
          <p:nvPr/>
        </p:nvSpPr>
        <p:spPr>
          <a:xfrm>
            <a:off x="7580635" y="7218015"/>
            <a:ext cx="488528"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Ledger</a:t>
            </a:r>
            <a:endParaRPr lang="en-US" sz="1050" dirty="0"/>
          </a:p>
        </p:txBody>
      </p:sp>
      <p:sp>
        <p:nvSpPr>
          <p:cNvPr id="30" name="Shape 28"/>
          <p:cNvSpPr/>
          <p:nvPr/>
        </p:nvSpPr>
        <p:spPr>
          <a:xfrm>
            <a:off x="8173938" y="7170390"/>
            <a:ext cx="737815" cy="300038"/>
          </a:xfrm>
          <a:prstGeom prst="roundRect">
            <a:avLst>
              <a:gd name="adj" fmla="val 9524"/>
            </a:avLst>
          </a:prstGeom>
          <a:solidFill>
            <a:srgbClr val="1C1B24"/>
          </a:solidFill>
          <a:ln w="9525">
            <a:solidFill>
              <a:srgbClr val="35343F"/>
            </a:solidFill>
            <a:prstDash val="solid"/>
          </a:ln>
        </p:spPr>
      </p:sp>
      <p:sp>
        <p:nvSpPr>
          <p:cNvPr id="31" name="Text 29"/>
          <p:cNvSpPr/>
          <p:nvPr/>
        </p:nvSpPr>
        <p:spPr>
          <a:xfrm>
            <a:off x="8278713" y="7218015"/>
            <a:ext cx="604465"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Standing</a:t>
            </a:r>
            <a:endParaRPr lang="en-US" sz="1050" dirty="0"/>
          </a:p>
        </p:txBody>
      </p:sp>
      <p:sp>
        <p:nvSpPr>
          <p:cNvPr id="32" name="Shape 30"/>
          <p:cNvSpPr/>
          <p:nvPr/>
        </p:nvSpPr>
        <p:spPr>
          <a:xfrm>
            <a:off x="8987954" y="7170390"/>
            <a:ext cx="675680" cy="300038"/>
          </a:xfrm>
          <a:prstGeom prst="roundRect">
            <a:avLst>
              <a:gd name="adj" fmla="val 9524"/>
            </a:avLst>
          </a:prstGeom>
          <a:solidFill>
            <a:srgbClr val="1C1B24"/>
          </a:solidFill>
          <a:ln w="9525">
            <a:solidFill>
              <a:srgbClr val="35343F"/>
            </a:solidFill>
            <a:prstDash val="solid"/>
          </a:ln>
        </p:spPr>
      </p:sp>
      <p:sp>
        <p:nvSpPr>
          <p:cNvPr id="33" name="Text 31"/>
          <p:cNvSpPr/>
          <p:nvPr/>
        </p:nvSpPr>
        <p:spPr>
          <a:xfrm>
            <a:off x="9092729" y="7218015"/>
            <a:ext cx="542330"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Council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4448272"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LARP · PUBLIC SITE</a:t>
            </a:r>
            <a:endParaRPr lang="en-US" sz="1275" dirty="0"/>
          </a:p>
        </p:txBody>
      </p:sp>
      <p:sp>
        <p:nvSpPr>
          <p:cNvPr id="4" name="Text 2"/>
          <p:cNvSpPr/>
          <p:nvPr/>
        </p:nvSpPr>
        <p:spPr>
          <a:xfrm>
            <a:off x="533400" y="766763"/>
            <a:ext cx="4448272"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The Order — Masters</a:t>
            </a:r>
            <a:endParaRPr lang="en-US" sz="3450" dirty="0"/>
          </a:p>
        </p:txBody>
      </p:sp>
      <p:sp>
        <p:nvSpPr>
          <p:cNvPr id="5" name="Shape 3"/>
          <p:cNvSpPr/>
          <p:nvPr/>
        </p:nvSpPr>
        <p:spPr>
          <a:xfrm>
            <a:off x="15966728" y="438150"/>
            <a:ext cx="1787872" cy="381000"/>
          </a:xfrm>
          <a:prstGeom prst="roundRect">
            <a:avLst>
              <a:gd name="adj" fmla="val 50000"/>
            </a:avLst>
          </a:prstGeom>
          <a:solidFill>
            <a:srgbClr val="F2ECDC"/>
          </a:solidFill>
          <a:ln w="9525">
            <a:solidFill>
              <a:srgbClr val="C2B79C"/>
            </a:solidFill>
            <a:prstDash val="solid"/>
          </a:ln>
        </p:spPr>
      </p:sp>
      <p:sp>
        <p:nvSpPr>
          <p:cNvPr id="6" name="Shape 4"/>
          <p:cNvSpPr/>
          <p:nvPr/>
        </p:nvSpPr>
        <p:spPr>
          <a:xfrm>
            <a:off x="16081028" y="533400"/>
            <a:ext cx="190500" cy="190500"/>
          </a:xfrm>
          <a:prstGeom prst="ellipse">
            <a:avLst/>
          </a:prstGeom>
          <a:solidFill>
            <a:srgbClr val="E7DFCC"/>
          </a:solidFill>
          <a:ln w="9525">
            <a:solidFill>
              <a:srgbClr val="FFFFFF">
                <a:alpha val="18000"/>
              </a:srgbClr>
            </a:solidFill>
            <a:prstDash val="solid"/>
          </a:ln>
        </p:spPr>
      </p:sp>
      <p:sp>
        <p:nvSpPr>
          <p:cNvPr id="7" name="Text 5"/>
          <p:cNvSpPr/>
          <p:nvPr/>
        </p:nvSpPr>
        <p:spPr>
          <a:xfrm>
            <a:off x="16366778" y="533400"/>
            <a:ext cx="1302097" cy="228600"/>
          </a:xfrm>
          <a:prstGeom prst="rect">
            <a:avLst/>
          </a:prstGeom>
          <a:noFill/>
          <a:ln/>
        </p:spPr>
        <p:txBody>
          <a:bodyPr wrap="none" lIns="0" tIns="0" rIns="0" bIns="0" rtlCol="0" anchor="t">
            <a:normAutofit/>
          </a:bodyPr>
          <a:lstStyle/>
          <a:p>
            <a:pPr algn="l" indent="0" marL="0">
              <a:buNone/>
            </a:pPr>
            <a:r>
              <a:rPr lang="en-US" sz="1125" spc="68" kern="0" dirty="0">
                <a:solidFill>
                  <a:srgbClr val="423A2C"/>
                </a:solidFill>
                <a:latin typeface="Courier New" pitchFamily="34" charset="0"/>
                <a:ea typeface="Courier New" pitchFamily="34" charset="-122"/>
                <a:cs typeface="Courier New" pitchFamily="34" charset="-120"/>
              </a:rPr>
              <a:t>Light · light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E7DFCC"/>
          </a:solidFill>
          <a:ln/>
        </p:spPr>
      </p:sp>
      <p:sp>
        <p:nvSpPr>
          <p:cNvPr id="10" name="Text 8"/>
          <p:cNvSpPr/>
          <p:nvPr/>
        </p:nvSpPr>
        <p:spPr>
          <a:xfrm>
            <a:off x="3524250" y="1995487"/>
            <a:ext cx="123634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7C1418"/>
                </a:solidFill>
                <a:latin typeface="Courier New" pitchFamily="34" charset="0"/>
                <a:ea typeface="Courier New" pitchFamily="34" charset="-122"/>
                <a:cs typeface="Courier New" pitchFamily="34" charset="-120"/>
              </a:rPr>
              <a:t>THE ORDER</a:t>
            </a:r>
            <a:endParaRPr lang="en-US" sz="900" dirty="0"/>
          </a:p>
        </p:txBody>
      </p:sp>
      <p:sp>
        <p:nvSpPr>
          <p:cNvPr id="11" name="Text 9"/>
          <p:cNvSpPr/>
          <p:nvPr/>
        </p:nvSpPr>
        <p:spPr>
          <a:xfrm>
            <a:off x="3524250" y="2257425"/>
            <a:ext cx="12363450" cy="647700"/>
          </a:xfrm>
          <a:prstGeom prst="rect">
            <a:avLst/>
          </a:prstGeom>
          <a:noFill/>
          <a:ln/>
        </p:spPr>
        <p:txBody>
          <a:bodyPr wrap="square" lIns="25400" tIns="25400" rIns="25400" bIns="25400" rtlCol="0" anchor="t">
            <a:normAutofit/>
          </a:bodyPr>
          <a:lstStyle/>
          <a:p>
            <a:pPr algn="l" indent="0" marL="0">
              <a:buNone/>
            </a:pPr>
            <a:r>
              <a:rPr lang="en-US" sz="4200" b="1" dirty="0">
                <a:solidFill>
                  <a:srgbClr val="1C1812"/>
                </a:solidFill>
                <a:latin typeface="Georgia" pitchFamily="34" charset="0"/>
                <a:ea typeface="Georgia" pitchFamily="34" charset="-122"/>
                <a:cs typeface="Georgia" pitchFamily="34" charset="-120"/>
              </a:rPr>
              <a:t>Masters of the Keep</a:t>
            </a:r>
            <a:endParaRPr lang="en-US" sz="4200" dirty="0"/>
          </a:p>
        </p:txBody>
      </p:sp>
      <p:sp>
        <p:nvSpPr>
          <p:cNvPr id="12" name="Text 10"/>
          <p:cNvSpPr/>
          <p:nvPr/>
        </p:nvSpPr>
        <p:spPr>
          <a:xfrm>
            <a:off x="3524250" y="2981325"/>
            <a:ext cx="4944618" cy="886644"/>
          </a:xfrm>
          <a:prstGeom prst="rect">
            <a:avLst/>
          </a:prstGeom>
          <a:noFill/>
          <a:ln/>
        </p:spPr>
        <p:txBody>
          <a:bodyPr wrap="square" lIns="25400" tIns="25400" rIns="25400" bIns="25400" rtlCol="0" anchor="t">
            <a:normAutofit/>
          </a:bodyPr>
          <a:lstStyle/>
          <a:p>
            <a:pPr algn="l" indent="0" marL="0">
              <a:lnSpc>
                <a:spcPct val="165000"/>
              </a:lnSpc>
              <a:buNone/>
            </a:pPr>
            <a:r>
              <a:rPr lang="en-US" sz="1350" dirty="0">
                <a:solidFill>
                  <a:srgbClr val="423A2C"/>
                </a:solidFill>
                <a:latin typeface="Georgia" pitchFamily="34" charset="0"/>
                <a:ea typeface="Georgia" pitchFamily="34" charset="-122"/>
                <a:cs typeface="Georgia" pitchFamily="34" charset="-120"/>
              </a:rPr>
              <a:t>The Order keeps the rite, authors the lore, and reads the chronicle of the whole saga. Each master runs a cabinet of cohorts and tables.</a:t>
            </a:r>
            <a:endParaRPr lang="en-US" sz="1350" dirty="0"/>
          </a:p>
        </p:txBody>
      </p:sp>
      <p:sp>
        <p:nvSpPr>
          <p:cNvPr id="13" name="Shape 11"/>
          <p:cNvSpPr/>
          <p:nvPr/>
        </p:nvSpPr>
        <p:spPr>
          <a:xfrm>
            <a:off x="3524250" y="4172769"/>
            <a:ext cx="5534025" cy="1123950"/>
          </a:xfrm>
          <a:prstGeom prst="roundRect">
            <a:avLst>
              <a:gd name="adj" fmla="val 4237"/>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14" name="Shape 12"/>
          <p:cNvSpPr/>
          <p:nvPr/>
        </p:nvSpPr>
        <p:spPr>
          <a:xfrm>
            <a:off x="3762375" y="4410894"/>
            <a:ext cx="647700" cy="647700"/>
          </a:xfrm>
          <a:prstGeom prst="ellipse">
            <a:avLst/>
          </a:prstGeom>
          <a:solidFill>
            <a:srgbClr val="F8F3E6"/>
          </a:solidFill>
          <a:ln w="19050">
            <a:solidFill>
              <a:srgbClr val="7C1418"/>
            </a:solidFill>
            <a:prstDash val="solid"/>
          </a:ln>
          <a:effectLst>
            <a:outerShdw sx="100000" sy="100000" kx="0" ky="0" algn="bl" rotWithShape="0" blurRad="19050" dist="9525" dir="5400000">
              <a:srgbClr val="000000">
                <a:alpha val="35000"/>
              </a:srgbClr>
            </a:outerShdw>
          </a:effectLst>
        </p:spPr>
      </p:sp>
      <p:sp>
        <p:nvSpPr>
          <p:cNvPr id="15" name="Text 13"/>
          <p:cNvSpPr/>
          <p:nvPr/>
        </p:nvSpPr>
        <p:spPr>
          <a:xfrm>
            <a:off x="3743325" y="4429944"/>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423A2C"/>
                </a:solidFill>
                <a:latin typeface="Georgia" pitchFamily="34" charset="0"/>
                <a:ea typeface="Georgia" pitchFamily="34" charset="-122"/>
                <a:cs typeface="Georgia" pitchFamily="34" charset="-120"/>
              </a:rPr>
              <a:t>VE</a:t>
            </a:r>
            <a:endParaRPr lang="en-US" sz="1950" dirty="0"/>
          </a:p>
        </p:txBody>
      </p:sp>
      <p:sp>
        <p:nvSpPr>
          <p:cNvPr id="16" name="Text 14"/>
          <p:cNvSpPr/>
          <p:nvPr/>
        </p:nvSpPr>
        <p:spPr>
          <a:xfrm>
            <a:off x="4562475" y="4537100"/>
            <a:ext cx="3823387"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1C1812"/>
                </a:solidFill>
                <a:latin typeface="Georgia" pitchFamily="34" charset="0"/>
                <a:ea typeface="Georgia" pitchFamily="34" charset="-122"/>
                <a:cs typeface="Georgia" pitchFamily="34" charset="-120"/>
              </a:rPr>
              <a:t>Vök Eldgrim</a:t>
            </a:r>
            <a:endParaRPr lang="en-US" sz="1575" dirty="0"/>
          </a:p>
        </p:txBody>
      </p:sp>
      <p:sp>
        <p:nvSpPr>
          <p:cNvPr id="17" name="Text 15"/>
          <p:cNvSpPr/>
          <p:nvPr/>
        </p:nvSpPr>
        <p:spPr>
          <a:xfrm>
            <a:off x="4562475" y="4765700"/>
            <a:ext cx="3823387" cy="204787"/>
          </a:xfrm>
          <a:prstGeom prst="rect">
            <a:avLst/>
          </a:prstGeom>
          <a:noFill/>
          <a:ln/>
        </p:spPr>
        <p:txBody>
          <a:bodyPr wrap="square" lIns="25400" tIns="25400" rIns="25400" bIns="25400" rtlCol="0" anchor="t">
            <a:normAutofit/>
          </a:bodyPr>
          <a:lstStyle/>
          <a:p>
            <a:pPr algn="l" indent="0" marL="0">
              <a:buNone/>
            </a:pPr>
            <a:r>
              <a:rPr lang="en-US" sz="1125" i="1" dirty="0">
                <a:solidFill>
                  <a:srgbClr val="756B57"/>
                </a:solidFill>
                <a:latin typeface="Georgia" pitchFamily="34" charset="0"/>
                <a:ea typeface="Georgia" pitchFamily="34" charset="-122"/>
                <a:cs typeface="Georgia" pitchFamily="34" charset="-120"/>
              </a:rPr>
              <a:t>Master of the Threshold</a:t>
            </a:r>
            <a:endParaRPr lang="en-US" sz="1125" dirty="0"/>
          </a:p>
        </p:txBody>
      </p:sp>
      <p:sp>
        <p:nvSpPr>
          <p:cNvPr id="18" name="Shape 16"/>
          <p:cNvSpPr/>
          <p:nvPr/>
        </p:nvSpPr>
        <p:spPr>
          <a:xfrm>
            <a:off x="8190681" y="4626173"/>
            <a:ext cx="629469" cy="217140"/>
          </a:xfrm>
          <a:prstGeom prst="roundRect">
            <a:avLst>
              <a:gd name="adj" fmla="val 50000"/>
            </a:avLst>
          </a:prstGeom>
          <a:ln w="9525">
            <a:solidFill>
              <a:srgbClr val="8A6322"/>
            </a:solidFill>
            <a:prstDash val="solid"/>
          </a:ln>
        </p:spPr>
      </p:sp>
      <p:sp>
        <p:nvSpPr>
          <p:cNvPr id="19" name="Text 17"/>
          <p:cNvSpPr/>
          <p:nvPr/>
        </p:nvSpPr>
        <p:spPr>
          <a:xfrm>
            <a:off x="8285931" y="465474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8A6322"/>
                </a:solidFill>
                <a:latin typeface="Courier New" pitchFamily="34" charset="0"/>
                <a:ea typeface="Courier New" pitchFamily="34" charset="-122"/>
                <a:cs typeface="Courier New" pitchFamily="34" charset="-120"/>
              </a:rPr>
              <a:t>MASTER</a:t>
            </a:r>
            <a:endParaRPr lang="en-US" sz="900" dirty="0"/>
          </a:p>
        </p:txBody>
      </p:sp>
      <p:sp>
        <p:nvSpPr>
          <p:cNvPr id="20" name="Shape 18"/>
          <p:cNvSpPr/>
          <p:nvPr/>
        </p:nvSpPr>
        <p:spPr>
          <a:xfrm>
            <a:off x="9229725" y="4172769"/>
            <a:ext cx="5534025" cy="1123950"/>
          </a:xfrm>
          <a:prstGeom prst="roundRect">
            <a:avLst>
              <a:gd name="adj" fmla="val 4237"/>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21" name="Shape 19"/>
          <p:cNvSpPr/>
          <p:nvPr/>
        </p:nvSpPr>
        <p:spPr>
          <a:xfrm>
            <a:off x="9467850" y="4410894"/>
            <a:ext cx="647700" cy="647700"/>
          </a:xfrm>
          <a:prstGeom prst="ellipse">
            <a:avLst/>
          </a:prstGeom>
          <a:solidFill>
            <a:srgbClr val="F8F3E6"/>
          </a:solidFill>
          <a:ln w="19050">
            <a:solidFill>
              <a:srgbClr val="7C1418"/>
            </a:solidFill>
            <a:prstDash val="solid"/>
          </a:ln>
          <a:effectLst>
            <a:outerShdw sx="100000" sy="100000" kx="0" ky="0" algn="bl" rotWithShape="0" blurRad="19050" dist="9525" dir="5400000">
              <a:srgbClr val="000000">
                <a:alpha val="35000"/>
              </a:srgbClr>
            </a:outerShdw>
          </a:effectLst>
        </p:spPr>
      </p:sp>
      <p:sp>
        <p:nvSpPr>
          <p:cNvPr id="22" name="Text 20"/>
          <p:cNvSpPr/>
          <p:nvPr/>
        </p:nvSpPr>
        <p:spPr>
          <a:xfrm>
            <a:off x="9448800" y="4429944"/>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423A2C"/>
                </a:solidFill>
                <a:latin typeface="Georgia" pitchFamily="34" charset="0"/>
                <a:ea typeface="Georgia" pitchFamily="34" charset="-122"/>
                <a:cs typeface="Georgia" pitchFamily="34" charset="-120"/>
              </a:rPr>
              <a:t>SA</a:t>
            </a:r>
            <a:endParaRPr lang="en-US" sz="1950" dirty="0"/>
          </a:p>
        </p:txBody>
      </p:sp>
      <p:sp>
        <p:nvSpPr>
          <p:cNvPr id="23" name="Text 21"/>
          <p:cNvSpPr/>
          <p:nvPr/>
        </p:nvSpPr>
        <p:spPr>
          <a:xfrm>
            <a:off x="10267950" y="4537100"/>
            <a:ext cx="3823387"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1C1812"/>
                </a:solidFill>
                <a:latin typeface="Georgia" pitchFamily="34" charset="0"/>
                <a:ea typeface="Georgia" pitchFamily="34" charset="-122"/>
                <a:cs typeface="Georgia" pitchFamily="34" charset="-120"/>
              </a:rPr>
              <a:t>Sieglinde Ash</a:t>
            </a:r>
            <a:endParaRPr lang="en-US" sz="1575" dirty="0"/>
          </a:p>
        </p:txBody>
      </p:sp>
      <p:sp>
        <p:nvSpPr>
          <p:cNvPr id="24" name="Text 22"/>
          <p:cNvSpPr/>
          <p:nvPr/>
        </p:nvSpPr>
        <p:spPr>
          <a:xfrm>
            <a:off x="10267950" y="4765700"/>
            <a:ext cx="3823387" cy="204787"/>
          </a:xfrm>
          <a:prstGeom prst="rect">
            <a:avLst/>
          </a:prstGeom>
          <a:noFill/>
          <a:ln/>
        </p:spPr>
        <p:txBody>
          <a:bodyPr wrap="square" lIns="25400" tIns="25400" rIns="25400" bIns="25400" rtlCol="0" anchor="t">
            <a:normAutofit/>
          </a:bodyPr>
          <a:lstStyle/>
          <a:p>
            <a:pPr algn="l" indent="0" marL="0">
              <a:buNone/>
            </a:pPr>
            <a:r>
              <a:rPr lang="en-US" sz="1125" i="1" dirty="0">
                <a:solidFill>
                  <a:srgbClr val="756B57"/>
                </a:solidFill>
                <a:latin typeface="Georgia" pitchFamily="34" charset="0"/>
                <a:ea typeface="Georgia" pitchFamily="34" charset="-122"/>
                <a:cs typeface="Georgia" pitchFamily="34" charset="-120"/>
              </a:rPr>
              <a:t>Keeper of the Ledger</a:t>
            </a:r>
            <a:endParaRPr lang="en-US" sz="1125" dirty="0"/>
          </a:p>
        </p:txBody>
      </p:sp>
      <p:sp>
        <p:nvSpPr>
          <p:cNvPr id="25" name="Shape 23"/>
          <p:cNvSpPr/>
          <p:nvPr/>
        </p:nvSpPr>
        <p:spPr>
          <a:xfrm>
            <a:off x="13896156" y="4626173"/>
            <a:ext cx="629469" cy="217140"/>
          </a:xfrm>
          <a:prstGeom prst="roundRect">
            <a:avLst>
              <a:gd name="adj" fmla="val 50000"/>
            </a:avLst>
          </a:prstGeom>
          <a:ln w="9525">
            <a:solidFill>
              <a:srgbClr val="8A6322"/>
            </a:solidFill>
            <a:prstDash val="solid"/>
          </a:ln>
        </p:spPr>
      </p:sp>
      <p:sp>
        <p:nvSpPr>
          <p:cNvPr id="26" name="Text 24"/>
          <p:cNvSpPr/>
          <p:nvPr/>
        </p:nvSpPr>
        <p:spPr>
          <a:xfrm>
            <a:off x="13991406" y="465474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8A6322"/>
                </a:solidFill>
                <a:latin typeface="Courier New" pitchFamily="34" charset="0"/>
                <a:ea typeface="Courier New" pitchFamily="34" charset="-122"/>
                <a:cs typeface="Courier New" pitchFamily="34" charset="-120"/>
              </a:rPr>
              <a:t>MASTER</a:t>
            </a:r>
            <a:endParaRPr lang="en-US" sz="900" dirty="0"/>
          </a:p>
        </p:txBody>
      </p:sp>
      <p:sp>
        <p:nvSpPr>
          <p:cNvPr id="27" name="Shape 25"/>
          <p:cNvSpPr/>
          <p:nvPr/>
        </p:nvSpPr>
        <p:spPr>
          <a:xfrm>
            <a:off x="3524250" y="5468169"/>
            <a:ext cx="5534025" cy="1123950"/>
          </a:xfrm>
          <a:prstGeom prst="roundRect">
            <a:avLst>
              <a:gd name="adj" fmla="val 4237"/>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28" name="Shape 26"/>
          <p:cNvSpPr/>
          <p:nvPr/>
        </p:nvSpPr>
        <p:spPr>
          <a:xfrm>
            <a:off x="3762375" y="5706294"/>
            <a:ext cx="647700" cy="647700"/>
          </a:xfrm>
          <a:prstGeom prst="ellipse">
            <a:avLst/>
          </a:prstGeom>
          <a:solidFill>
            <a:srgbClr val="F8F3E6"/>
          </a:solidFill>
          <a:ln w="19050">
            <a:solidFill>
              <a:srgbClr val="7C1418"/>
            </a:solidFill>
            <a:prstDash val="solid"/>
          </a:ln>
          <a:effectLst>
            <a:outerShdw sx="100000" sy="100000" kx="0" ky="0" algn="bl" rotWithShape="0" blurRad="19050" dist="9525" dir="5400000">
              <a:srgbClr val="000000">
                <a:alpha val="35000"/>
              </a:srgbClr>
            </a:outerShdw>
          </a:effectLst>
        </p:spPr>
      </p:sp>
      <p:sp>
        <p:nvSpPr>
          <p:cNvPr id="29" name="Text 27"/>
          <p:cNvSpPr/>
          <p:nvPr/>
        </p:nvSpPr>
        <p:spPr>
          <a:xfrm>
            <a:off x="3743325" y="5725344"/>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423A2C"/>
                </a:solidFill>
                <a:latin typeface="Georgia" pitchFamily="34" charset="0"/>
                <a:ea typeface="Georgia" pitchFamily="34" charset="-122"/>
                <a:cs typeface="Georgia" pitchFamily="34" charset="-120"/>
              </a:rPr>
              <a:t>DC</a:t>
            </a:r>
            <a:endParaRPr lang="en-US" sz="1950" dirty="0"/>
          </a:p>
        </p:txBody>
      </p:sp>
      <p:sp>
        <p:nvSpPr>
          <p:cNvPr id="30" name="Text 28"/>
          <p:cNvSpPr/>
          <p:nvPr/>
        </p:nvSpPr>
        <p:spPr>
          <a:xfrm>
            <a:off x="4562475" y="5832500"/>
            <a:ext cx="3823387"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1C1812"/>
                </a:solidFill>
                <a:latin typeface="Georgia" pitchFamily="34" charset="0"/>
                <a:ea typeface="Georgia" pitchFamily="34" charset="-122"/>
                <a:cs typeface="Georgia" pitchFamily="34" charset="-120"/>
              </a:rPr>
              <a:t>Dragomir Crow</a:t>
            </a:r>
            <a:endParaRPr lang="en-US" sz="1575" dirty="0"/>
          </a:p>
        </p:txBody>
      </p:sp>
      <p:sp>
        <p:nvSpPr>
          <p:cNvPr id="31" name="Text 29"/>
          <p:cNvSpPr/>
          <p:nvPr/>
        </p:nvSpPr>
        <p:spPr>
          <a:xfrm>
            <a:off x="4562475" y="6061100"/>
            <a:ext cx="3823387" cy="204787"/>
          </a:xfrm>
          <a:prstGeom prst="rect">
            <a:avLst/>
          </a:prstGeom>
          <a:noFill/>
          <a:ln/>
        </p:spPr>
        <p:txBody>
          <a:bodyPr wrap="square" lIns="25400" tIns="25400" rIns="25400" bIns="25400" rtlCol="0" anchor="t">
            <a:normAutofit/>
          </a:bodyPr>
          <a:lstStyle/>
          <a:p>
            <a:pPr algn="l" indent="0" marL="0">
              <a:buNone/>
            </a:pPr>
            <a:r>
              <a:rPr lang="en-US" sz="1125" i="1" dirty="0">
                <a:solidFill>
                  <a:srgbClr val="756B57"/>
                </a:solidFill>
                <a:latin typeface="Georgia" pitchFamily="34" charset="0"/>
                <a:ea typeface="Georgia" pitchFamily="34" charset="-122"/>
                <a:cs typeface="Georgia" pitchFamily="34" charset="-120"/>
              </a:rPr>
              <a:t>Master of the Rite</a:t>
            </a:r>
            <a:endParaRPr lang="en-US" sz="1125" dirty="0"/>
          </a:p>
        </p:txBody>
      </p:sp>
      <p:sp>
        <p:nvSpPr>
          <p:cNvPr id="32" name="Shape 30"/>
          <p:cNvSpPr/>
          <p:nvPr/>
        </p:nvSpPr>
        <p:spPr>
          <a:xfrm>
            <a:off x="8190681" y="5921573"/>
            <a:ext cx="629469" cy="217140"/>
          </a:xfrm>
          <a:prstGeom prst="roundRect">
            <a:avLst>
              <a:gd name="adj" fmla="val 50000"/>
            </a:avLst>
          </a:prstGeom>
          <a:ln w="9525">
            <a:solidFill>
              <a:srgbClr val="8A6322"/>
            </a:solidFill>
            <a:prstDash val="solid"/>
          </a:ln>
        </p:spPr>
      </p:sp>
      <p:sp>
        <p:nvSpPr>
          <p:cNvPr id="33" name="Text 31"/>
          <p:cNvSpPr/>
          <p:nvPr/>
        </p:nvSpPr>
        <p:spPr>
          <a:xfrm>
            <a:off x="8285931" y="595014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8A6322"/>
                </a:solidFill>
                <a:latin typeface="Courier New" pitchFamily="34" charset="0"/>
                <a:ea typeface="Courier New" pitchFamily="34" charset="-122"/>
                <a:cs typeface="Courier New" pitchFamily="34" charset="-120"/>
              </a:rPr>
              <a:t>MASTER</a:t>
            </a:r>
            <a:endParaRPr lang="en-US" sz="900" dirty="0"/>
          </a:p>
        </p:txBody>
      </p:sp>
      <p:sp>
        <p:nvSpPr>
          <p:cNvPr id="34" name="Shape 32"/>
          <p:cNvSpPr/>
          <p:nvPr/>
        </p:nvSpPr>
        <p:spPr>
          <a:xfrm>
            <a:off x="9229725" y="5468169"/>
            <a:ext cx="5534025" cy="1123950"/>
          </a:xfrm>
          <a:prstGeom prst="roundRect">
            <a:avLst>
              <a:gd name="adj" fmla="val 4237"/>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35" name="Shape 33"/>
          <p:cNvSpPr/>
          <p:nvPr/>
        </p:nvSpPr>
        <p:spPr>
          <a:xfrm>
            <a:off x="9467850" y="5706294"/>
            <a:ext cx="647700" cy="647700"/>
          </a:xfrm>
          <a:prstGeom prst="ellipse">
            <a:avLst/>
          </a:prstGeom>
          <a:solidFill>
            <a:srgbClr val="F8F3E6"/>
          </a:solidFill>
          <a:ln w="19050">
            <a:solidFill>
              <a:srgbClr val="7C1418"/>
            </a:solidFill>
            <a:prstDash val="solid"/>
          </a:ln>
          <a:effectLst>
            <a:outerShdw sx="100000" sy="100000" kx="0" ky="0" algn="bl" rotWithShape="0" blurRad="19050" dist="9525" dir="5400000">
              <a:srgbClr val="000000">
                <a:alpha val="35000"/>
              </a:srgbClr>
            </a:outerShdw>
          </a:effectLst>
        </p:spPr>
      </p:sp>
      <p:sp>
        <p:nvSpPr>
          <p:cNvPr id="36" name="Text 34"/>
          <p:cNvSpPr/>
          <p:nvPr/>
        </p:nvSpPr>
        <p:spPr>
          <a:xfrm>
            <a:off x="9448800" y="5725344"/>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423A2C"/>
                </a:solidFill>
                <a:latin typeface="Georgia" pitchFamily="34" charset="0"/>
                <a:ea typeface="Georgia" pitchFamily="34" charset="-122"/>
                <a:cs typeface="Georgia" pitchFamily="34" charset="-120"/>
              </a:rPr>
              <a:t>HS</a:t>
            </a:r>
            <a:endParaRPr lang="en-US" sz="1950" dirty="0"/>
          </a:p>
        </p:txBody>
      </p:sp>
      <p:sp>
        <p:nvSpPr>
          <p:cNvPr id="37" name="Text 35"/>
          <p:cNvSpPr/>
          <p:nvPr/>
        </p:nvSpPr>
        <p:spPr>
          <a:xfrm>
            <a:off x="10267950" y="5832500"/>
            <a:ext cx="3823387"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1C1812"/>
                </a:solidFill>
                <a:latin typeface="Georgia" pitchFamily="34" charset="0"/>
                <a:ea typeface="Georgia" pitchFamily="34" charset="-122"/>
                <a:cs typeface="Georgia" pitchFamily="34" charset="-120"/>
              </a:rPr>
              <a:t>Hervör Salt</a:t>
            </a:r>
            <a:endParaRPr lang="en-US" sz="1575" dirty="0"/>
          </a:p>
        </p:txBody>
      </p:sp>
      <p:sp>
        <p:nvSpPr>
          <p:cNvPr id="38" name="Text 36"/>
          <p:cNvSpPr/>
          <p:nvPr/>
        </p:nvSpPr>
        <p:spPr>
          <a:xfrm>
            <a:off x="10267950" y="6061100"/>
            <a:ext cx="3823387" cy="204787"/>
          </a:xfrm>
          <a:prstGeom prst="rect">
            <a:avLst/>
          </a:prstGeom>
          <a:noFill/>
          <a:ln/>
        </p:spPr>
        <p:txBody>
          <a:bodyPr wrap="square" lIns="25400" tIns="25400" rIns="25400" bIns="25400" rtlCol="0" anchor="t">
            <a:normAutofit/>
          </a:bodyPr>
          <a:lstStyle/>
          <a:p>
            <a:pPr algn="l" indent="0" marL="0">
              <a:buNone/>
            </a:pPr>
            <a:r>
              <a:rPr lang="en-US" sz="1125" i="1" dirty="0">
                <a:solidFill>
                  <a:srgbClr val="756B57"/>
                </a:solidFill>
                <a:latin typeface="Georgia" pitchFamily="34" charset="0"/>
                <a:ea typeface="Georgia" pitchFamily="34" charset="-122"/>
                <a:cs typeface="Georgia" pitchFamily="34" charset="-120"/>
              </a:rPr>
              <a:t>Mistress of the Dark</a:t>
            </a:r>
            <a:endParaRPr lang="en-US" sz="1125" dirty="0"/>
          </a:p>
        </p:txBody>
      </p:sp>
      <p:sp>
        <p:nvSpPr>
          <p:cNvPr id="39" name="Shape 37"/>
          <p:cNvSpPr/>
          <p:nvPr/>
        </p:nvSpPr>
        <p:spPr>
          <a:xfrm>
            <a:off x="13896156" y="5921573"/>
            <a:ext cx="629469" cy="217140"/>
          </a:xfrm>
          <a:prstGeom prst="roundRect">
            <a:avLst>
              <a:gd name="adj" fmla="val 50000"/>
            </a:avLst>
          </a:prstGeom>
          <a:ln w="9525">
            <a:solidFill>
              <a:srgbClr val="8A6322"/>
            </a:solidFill>
            <a:prstDash val="solid"/>
          </a:ln>
        </p:spPr>
      </p:sp>
      <p:sp>
        <p:nvSpPr>
          <p:cNvPr id="40" name="Text 38"/>
          <p:cNvSpPr/>
          <p:nvPr/>
        </p:nvSpPr>
        <p:spPr>
          <a:xfrm>
            <a:off x="13991406" y="595014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8A6322"/>
                </a:solidFill>
                <a:latin typeface="Courier New" pitchFamily="34" charset="0"/>
                <a:ea typeface="Courier New" pitchFamily="34" charset="-122"/>
                <a:cs typeface="Courier New" pitchFamily="34" charset="-120"/>
              </a:rPr>
              <a:t>MASTER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3216838"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LARP · PLAYER CABINET</a:t>
            </a:r>
            <a:endParaRPr lang="en-US" sz="1275" dirty="0"/>
          </a:p>
        </p:txBody>
      </p:sp>
      <p:sp>
        <p:nvSpPr>
          <p:cNvPr id="4" name="Text 2"/>
          <p:cNvSpPr/>
          <p:nvPr/>
        </p:nvSpPr>
        <p:spPr>
          <a:xfrm>
            <a:off x="533400" y="766763"/>
            <a:ext cx="3216838"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Cohort Roster</a:t>
            </a:r>
            <a:endParaRPr lang="en-US" sz="3450" dirty="0"/>
          </a:p>
        </p:txBody>
      </p:sp>
      <p:sp>
        <p:nvSpPr>
          <p:cNvPr id="5" name="Shape 3"/>
          <p:cNvSpPr/>
          <p:nvPr/>
        </p:nvSpPr>
        <p:spPr>
          <a:xfrm>
            <a:off x="16155293" y="438150"/>
            <a:ext cx="1599307" cy="381000"/>
          </a:xfrm>
          <a:prstGeom prst="roundRect">
            <a:avLst>
              <a:gd name="adj" fmla="val 50000"/>
            </a:avLst>
          </a:prstGeom>
          <a:solidFill>
            <a:srgbClr val="16151D"/>
          </a:solidFill>
          <a:ln w="9525">
            <a:solidFill>
              <a:srgbClr val="35343F"/>
            </a:solidFill>
            <a:prstDash val="solid"/>
          </a:ln>
        </p:spPr>
      </p:sp>
      <p:sp>
        <p:nvSpPr>
          <p:cNvPr id="6" name="Shape 4"/>
          <p:cNvSpPr/>
          <p:nvPr/>
        </p:nvSpPr>
        <p:spPr>
          <a:xfrm>
            <a:off x="16269593" y="533400"/>
            <a:ext cx="190500" cy="190500"/>
          </a:xfrm>
          <a:prstGeom prst="ellipse">
            <a:avLst/>
          </a:prstGeom>
          <a:solidFill>
            <a:srgbClr val="0B0A0F"/>
          </a:solidFill>
          <a:ln w="9525">
            <a:solidFill>
              <a:srgbClr val="FFFFFF">
                <a:alpha val="18000"/>
              </a:srgbClr>
            </a:solidFill>
            <a:prstDash val="solid"/>
          </a:ln>
        </p:spPr>
      </p:sp>
      <p:sp>
        <p:nvSpPr>
          <p:cNvPr id="7" name="Text 5"/>
          <p:cNvSpPr/>
          <p:nvPr/>
        </p:nvSpPr>
        <p:spPr>
          <a:xfrm>
            <a:off x="16555343" y="533400"/>
            <a:ext cx="1113532" cy="228600"/>
          </a:xfrm>
          <a:prstGeom prst="rect">
            <a:avLst/>
          </a:prstGeom>
          <a:noFill/>
          <a:ln/>
        </p:spPr>
        <p:txBody>
          <a:bodyPr wrap="none" lIns="0" tIns="0" rIns="0" bIns="0" rtlCol="0" anchor="t">
            <a:normAutofit/>
          </a:bodyPr>
          <a:lstStyle/>
          <a:p>
            <a:pPr algn="l" indent="0" marL="0">
              <a:buNone/>
            </a:pPr>
            <a:r>
              <a:rPr lang="en-US" sz="1125" spc="68" kern="0" dirty="0">
                <a:solidFill>
                  <a:srgbClr val="C5BDA6"/>
                </a:solidFill>
                <a:latin typeface="Courier New" pitchFamily="34" charset="0"/>
                <a:ea typeface="Courier New" pitchFamily="34" charset="-122"/>
                <a:cs typeface="Courier New" pitchFamily="34" charset="-120"/>
              </a:rPr>
              <a:t>Dark · dark</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B0A0F"/>
          </a:solidFill>
          <a:ln/>
        </p:spPr>
      </p:sp>
      <p:sp>
        <p:nvSpPr>
          <p:cNvPr id="10" name="Shape 8"/>
          <p:cNvSpPr/>
          <p:nvPr/>
        </p:nvSpPr>
        <p:spPr>
          <a:xfrm>
            <a:off x="542925" y="1462088"/>
            <a:ext cx="2219325" cy="8320088"/>
          </a:xfrm>
          <a:prstGeom prst="rect">
            <a:avLst/>
          </a:prstGeom>
          <a:solidFill>
            <a:srgbClr val="100F15"/>
          </a:solidFill>
          <a:ln/>
        </p:spPr>
      </p:sp>
      <p:sp>
        <p:nvSpPr>
          <p:cNvPr id="11" name="Shape 9"/>
          <p:cNvSpPr/>
          <p:nvPr/>
        </p:nvSpPr>
        <p:spPr>
          <a:xfrm>
            <a:off x="2752725" y="1462088"/>
            <a:ext cx="9525" cy="8320088"/>
          </a:xfrm>
          <a:prstGeom prst="rect">
            <a:avLst/>
          </a:prstGeom>
          <a:solidFill>
            <a:srgbClr val="2A2933"/>
          </a:solidFill>
          <a:ln/>
        </p:spPr>
      </p:sp>
      <p:sp>
        <p:nvSpPr>
          <p:cNvPr id="12" name="Shape 10"/>
          <p:cNvSpPr/>
          <p:nvPr/>
        </p:nvSpPr>
        <p:spPr>
          <a:xfrm>
            <a:off x="542925" y="2071688"/>
            <a:ext cx="2209800" cy="9525"/>
          </a:xfrm>
          <a:prstGeom prst="rect">
            <a:avLst/>
          </a:prstGeom>
          <a:solidFill>
            <a:srgbClr val="2A2933"/>
          </a:solidFill>
          <a:ln/>
        </p:spPr>
      </p:sp>
      <p:sp>
        <p:nvSpPr>
          <p:cNvPr id="13" name="Text 11"/>
          <p:cNvSpPr/>
          <p:nvPr/>
        </p:nvSpPr>
        <p:spPr>
          <a:xfrm>
            <a:off x="733425" y="1671638"/>
            <a:ext cx="277564"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DB4A3F"/>
                </a:solidFill>
                <a:latin typeface="Georgia" pitchFamily="34" charset="0"/>
                <a:ea typeface="Georgia" pitchFamily="34" charset="-122"/>
                <a:cs typeface="Georgia" pitchFamily="34" charset="-120"/>
              </a:rPr>
              <a:t>ᛏ</a:t>
            </a:r>
            <a:endParaRPr lang="en-US" sz="1350" dirty="0"/>
          </a:p>
        </p:txBody>
      </p:sp>
      <p:sp>
        <p:nvSpPr>
          <p:cNvPr id="14" name="Text 12"/>
          <p:cNvSpPr/>
          <p:nvPr/>
        </p:nvSpPr>
        <p:spPr>
          <a:xfrm>
            <a:off x="1030039" y="1700213"/>
            <a:ext cx="799430" cy="20955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ECE6D6"/>
                </a:solidFill>
                <a:latin typeface="Georgia" pitchFamily="34" charset="0"/>
                <a:ea typeface="Georgia" pitchFamily="34" charset="-122"/>
                <a:cs typeface="Georgia" pitchFamily="34" charset="-120"/>
              </a:rPr>
              <a:t>CABINET</a:t>
            </a:r>
            <a:endParaRPr lang="en-US" sz="1200" dirty="0"/>
          </a:p>
        </p:txBody>
      </p:sp>
      <p:sp>
        <p:nvSpPr>
          <p:cNvPr id="15" name="Shape 13"/>
          <p:cNvSpPr/>
          <p:nvPr/>
        </p:nvSpPr>
        <p:spPr>
          <a:xfrm>
            <a:off x="657225" y="2195513"/>
            <a:ext cx="1981200" cy="409575"/>
          </a:xfrm>
          <a:prstGeom prst="roundRect">
            <a:avLst>
              <a:gd name="adj" fmla="val 6977"/>
            </a:avLst>
          </a:prstGeom>
          <a:solidFill>
            <a:srgbClr val="1C1B24"/>
          </a:solidFill>
          <a:ln/>
        </p:spPr>
      </p:sp>
      <p:sp>
        <p:nvSpPr>
          <p:cNvPr id="16" name="Shape 14"/>
          <p:cNvSpPr/>
          <p:nvPr/>
        </p:nvSpPr>
        <p:spPr>
          <a:xfrm>
            <a:off x="657225" y="2195513"/>
            <a:ext cx="19050" cy="409575"/>
          </a:xfrm>
          <a:prstGeom prst="rect">
            <a:avLst/>
          </a:prstGeom>
          <a:solidFill>
            <a:srgbClr val="9B1C1C"/>
          </a:solidFill>
          <a:ln/>
        </p:spPr>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8" name="Text 15"/>
          <p:cNvSpPr/>
          <p:nvPr/>
        </p:nvSpPr>
        <p:spPr>
          <a:xfrm>
            <a:off x="1057275" y="2290763"/>
            <a:ext cx="524694" cy="257175"/>
          </a:xfrm>
          <a:prstGeom prst="rect">
            <a:avLst/>
          </a:prstGeom>
          <a:noFill/>
          <a:ln/>
        </p:spPr>
        <p:txBody>
          <a:bodyPr wrap="square" lIns="0" tIns="0" rIns="0" bIns="0" rtlCol="0" anchor="t">
            <a:normAutofit/>
          </a:bodyPr>
          <a:lstStyle/>
          <a:p>
            <a:pPr algn="l" indent="0" marL="0">
              <a:buNone/>
            </a:pPr>
            <a:r>
              <a:rPr lang="en-US" sz="1125" dirty="0">
                <a:solidFill>
                  <a:srgbClr val="ECE6D6"/>
                </a:solidFill>
                <a:latin typeface="Georgia" pitchFamily="34" charset="0"/>
                <a:ea typeface="Georgia" pitchFamily="34" charset="-122"/>
                <a:cs typeface="Georgia" pitchFamily="34" charset="-120"/>
              </a:rPr>
              <a:t>Cohort</a:t>
            </a:r>
            <a:endParaRPr lang="en-US" sz="1125" dirty="0"/>
          </a:p>
        </p:txBody>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20" name="Text 16"/>
          <p:cNvSpPr/>
          <p:nvPr/>
        </p:nvSpPr>
        <p:spPr>
          <a:xfrm>
            <a:off x="1057275" y="2719388"/>
            <a:ext cx="705148" cy="257175"/>
          </a:xfrm>
          <a:prstGeom prst="rect">
            <a:avLst/>
          </a:prstGeom>
          <a:noFill/>
          <a:ln/>
        </p:spPr>
        <p:txBody>
          <a:bodyPr wrap="square" lIns="0" tIns="0" rIns="0" bIns="0" rtlCol="0" anchor="t">
            <a:normAutofit/>
          </a:bodyPr>
          <a:lstStyle/>
          <a:p>
            <a:pPr algn="l" indent="0" marL="0">
              <a:buNone/>
            </a:pPr>
            <a:r>
              <a:rPr lang="en-US" sz="1125" dirty="0">
                <a:solidFill>
                  <a:srgbClr val="837B66"/>
                </a:solidFill>
                <a:latin typeface="Georgia" pitchFamily="34" charset="0"/>
                <a:ea typeface="Georgia" pitchFamily="34" charset="-122"/>
                <a:cs typeface="Georgia" pitchFamily="34" charset="-120"/>
              </a:rPr>
              <a:t>Character</a:t>
            </a:r>
            <a:endParaRPr lang="en-US" sz="1125" dirty="0"/>
          </a:p>
        </p:txBody>
      </p:sp>
      <p:sp>
        <p:nvSpPr>
          <p:cNvPr id="21" name="Shape 17"/>
          <p:cNvSpPr/>
          <p:nvPr/>
        </p:nvSpPr>
        <p:spPr>
          <a:xfrm>
            <a:off x="542925" y="9144000"/>
            <a:ext cx="2209800" cy="9525"/>
          </a:xfrm>
          <a:prstGeom prst="rect">
            <a:avLst/>
          </a:prstGeom>
          <a:solidFill>
            <a:srgbClr val="2A2933"/>
          </a:solidFill>
          <a:ln/>
        </p:spPr>
      </p:sp>
      <p:sp>
        <p:nvSpPr>
          <p:cNvPr id="22" name="Shape 18"/>
          <p:cNvSpPr/>
          <p:nvPr/>
        </p:nvSpPr>
        <p:spPr>
          <a:xfrm>
            <a:off x="695325" y="9305925"/>
            <a:ext cx="323850" cy="323850"/>
          </a:xfrm>
          <a:prstGeom prst="ellipse">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23" name="Text 19"/>
          <p:cNvSpPr/>
          <p:nvPr/>
        </p:nvSpPr>
        <p:spPr>
          <a:xfrm>
            <a:off x="666750" y="931545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C5BDA6"/>
                </a:solidFill>
                <a:latin typeface="Georgia" pitchFamily="34" charset="0"/>
                <a:ea typeface="Georgia" pitchFamily="34" charset="-122"/>
                <a:cs typeface="Georgia" pitchFamily="34" charset="-120"/>
              </a:rPr>
              <a:t>IV</a:t>
            </a:r>
            <a:endParaRPr lang="en-US" sz="975" dirty="0"/>
          </a:p>
        </p:txBody>
      </p:sp>
      <p:sp>
        <p:nvSpPr>
          <p:cNvPr id="24" name="Shape 20"/>
          <p:cNvSpPr/>
          <p:nvPr/>
        </p:nvSpPr>
        <p:spPr>
          <a:xfrm>
            <a:off x="911423" y="9522023"/>
            <a:ext cx="117277" cy="117277"/>
          </a:xfrm>
          <a:prstGeom prst="ellipse">
            <a:avLst/>
          </a:prstGeom>
          <a:solidFill>
            <a:srgbClr val="B5601F"/>
          </a:solidFill>
          <a:ln w="19050">
            <a:solidFill>
              <a:srgbClr val="16151D"/>
            </a:solidFill>
            <a:prstDash val="solid"/>
          </a:ln>
        </p:spPr>
      </p:sp>
      <p:sp>
        <p:nvSpPr>
          <p:cNvPr id="25" name="Text 21"/>
          <p:cNvSpPr/>
          <p:nvPr/>
        </p:nvSpPr>
        <p:spPr>
          <a:xfrm>
            <a:off x="1133475" y="9322594"/>
            <a:ext cx="1144935"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ECE6D6"/>
                </a:solidFill>
                <a:latin typeface="Georgia" pitchFamily="34" charset="0"/>
                <a:ea typeface="Georgia" pitchFamily="34" charset="-122"/>
                <a:cs typeface="Georgia" pitchFamily="34" charset="-120"/>
              </a:rPr>
              <a:t>Ivar Holm</a:t>
            </a:r>
            <a:endParaRPr lang="en-US" sz="1050" dirty="0"/>
          </a:p>
        </p:txBody>
      </p:sp>
      <p:sp>
        <p:nvSpPr>
          <p:cNvPr id="26" name="Text 22"/>
          <p:cNvSpPr/>
          <p:nvPr/>
        </p:nvSpPr>
        <p:spPr>
          <a:xfrm>
            <a:off x="1133475" y="9474994"/>
            <a:ext cx="1144935" cy="176212"/>
          </a:xfrm>
          <a:prstGeom prst="rect">
            <a:avLst/>
          </a:prstGeom>
          <a:noFill/>
          <a:ln/>
        </p:spPr>
        <p:txBody>
          <a:bodyPr wrap="square" lIns="25400" tIns="25400" rIns="25400" bIns="25400" rtlCol="0" anchor="t">
            <a:normAutofit/>
          </a:bodyPr>
          <a:lstStyle/>
          <a:p>
            <a:pPr algn="l" indent="0" marL="0">
              <a:buNone/>
            </a:pPr>
            <a:r>
              <a:rPr lang="en-US" sz="825" dirty="0">
                <a:solidFill>
                  <a:srgbClr val="837B66"/>
                </a:solidFill>
                <a:latin typeface="Courier New" pitchFamily="34" charset="0"/>
                <a:ea typeface="Courier New" pitchFamily="34" charset="-122"/>
                <a:cs typeface="Courier New" pitchFamily="34" charset="-120"/>
              </a:rPr>
              <a:t>Player · Cohort B</a:t>
            </a:r>
            <a:endParaRPr lang="en-US" sz="825" dirty="0"/>
          </a:p>
        </p:txBody>
      </p:sp>
      <p:sp>
        <p:nvSpPr>
          <p:cNvPr id="27" name="Shape 23"/>
          <p:cNvSpPr/>
          <p:nvPr/>
        </p:nvSpPr>
        <p:spPr>
          <a:xfrm>
            <a:off x="2762250" y="1462088"/>
            <a:ext cx="14982825" cy="504825"/>
          </a:xfrm>
          <a:prstGeom prst="rect">
            <a:avLst/>
          </a:prstGeom>
          <a:solidFill>
            <a:srgbClr val="0B0A0F"/>
          </a:solidFill>
          <a:ln/>
        </p:spPr>
      </p:sp>
      <p:sp>
        <p:nvSpPr>
          <p:cNvPr id="28" name="Shape 24"/>
          <p:cNvSpPr/>
          <p:nvPr/>
        </p:nvSpPr>
        <p:spPr>
          <a:xfrm>
            <a:off x="2762250" y="1957388"/>
            <a:ext cx="14982825" cy="9525"/>
          </a:xfrm>
          <a:prstGeom prst="rect">
            <a:avLst/>
          </a:prstGeom>
          <a:solidFill>
            <a:srgbClr val="2A2933"/>
          </a:solidFill>
          <a:ln/>
        </p:spPr>
      </p:sp>
      <p:sp>
        <p:nvSpPr>
          <p:cNvPr id="29" name="Text 25"/>
          <p:cNvSpPr/>
          <p:nvPr/>
        </p:nvSpPr>
        <p:spPr>
          <a:xfrm>
            <a:off x="2971800" y="1640681"/>
            <a:ext cx="1475281"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837B66"/>
                </a:solidFill>
                <a:latin typeface="Courier New" pitchFamily="34" charset="0"/>
                <a:ea typeface="Courier New" pitchFamily="34" charset="-122"/>
                <a:cs typeface="Courier New" pitchFamily="34" charset="-120"/>
              </a:rPr>
              <a:t>LARP · THE FIELD</a:t>
            </a:r>
            <a:endParaRPr lang="en-US" sz="825" dirty="0"/>
          </a:p>
        </p:txBody>
      </p:sp>
      <p:sp>
        <p:nvSpPr>
          <p:cNvPr id="30" name="Text 26"/>
          <p:cNvSpPr/>
          <p:nvPr/>
        </p:nvSpPr>
        <p:spPr>
          <a:xfrm>
            <a:off x="16898466" y="1640681"/>
            <a:ext cx="713259"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DB4A3F"/>
                </a:solidFill>
                <a:latin typeface="Courier New" pitchFamily="34" charset="0"/>
                <a:ea typeface="Courier New" pitchFamily="34" charset="-122"/>
                <a:cs typeface="Courier New" pitchFamily="34" charset="-120"/>
              </a:rPr>
              <a:t>Cohort B</a:t>
            </a:r>
            <a:endParaRPr lang="en-US" sz="825" dirty="0"/>
          </a:p>
        </p:txBody>
      </p:sp>
      <p:sp>
        <p:nvSpPr>
          <p:cNvPr id="31" name="Shape 27"/>
          <p:cNvSpPr/>
          <p:nvPr/>
        </p:nvSpPr>
        <p:spPr>
          <a:xfrm>
            <a:off x="2762250" y="1966912"/>
            <a:ext cx="14982825" cy="7815263"/>
          </a:xfrm>
          <a:prstGeom prst="rect">
            <a:avLst/>
          </a:prstGeom>
          <a:gradFill rotWithShape="1">
            <a:gsLst>
              <a:gs pos="0">
                <a:srgbClr val="FFFFFF">
                  <a:alpha val="2000"/>
                </a:srgbClr>
              </a:gs>
              <a:gs pos="100000">
                <a:srgbClr val="FFFFFF">
                  <a:alpha val="0"/>
                </a:srgbClr>
              </a:gs>
            </a:gsLst>
            <a:lin ang="5400000" scaled="0"/>
          </a:gradFill>
          <a:ln/>
        </p:spPr>
      </p:sp>
      <p:sp>
        <p:nvSpPr>
          <p:cNvPr id="32" name="Text 28"/>
          <p:cNvSpPr/>
          <p:nvPr/>
        </p:nvSpPr>
        <p:spPr>
          <a:xfrm>
            <a:off x="5110163" y="2271713"/>
            <a:ext cx="3692828" cy="185738"/>
          </a:xfrm>
          <a:prstGeom prst="rect">
            <a:avLst/>
          </a:prstGeom>
          <a:noFill/>
          <a:ln/>
        </p:spPr>
        <p:txBody>
          <a:bodyPr wrap="square" lIns="25400" tIns="25400" rIns="25400" bIns="25400" rtlCol="0" anchor="t">
            <a:normAutofit/>
          </a:bodyPr>
          <a:lstStyle/>
          <a:p>
            <a:pPr algn="l" indent="0" marL="0">
              <a:buNone/>
            </a:pPr>
            <a:r>
              <a:rPr lang="en-US" sz="900" spc="216" kern="0" dirty="0">
                <a:solidFill>
                  <a:srgbClr val="DB4A3F"/>
                </a:solidFill>
                <a:latin typeface="Courier New" pitchFamily="34" charset="0"/>
                <a:ea typeface="Courier New" pitchFamily="34" charset="-122"/>
                <a:cs typeface="Courier New" pitchFamily="34" charset="-120"/>
              </a:rPr>
              <a:t>YOUR COHORT</a:t>
            </a:r>
            <a:endParaRPr lang="en-US" sz="900" dirty="0"/>
          </a:p>
        </p:txBody>
      </p:sp>
      <p:sp>
        <p:nvSpPr>
          <p:cNvPr id="33" name="Text 29"/>
          <p:cNvSpPr/>
          <p:nvPr/>
        </p:nvSpPr>
        <p:spPr>
          <a:xfrm>
            <a:off x="5110163" y="2495550"/>
            <a:ext cx="3692828" cy="452438"/>
          </a:xfrm>
          <a:prstGeom prst="rect">
            <a:avLst/>
          </a:prstGeom>
          <a:noFill/>
          <a:ln/>
        </p:spPr>
        <p:txBody>
          <a:bodyPr wrap="square" lIns="25400" tIns="25400" rIns="25400" bIns="25400" rtlCol="0" anchor="t">
            <a:normAutofit/>
          </a:bodyPr>
          <a:lstStyle/>
          <a:p>
            <a:pPr algn="l" indent="0" marL="0">
              <a:buNone/>
            </a:pPr>
            <a:r>
              <a:rPr lang="en-US" sz="2850" b="1" dirty="0">
                <a:solidFill>
                  <a:srgbClr val="ECE6D6"/>
                </a:solidFill>
                <a:latin typeface="Georgia" pitchFamily="34" charset="0"/>
                <a:ea typeface="Georgia" pitchFamily="34" charset="-122"/>
                <a:cs typeface="Georgia" pitchFamily="34" charset="-120"/>
              </a:rPr>
              <a:t>Characters of Record</a:t>
            </a:r>
            <a:endParaRPr lang="en-US" sz="2850" dirty="0"/>
          </a:p>
        </p:txBody>
      </p:sp>
      <p:sp>
        <p:nvSpPr>
          <p:cNvPr id="34" name="Shape 30"/>
          <p:cNvSpPr/>
          <p:nvPr/>
        </p:nvSpPr>
        <p:spPr>
          <a:xfrm>
            <a:off x="13727162" y="2547938"/>
            <a:ext cx="1670000" cy="361950"/>
          </a:xfrm>
          <a:prstGeom prst="roundRect">
            <a:avLst>
              <a:gd name="adj" fmla="val 7895"/>
            </a:avLst>
          </a:prstGeom>
          <a:solidFill>
            <a:srgbClr val="9B1C1C"/>
          </a:solidFill>
          <a:ln w="9525">
            <a:solidFill>
              <a:srgbClr val="9B1C1C"/>
            </a:solidFill>
            <a:prstDash val="solid"/>
          </a:ln>
          <a:effectLst>
            <a:outerShdw sx="100000" sy="100000" kx="0" ky="0" algn="bl" rotWithShape="0" blurRad="19050" dist="9525" dir="5400000">
              <a:srgbClr val="000000">
                <a:alpha val="35000"/>
              </a:srgbClr>
            </a:outerShdw>
          </a:effectLst>
        </p:spPr>
      </p:sp>
      <p:pic>
        <p:nvPicPr>
          <p:cNvPr id="3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908137" y="2652713"/>
            <a:ext cx="152400" cy="152400"/>
          </a:xfrm>
          <a:prstGeom prst="rect">
            <a:avLst/>
          </a:prstGeom>
        </p:spPr>
      </p:pic>
      <p:sp>
        <p:nvSpPr>
          <p:cNvPr id="36" name="Text 31"/>
          <p:cNvSpPr/>
          <p:nvPr/>
        </p:nvSpPr>
        <p:spPr>
          <a:xfrm>
            <a:off x="14098637" y="2652713"/>
            <a:ext cx="1155650"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F6F1E4"/>
                </a:solidFill>
                <a:latin typeface="Georgia" pitchFamily="34" charset="0"/>
                <a:ea typeface="Georgia" pitchFamily="34" charset="-122"/>
                <a:cs typeface="Georgia" pitchFamily="34" charset="-120"/>
              </a:rPr>
              <a:t>New Character</a:t>
            </a:r>
            <a:endParaRPr lang="en-US" sz="1200" dirty="0"/>
          </a:p>
        </p:txBody>
      </p:sp>
      <p:sp>
        <p:nvSpPr>
          <p:cNvPr id="37" name="Shape 32"/>
          <p:cNvSpPr/>
          <p:nvPr/>
        </p:nvSpPr>
        <p:spPr>
          <a:xfrm>
            <a:off x="5110163" y="3138488"/>
            <a:ext cx="386655" cy="300038"/>
          </a:xfrm>
          <a:prstGeom prst="roundRect">
            <a:avLst>
              <a:gd name="adj" fmla="val 9524"/>
            </a:avLst>
          </a:prstGeom>
          <a:solidFill>
            <a:srgbClr val="9B1C1C"/>
          </a:solidFill>
          <a:ln w="9525">
            <a:solidFill>
              <a:srgbClr val="9B1C1C"/>
            </a:solidFill>
            <a:prstDash val="solid"/>
          </a:ln>
        </p:spPr>
      </p:sp>
      <p:sp>
        <p:nvSpPr>
          <p:cNvPr id="38" name="Text 33"/>
          <p:cNvSpPr/>
          <p:nvPr/>
        </p:nvSpPr>
        <p:spPr>
          <a:xfrm>
            <a:off x="5214938" y="3186113"/>
            <a:ext cx="253305"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F6F1E4"/>
                </a:solidFill>
                <a:latin typeface="Georgia" pitchFamily="34" charset="0"/>
                <a:ea typeface="Georgia" pitchFamily="34" charset="-122"/>
                <a:cs typeface="Georgia" pitchFamily="34" charset="-120"/>
              </a:rPr>
              <a:t>All</a:t>
            </a:r>
            <a:endParaRPr lang="en-US" sz="1050" dirty="0"/>
          </a:p>
        </p:txBody>
      </p:sp>
      <p:sp>
        <p:nvSpPr>
          <p:cNvPr id="39" name="Shape 34"/>
          <p:cNvSpPr/>
          <p:nvPr/>
        </p:nvSpPr>
        <p:spPr>
          <a:xfrm>
            <a:off x="5573018" y="3138488"/>
            <a:ext cx="517773" cy="300038"/>
          </a:xfrm>
          <a:prstGeom prst="roundRect">
            <a:avLst>
              <a:gd name="adj" fmla="val 9524"/>
            </a:avLst>
          </a:prstGeom>
          <a:solidFill>
            <a:srgbClr val="1C1B24"/>
          </a:solidFill>
          <a:ln w="9525">
            <a:solidFill>
              <a:srgbClr val="35343F"/>
            </a:solidFill>
            <a:prstDash val="solid"/>
          </a:ln>
        </p:spPr>
      </p:sp>
      <p:sp>
        <p:nvSpPr>
          <p:cNvPr id="40" name="Text 35"/>
          <p:cNvSpPr/>
          <p:nvPr/>
        </p:nvSpPr>
        <p:spPr>
          <a:xfrm>
            <a:off x="5677793" y="3186113"/>
            <a:ext cx="384423"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Alive</a:t>
            </a:r>
            <a:endParaRPr lang="en-US" sz="1050" dirty="0"/>
          </a:p>
        </p:txBody>
      </p:sp>
      <p:sp>
        <p:nvSpPr>
          <p:cNvPr id="41" name="Shape 36"/>
          <p:cNvSpPr/>
          <p:nvPr/>
        </p:nvSpPr>
        <p:spPr>
          <a:xfrm>
            <a:off x="6166991" y="3138488"/>
            <a:ext cx="775767" cy="300038"/>
          </a:xfrm>
          <a:prstGeom prst="roundRect">
            <a:avLst>
              <a:gd name="adj" fmla="val 9524"/>
            </a:avLst>
          </a:prstGeom>
          <a:solidFill>
            <a:srgbClr val="1C1B24"/>
          </a:solidFill>
          <a:ln w="9525">
            <a:solidFill>
              <a:srgbClr val="35343F"/>
            </a:solidFill>
            <a:prstDash val="solid"/>
          </a:ln>
        </p:spPr>
      </p:sp>
      <p:sp>
        <p:nvSpPr>
          <p:cNvPr id="42" name="Text 37"/>
          <p:cNvSpPr/>
          <p:nvPr/>
        </p:nvSpPr>
        <p:spPr>
          <a:xfrm>
            <a:off x="6271766" y="3186113"/>
            <a:ext cx="642417"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Wounded</a:t>
            </a:r>
            <a:endParaRPr lang="en-US" sz="1050" dirty="0"/>
          </a:p>
        </p:txBody>
      </p:sp>
      <p:sp>
        <p:nvSpPr>
          <p:cNvPr id="43" name="Shape 38"/>
          <p:cNvSpPr/>
          <p:nvPr/>
        </p:nvSpPr>
        <p:spPr>
          <a:xfrm>
            <a:off x="7018958" y="3138488"/>
            <a:ext cx="573881" cy="300038"/>
          </a:xfrm>
          <a:prstGeom prst="roundRect">
            <a:avLst>
              <a:gd name="adj" fmla="val 9524"/>
            </a:avLst>
          </a:prstGeom>
          <a:solidFill>
            <a:srgbClr val="1C1B24"/>
          </a:solidFill>
          <a:ln w="9525">
            <a:solidFill>
              <a:srgbClr val="35343F"/>
            </a:solidFill>
            <a:prstDash val="solid"/>
          </a:ln>
        </p:spPr>
      </p:sp>
      <p:sp>
        <p:nvSpPr>
          <p:cNvPr id="44" name="Text 39"/>
          <p:cNvSpPr/>
          <p:nvPr/>
        </p:nvSpPr>
        <p:spPr>
          <a:xfrm>
            <a:off x="7123733" y="3186113"/>
            <a:ext cx="440531"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Fallen</a:t>
            </a:r>
            <a:endParaRPr lang="en-US" sz="1050" dirty="0"/>
          </a:p>
        </p:txBody>
      </p:sp>
      <p:sp>
        <p:nvSpPr>
          <p:cNvPr id="45" name="Shape 40"/>
          <p:cNvSpPr/>
          <p:nvPr/>
        </p:nvSpPr>
        <p:spPr>
          <a:xfrm>
            <a:off x="5110163" y="3648075"/>
            <a:ext cx="5057775" cy="1520130"/>
          </a:xfrm>
          <a:prstGeom prst="roundRect">
            <a:avLst>
              <a:gd name="adj" fmla="val 3133"/>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46" name="Shape 41"/>
          <p:cNvSpPr/>
          <p:nvPr/>
        </p:nvSpPr>
        <p:spPr>
          <a:xfrm>
            <a:off x="5119688" y="3657600"/>
            <a:ext cx="28575" cy="1501080"/>
          </a:xfrm>
          <a:prstGeom prst="rect">
            <a:avLst/>
          </a:prstGeom>
          <a:solidFill>
            <a:srgbClr val="9B1C1C"/>
          </a:solidFill>
          <a:ln/>
        </p:spPr>
      </p:sp>
      <p:sp>
        <p:nvSpPr>
          <p:cNvPr id="47" name="Shape 42"/>
          <p:cNvSpPr/>
          <p:nvPr/>
        </p:nvSpPr>
        <p:spPr>
          <a:xfrm>
            <a:off x="5291138" y="3810000"/>
            <a:ext cx="628650" cy="628650"/>
          </a:xfrm>
          <a:prstGeom prst="roundRect">
            <a:avLst>
              <a:gd name="adj" fmla="val 4545"/>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48" name="Text 43"/>
          <p:cNvSpPr/>
          <p:nvPr/>
        </p:nvSpPr>
        <p:spPr>
          <a:xfrm>
            <a:off x="5262563" y="3819525"/>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C5BDA6"/>
                </a:solidFill>
                <a:latin typeface="Georgia" pitchFamily="34" charset="0"/>
                <a:ea typeface="Georgia" pitchFamily="34" charset="-122"/>
                <a:cs typeface="Georgia" pitchFamily="34" charset="-120"/>
              </a:rPr>
              <a:t>IV</a:t>
            </a:r>
            <a:endParaRPr lang="en-US" sz="1950" dirty="0"/>
          </a:p>
        </p:txBody>
      </p:sp>
      <p:sp>
        <p:nvSpPr>
          <p:cNvPr id="49" name="Shape 44"/>
          <p:cNvSpPr/>
          <p:nvPr/>
        </p:nvSpPr>
        <p:spPr>
          <a:xfrm>
            <a:off x="5732785" y="4319215"/>
            <a:ext cx="196528" cy="196528"/>
          </a:xfrm>
          <a:prstGeom prst="ellipse">
            <a:avLst/>
          </a:prstGeom>
          <a:solidFill>
            <a:srgbClr val="B5601F"/>
          </a:solidFill>
          <a:ln w="19050">
            <a:solidFill>
              <a:srgbClr val="16151D"/>
            </a:solidFill>
            <a:prstDash val="solid"/>
          </a:ln>
        </p:spPr>
      </p:sp>
      <p:sp>
        <p:nvSpPr>
          <p:cNvPr id="50" name="Text 45"/>
          <p:cNvSpPr/>
          <p:nvPr/>
        </p:nvSpPr>
        <p:spPr>
          <a:xfrm>
            <a:off x="6053138" y="3810000"/>
            <a:ext cx="1792553"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ECE6D6"/>
                </a:solidFill>
                <a:latin typeface="Georgia" pitchFamily="34" charset="0"/>
                <a:ea typeface="Georgia" pitchFamily="34" charset="-122"/>
                <a:cs typeface="Georgia" pitchFamily="34" charset="-120"/>
              </a:rPr>
              <a:t>Ivar the Drowned</a:t>
            </a:r>
            <a:endParaRPr lang="en-US" sz="1650" dirty="0"/>
          </a:p>
        </p:txBody>
      </p:sp>
      <p:sp>
        <p:nvSpPr>
          <p:cNvPr id="51" name="Text 46"/>
          <p:cNvSpPr/>
          <p:nvPr/>
        </p:nvSpPr>
        <p:spPr>
          <a:xfrm>
            <a:off x="9643988" y="3856658"/>
            <a:ext cx="419174" cy="185738"/>
          </a:xfrm>
          <a:prstGeom prst="rect">
            <a:avLst/>
          </a:prstGeom>
          <a:noFill/>
          <a:ln/>
        </p:spPr>
        <p:txBody>
          <a:bodyPr wrap="square" lIns="25400" tIns="25400" rIns="25400" bIns="25400" rtlCol="0" anchor="t">
            <a:normAutofit/>
          </a:bodyPr>
          <a:lstStyle/>
          <a:p>
            <a:pPr algn="l" indent="0" marL="0">
              <a:buNone/>
            </a:pPr>
            <a:r>
              <a:rPr lang="en-US" sz="900" dirty="0">
                <a:solidFill>
                  <a:srgbClr val="837B66"/>
                </a:solidFill>
                <a:latin typeface="Courier New" pitchFamily="34" charset="0"/>
                <a:ea typeface="Courier New" pitchFamily="34" charset="-122"/>
                <a:cs typeface="Courier New" pitchFamily="34" charset="-120"/>
              </a:rPr>
              <a:t>LVL 7</a:t>
            </a:r>
            <a:endParaRPr lang="en-US" sz="900" dirty="0"/>
          </a:p>
        </p:txBody>
      </p:sp>
      <p:sp>
        <p:nvSpPr>
          <p:cNvPr id="52" name="Text 47"/>
          <p:cNvSpPr/>
          <p:nvPr/>
        </p:nvSpPr>
        <p:spPr>
          <a:xfrm>
            <a:off x="6053138" y="4060478"/>
            <a:ext cx="4327208" cy="190500"/>
          </a:xfrm>
          <a:prstGeom prst="rect">
            <a:avLst/>
          </a:prstGeom>
          <a:noFill/>
          <a:ln/>
        </p:spPr>
        <p:txBody>
          <a:bodyPr wrap="square" lIns="25400" tIns="25400" rIns="25400" bIns="25400" rtlCol="0" anchor="t">
            <a:normAutofit/>
          </a:bodyPr>
          <a:lstStyle/>
          <a:p>
            <a:pPr algn="l" indent="0" marL="0">
              <a:buNone/>
            </a:pPr>
            <a:r>
              <a:rPr lang="en-US" sz="1050" i="1" dirty="0">
                <a:solidFill>
                  <a:srgbClr val="837B66"/>
                </a:solidFill>
                <a:latin typeface="Georgia" pitchFamily="34" charset="0"/>
                <a:ea typeface="Georgia" pitchFamily="34" charset="-122"/>
                <a:cs typeface="Georgia" pitchFamily="34" charset="-120"/>
              </a:rPr>
              <a:t>Saltbound, third of his line</a:t>
            </a:r>
            <a:endParaRPr lang="en-US" sz="1050" dirty="0"/>
          </a:p>
        </p:txBody>
      </p:sp>
      <p:sp>
        <p:nvSpPr>
          <p:cNvPr id="53" name="Shape 48"/>
          <p:cNvSpPr/>
          <p:nvPr/>
        </p:nvSpPr>
        <p:spPr>
          <a:xfrm>
            <a:off x="6053138" y="4289078"/>
            <a:ext cx="995214" cy="217140"/>
          </a:xfrm>
          <a:prstGeom prst="roundRect">
            <a:avLst>
              <a:gd name="adj" fmla="val 50000"/>
            </a:avLst>
          </a:prstGeom>
          <a:ln w="9525">
            <a:solidFill>
              <a:srgbClr val="C99A5B"/>
            </a:solidFill>
            <a:prstDash val="solid"/>
          </a:ln>
        </p:spPr>
      </p:sp>
      <p:sp>
        <p:nvSpPr>
          <p:cNvPr id="54" name="Text 49"/>
          <p:cNvSpPr/>
          <p:nvPr/>
        </p:nvSpPr>
        <p:spPr>
          <a:xfrm>
            <a:off x="6148388" y="4317653"/>
            <a:ext cx="880914" cy="198090"/>
          </a:xfrm>
          <a:prstGeom prst="rect">
            <a:avLst/>
          </a:prstGeom>
          <a:noFill/>
          <a:ln/>
        </p:spPr>
        <p:txBody>
          <a:bodyPr wrap="square" lIns="25400" tIns="25400" rIns="25400" bIns="25400" rtlCol="0" anchor="ctr">
            <a:normAutofit/>
          </a:bodyPr>
          <a:lstStyle/>
          <a:p>
            <a:pPr algn="l" indent="0" marL="0">
              <a:lnSpc>
                <a:spcPct val="140000"/>
              </a:lnSpc>
              <a:buNone/>
            </a:pPr>
            <a:r>
              <a:rPr lang="en-US" sz="900" spc="36" kern="0" dirty="0">
                <a:solidFill>
                  <a:srgbClr val="E0BA80"/>
                </a:solidFill>
                <a:latin typeface="Courier New" pitchFamily="34" charset="0"/>
                <a:ea typeface="Courier New" pitchFamily="34" charset="-122"/>
                <a:cs typeface="Courier New" pitchFamily="34" charset="-120"/>
              </a:rPr>
              <a:t>HOUSE STORM</a:t>
            </a:r>
            <a:endParaRPr lang="en-US" sz="900" dirty="0"/>
          </a:p>
        </p:txBody>
      </p:sp>
      <p:sp>
        <p:nvSpPr>
          <p:cNvPr id="55" name="Shape 50"/>
          <p:cNvSpPr/>
          <p:nvPr/>
        </p:nvSpPr>
        <p:spPr>
          <a:xfrm>
            <a:off x="7124551" y="4289078"/>
            <a:ext cx="816918" cy="217140"/>
          </a:xfrm>
          <a:prstGeom prst="roundRect">
            <a:avLst>
              <a:gd name="adj" fmla="val 50000"/>
            </a:avLst>
          </a:prstGeom>
          <a:solidFill>
            <a:srgbClr val="B5601F">
              <a:alpha val="16000"/>
            </a:srgbClr>
          </a:solidFill>
          <a:ln/>
        </p:spPr>
      </p:sp>
      <p:sp>
        <p:nvSpPr>
          <p:cNvPr id="56" name="Shape 51"/>
          <p:cNvSpPr/>
          <p:nvPr/>
        </p:nvSpPr>
        <p:spPr>
          <a:xfrm>
            <a:off x="7219801" y="4369073"/>
            <a:ext cx="57150" cy="57150"/>
          </a:xfrm>
          <a:prstGeom prst="ellipse">
            <a:avLst/>
          </a:prstGeom>
          <a:solidFill>
            <a:srgbClr val="B5601F"/>
          </a:solidFill>
          <a:ln/>
        </p:spPr>
      </p:sp>
      <p:sp>
        <p:nvSpPr>
          <p:cNvPr id="57" name="Text 52"/>
          <p:cNvSpPr/>
          <p:nvPr/>
        </p:nvSpPr>
        <p:spPr>
          <a:xfrm>
            <a:off x="7334101" y="4322415"/>
            <a:ext cx="588318"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B5601F"/>
                </a:solidFill>
                <a:latin typeface="Courier New" pitchFamily="34" charset="0"/>
                <a:ea typeface="Courier New" pitchFamily="34" charset="-122"/>
                <a:cs typeface="Courier New" pitchFamily="34" charset="-120"/>
              </a:rPr>
              <a:t>WOUNDED</a:t>
            </a:r>
            <a:endParaRPr lang="en-US" sz="900" dirty="0"/>
          </a:p>
        </p:txBody>
      </p:sp>
      <p:sp>
        <p:nvSpPr>
          <p:cNvPr id="58" name="Shape 53"/>
          <p:cNvSpPr/>
          <p:nvPr/>
        </p:nvSpPr>
        <p:spPr>
          <a:xfrm>
            <a:off x="5119688" y="4658618"/>
            <a:ext cx="5038725" cy="500063"/>
          </a:xfrm>
          <a:prstGeom prst="rect">
            <a:avLst/>
          </a:prstGeom>
          <a:solidFill>
            <a:srgbClr val="100F15"/>
          </a:solidFill>
          <a:ln/>
        </p:spPr>
      </p:sp>
      <p:sp>
        <p:nvSpPr>
          <p:cNvPr id="59" name="Shape 54"/>
          <p:cNvSpPr/>
          <p:nvPr/>
        </p:nvSpPr>
        <p:spPr>
          <a:xfrm>
            <a:off x="5119688" y="4658618"/>
            <a:ext cx="5038725" cy="9525"/>
          </a:xfrm>
          <a:prstGeom prst="rect">
            <a:avLst/>
          </a:prstGeom>
          <a:solidFill>
            <a:srgbClr val="2A2933"/>
          </a:solidFill>
          <a:ln/>
        </p:spPr>
      </p:sp>
      <p:sp>
        <p:nvSpPr>
          <p:cNvPr id="60" name="Text 55"/>
          <p:cNvSpPr/>
          <p:nvPr/>
        </p:nvSpPr>
        <p:spPr>
          <a:xfrm>
            <a:off x="5098892" y="4753868"/>
            <a:ext cx="1714790"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HP</a:t>
            </a:r>
            <a:endParaRPr lang="en-US" sz="750" dirty="0"/>
          </a:p>
        </p:txBody>
      </p:sp>
      <p:sp>
        <p:nvSpPr>
          <p:cNvPr id="61" name="Text 56"/>
          <p:cNvSpPr/>
          <p:nvPr/>
        </p:nvSpPr>
        <p:spPr>
          <a:xfrm>
            <a:off x="5098892" y="4877693"/>
            <a:ext cx="1714790"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18</a:t>
            </a:r>
            <a:endParaRPr lang="en-US" sz="1350" dirty="0"/>
          </a:p>
        </p:txBody>
      </p:sp>
      <p:sp>
        <p:nvSpPr>
          <p:cNvPr id="62" name="Shape 57"/>
          <p:cNvSpPr/>
          <p:nvPr/>
        </p:nvSpPr>
        <p:spPr>
          <a:xfrm>
            <a:off x="6792888" y="4668143"/>
            <a:ext cx="9525" cy="490538"/>
          </a:xfrm>
          <a:prstGeom prst="rect">
            <a:avLst/>
          </a:prstGeom>
          <a:solidFill>
            <a:srgbClr val="2A2933"/>
          </a:solidFill>
          <a:ln/>
        </p:spPr>
      </p:sp>
      <p:sp>
        <p:nvSpPr>
          <p:cNvPr id="63" name="Text 58"/>
          <p:cNvSpPr/>
          <p:nvPr/>
        </p:nvSpPr>
        <p:spPr>
          <a:xfrm>
            <a:off x="6781614" y="4753868"/>
            <a:ext cx="1714872"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ARMOUR</a:t>
            </a:r>
            <a:endParaRPr lang="en-US" sz="750" dirty="0"/>
          </a:p>
        </p:txBody>
      </p:sp>
      <p:sp>
        <p:nvSpPr>
          <p:cNvPr id="64" name="Text 59"/>
          <p:cNvSpPr/>
          <p:nvPr/>
        </p:nvSpPr>
        <p:spPr>
          <a:xfrm>
            <a:off x="6781614" y="4877693"/>
            <a:ext cx="1714872"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4</a:t>
            </a:r>
            <a:endParaRPr lang="en-US" sz="1350" dirty="0"/>
          </a:p>
        </p:txBody>
      </p:sp>
      <p:sp>
        <p:nvSpPr>
          <p:cNvPr id="65" name="Shape 60"/>
          <p:cNvSpPr/>
          <p:nvPr/>
        </p:nvSpPr>
        <p:spPr>
          <a:xfrm>
            <a:off x="8475687" y="4668143"/>
            <a:ext cx="9525" cy="490538"/>
          </a:xfrm>
          <a:prstGeom prst="rect">
            <a:avLst/>
          </a:prstGeom>
          <a:solidFill>
            <a:srgbClr val="2A2933"/>
          </a:solidFill>
          <a:ln/>
        </p:spPr>
      </p:sp>
      <p:sp>
        <p:nvSpPr>
          <p:cNvPr id="66" name="Text 61"/>
          <p:cNvSpPr/>
          <p:nvPr/>
        </p:nvSpPr>
        <p:spPr>
          <a:xfrm>
            <a:off x="8464417" y="4753868"/>
            <a:ext cx="1714790"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STANDING</a:t>
            </a:r>
            <a:endParaRPr lang="en-US" sz="750" dirty="0"/>
          </a:p>
        </p:txBody>
      </p:sp>
      <p:sp>
        <p:nvSpPr>
          <p:cNvPr id="67" name="Text 62"/>
          <p:cNvSpPr/>
          <p:nvPr/>
        </p:nvSpPr>
        <p:spPr>
          <a:xfrm>
            <a:off x="8464417" y="4877693"/>
            <a:ext cx="1714790"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62</a:t>
            </a:r>
            <a:endParaRPr lang="en-US" sz="1350" dirty="0"/>
          </a:p>
        </p:txBody>
      </p:sp>
      <p:sp>
        <p:nvSpPr>
          <p:cNvPr id="68" name="Shape 63"/>
          <p:cNvSpPr/>
          <p:nvPr/>
        </p:nvSpPr>
        <p:spPr>
          <a:xfrm>
            <a:off x="10339388" y="3648075"/>
            <a:ext cx="5057775" cy="1520130"/>
          </a:xfrm>
          <a:prstGeom prst="roundRect">
            <a:avLst>
              <a:gd name="adj" fmla="val 3133"/>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69" name="Shape 64"/>
          <p:cNvSpPr/>
          <p:nvPr/>
        </p:nvSpPr>
        <p:spPr>
          <a:xfrm>
            <a:off x="10348913" y="3657600"/>
            <a:ext cx="28575" cy="1501080"/>
          </a:xfrm>
          <a:prstGeom prst="rect">
            <a:avLst/>
          </a:prstGeom>
          <a:solidFill>
            <a:srgbClr val="9B1C1C"/>
          </a:solidFill>
          <a:ln/>
        </p:spPr>
      </p:sp>
      <p:sp>
        <p:nvSpPr>
          <p:cNvPr id="70" name="Shape 65"/>
          <p:cNvSpPr/>
          <p:nvPr/>
        </p:nvSpPr>
        <p:spPr>
          <a:xfrm>
            <a:off x="10520363" y="3810000"/>
            <a:ext cx="628650" cy="628650"/>
          </a:xfrm>
          <a:prstGeom prst="roundRect">
            <a:avLst>
              <a:gd name="adj" fmla="val 4545"/>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71" name="Text 66"/>
          <p:cNvSpPr/>
          <p:nvPr/>
        </p:nvSpPr>
        <p:spPr>
          <a:xfrm>
            <a:off x="10491788" y="3819525"/>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C5BDA6"/>
                </a:solidFill>
                <a:latin typeface="Georgia" pitchFamily="34" charset="0"/>
                <a:ea typeface="Georgia" pitchFamily="34" charset="-122"/>
                <a:cs typeface="Georgia" pitchFamily="34" charset="-120"/>
              </a:rPr>
              <a:t>KN</a:t>
            </a:r>
            <a:endParaRPr lang="en-US" sz="1950" dirty="0"/>
          </a:p>
        </p:txBody>
      </p:sp>
      <p:sp>
        <p:nvSpPr>
          <p:cNvPr id="72" name="Shape 67"/>
          <p:cNvSpPr/>
          <p:nvPr/>
        </p:nvSpPr>
        <p:spPr>
          <a:xfrm>
            <a:off x="10962010" y="4319215"/>
            <a:ext cx="196528" cy="196528"/>
          </a:xfrm>
          <a:prstGeom prst="ellipse">
            <a:avLst/>
          </a:prstGeom>
          <a:solidFill>
            <a:srgbClr val="5B7A4E"/>
          </a:solidFill>
          <a:ln w="19050">
            <a:solidFill>
              <a:srgbClr val="16151D"/>
            </a:solidFill>
            <a:prstDash val="solid"/>
          </a:ln>
        </p:spPr>
      </p:sp>
      <p:sp>
        <p:nvSpPr>
          <p:cNvPr id="73" name="Text 68"/>
          <p:cNvSpPr/>
          <p:nvPr/>
        </p:nvSpPr>
        <p:spPr>
          <a:xfrm>
            <a:off x="11282363" y="3810000"/>
            <a:ext cx="1477246"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ECE6D6"/>
                </a:solidFill>
                <a:latin typeface="Georgia" pitchFamily="34" charset="0"/>
                <a:ea typeface="Georgia" pitchFamily="34" charset="-122"/>
                <a:cs typeface="Georgia" pitchFamily="34" charset="-120"/>
              </a:rPr>
              <a:t>Kára Nightveil</a:t>
            </a:r>
            <a:endParaRPr lang="en-US" sz="1650" dirty="0"/>
          </a:p>
        </p:txBody>
      </p:sp>
      <p:sp>
        <p:nvSpPr>
          <p:cNvPr id="74" name="Text 69"/>
          <p:cNvSpPr/>
          <p:nvPr/>
        </p:nvSpPr>
        <p:spPr>
          <a:xfrm>
            <a:off x="14873213" y="3856658"/>
            <a:ext cx="419174" cy="185738"/>
          </a:xfrm>
          <a:prstGeom prst="rect">
            <a:avLst/>
          </a:prstGeom>
          <a:noFill/>
          <a:ln/>
        </p:spPr>
        <p:txBody>
          <a:bodyPr wrap="square" lIns="25400" tIns="25400" rIns="25400" bIns="25400" rtlCol="0" anchor="t">
            <a:normAutofit/>
          </a:bodyPr>
          <a:lstStyle/>
          <a:p>
            <a:pPr algn="l" indent="0" marL="0">
              <a:buNone/>
            </a:pPr>
            <a:r>
              <a:rPr lang="en-US" sz="900" dirty="0">
                <a:solidFill>
                  <a:srgbClr val="837B66"/>
                </a:solidFill>
                <a:latin typeface="Courier New" pitchFamily="34" charset="0"/>
                <a:ea typeface="Courier New" pitchFamily="34" charset="-122"/>
                <a:cs typeface="Courier New" pitchFamily="34" charset="-120"/>
              </a:rPr>
              <a:t>LVL 6</a:t>
            </a:r>
            <a:endParaRPr lang="en-US" sz="900" dirty="0"/>
          </a:p>
        </p:txBody>
      </p:sp>
      <p:sp>
        <p:nvSpPr>
          <p:cNvPr id="75" name="Text 70"/>
          <p:cNvSpPr/>
          <p:nvPr/>
        </p:nvSpPr>
        <p:spPr>
          <a:xfrm>
            <a:off x="11282363" y="4060478"/>
            <a:ext cx="4327208" cy="190500"/>
          </a:xfrm>
          <a:prstGeom prst="rect">
            <a:avLst/>
          </a:prstGeom>
          <a:noFill/>
          <a:ln/>
        </p:spPr>
        <p:txBody>
          <a:bodyPr wrap="square" lIns="25400" tIns="25400" rIns="25400" bIns="25400" rtlCol="0" anchor="t">
            <a:normAutofit/>
          </a:bodyPr>
          <a:lstStyle/>
          <a:p>
            <a:pPr algn="l" indent="0" marL="0">
              <a:buNone/>
            </a:pPr>
            <a:r>
              <a:rPr lang="en-US" sz="1050" i="1" dirty="0">
                <a:solidFill>
                  <a:srgbClr val="837B66"/>
                </a:solidFill>
                <a:latin typeface="Georgia" pitchFamily="34" charset="0"/>
                <a:ea typeface="Georgia" pitchFamily="34" charset="-122"/>
                <a:cs typeface="Georgia" pitchFamily="34" charset="-120"/>
              </a:rPr>
              <a:t>Reader of the drowned</a:t>
            </a:r>
            <a:endParaRPr lang="en-US" sz="1050" dirty="0"/>
          </a:p>
        </p:txBody>
      </p:sp>
      <p:sp>
        <p:nvSpPr>
          <p:cNvPr id="76" name="Shape 71"/>
          <p:cNvSpPr/>
          <p:nvPr/>
        </p:nvSpPr>
        <p:spPr>
          <a:xfrm>
            <a:off x="11282363" y="4289078"/>
            <a:ext cx="848916" cy="217140"/>
          </a:xfrm>
          <a:prstGeom prst="roundRect">
            <a:avLst>
              <a:gd name="adj" fmla="val 50000"/>
            </a:avLst>
          </a:prstGeom>
          <a:ln w="9525">
            <a:solidFill>
              <a:srgbClr val="C99A5B"/>
            </a:solidFill>
            <a:prstDash val="solid"/>
          </a:ln>
        </p:spPr>
      </p:sp>
      <p:sp>
        <p:nvSpPr>
          <p:cNvPr id="77" name="Text 72"/>
          <p:cNvSpPr/>
          <p:nvPr/>
        </p:nvSpPr>
        <p:spPr>
          <a:xfrm>
            <a:off x="11377612" y="4317653"/>
            <a:ext cx="734616" cy="198090"/>
          </a:xfrm>
          <a:prstGeom prst="rect">
            <a:avLst/>
          </a:prstGeom>
          <a:noFill/>
          <a:ln/>
        </p:spPr>
        <p:txBody>
          <a:bodyPr wrap="square" lIns="25400" tIns="25400" rIns="25400" bIns="25400" rtlCol="0" anchor="ctr">
            <a:normAutofit/>
          </a:bodyPr>
          <a:lstStyle/>
          <a:p>
            <a:pPr algn="l" indent="0" marL="0">
              <a:lnSpc>
                <a:spcPct val="140000"/>
              </a:lnSpc>
              <a:buNone/>
            </a:pPr>
            <a:r>
              <a:rPr lang="en-US" sz="900" spc="36" kern="0" dirty="0">
                <a:solidFill>
                  <a:srgbClr val="E0BA80"/>
                </a:solidFill>
                <a:latin typeface="Courier New" pitchFamily="34" charset="0"/>
                <a:ea typeface="Courier New" pitchFamily="34" charset="-122"/>
                <a:cs typeface="Courier New" pitchFamily="34" charset="-120"/>
              </a:rPr>
              <a:t>HOUSE ASH</a:t>
            </a:r>
            <a:endParaRPr lang="en-US" sz="900" dirty="0"/>
          </a:p>
        </p:txBody>
      </p:sp>
      <p:sp>
        <p:nvSpPr>
          <p:cNvPr id="78" name="Shape 73"/>
          <p:cNvSpPr/>
          <p:nvPr/>
        </p:nvSpPr>
        <p:spPr>
          <a:xfrm>
            <a:off x="12207478" y="4289078"/>
            <a:ext cx="670620" cy="217140"/>
          </a:xfrm>
          <a:prstGeom prst="roundRect">
            <a:avLst>
              <a:gd name="adj" fmla="val 50000"/>
            </a:avLst>
          </a:prstGeom>
          <a:solidFill>
            <a:srgbClr val="5B7A4E">
              <a:alpha val="16000"/>
            </a:srgbClr>
          </a:solidFill>
          <a:ln/>
        </p:spPr>
      </p:sp>
      <p:sp>
        <p:nvSpPr>
          <p:cNvPr id="79" name="Shape 74"/>
          <p:cNvSpPr/>
          <p:nvPr/>
        </p:nvSpPr>
        <p:spPr>
          <a:xfrm>
            <a:off x="12302728" y="4369073"/>
            <a:ext cx="57150" cy="57150"/>
          </a:xfrm>
          <a:prstGeom prst="ellipse">
            <a:avLst/>
          </a:prstGeom>
          <a:solidFill>
            <a:srgbClr val="5B7A4E"/>
          </a:solidFill>
          <a:ln/>
        </p:spPr>
      </p:sp>
      <p:sp>
        <p:nvSpPr>
          <p:cNvPr id="80" name="Text 75"/>
          <p:cNvSpPr/>
          <p:nvPr/>
        </p:nvSpPr>
        <p:spPr>
          <a:xfrm>
            <a:off x="12417028" y="4322415"/>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81" name="Shape 76"/>
          <p:cNvSpPr/>
          <p:nvPr/>
        </p:nvSpPr>
        <p:spPr>
          <a:xfrm>
            <a:off x="10348913" y="4658618"/>
            <a:ext cx="5038725" cy="500063"/>
          </a:xfrm>
          <a:prstGeom prst="rect">
            <a:avLst/>
          </a:prstGeom>
          <a:solidFill>
            <a:srgbClr val="100F15"/>
          </a:solidFill>
          <a:ln/>
        </p:spPr>
      </p:sp>
      <p:sp>
        <p:nvSpPr>
          <p:cNvPr id="82" name="Shape 77"/>
          <p:cNvSpPr/>
          <p:nvPr/>
        </p:nvSpPr>
        <p:spPr>
          <a:xfrm>
            <a:off x="10348913" y="4658618"/>
            <a:ext cx="5038725" cy="9525"/>
          </a:xfrm>
          <a:prstGeom prst="rect">
            <a:avLst/>
          </a:prstGeom>
          <a:solidFill>
            <a:srgbClr val="2A2933"/>
          </a:solidFill>
          <a:ln/>
        </p:spPr>
      </p:sp>
      <p:sp>
        <p:nvSpPr>
          <p:cNvPr id="83" name="Text 78"/>
          <p:cNvSpPr/>
          <p:nvPr/>
        </p:nvSpPr>
        <p:spPr>
          <a:xfrm>
            <a:off x="10328117" y="4753868"/>
            <a:ext cx="1714790"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HP</a:t>
            </a:r>
            <a:endParaRPr lang="en-US" sz="750" dirty="0"/>
          </a:p>
        </p:txBody>
      </p:sp>
      <p:sp>
        <p:nvSpPr>
          <p:cNvPr id="84" name="Text 79"/>
          <p:cNvSpPr/>
          <p:nvPr/>
        </p:nvSpPr>
        <p:spPr>
          <a:xfrm>
            <a:off x="10328117" y="4877693"/>
            <a:ext cx="1714790"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21</a:t>
            </a:r>
            <a:endParaRPr lang="en-US" sz="1350" dirty="0"/>
          </a:p>
        </p:txBody>
      </p:sp>
      <p:sp>
        <p:nvSpPr>
          <p:cNvPr id="85" name="Shape 80"/>
          <p:cNvSpPr/>
          <p:nvPr/>
        </p:nvSpPr>
        <p:spPr>
          <a:xfrm>
            <a:off x="12022113" y="4668143"/>
            <a:ext cx="9525" cy="490538"/>
          </a:xfrm>
          <a:prstGeom prst="rect">
            <a:avLst/>
          </a:prstGeom>
          <a:solidFill>
            <a:srgbClr val="2A2933"/>
          </a:solidFill>
          <a:ln/>
        </p:spPr>
      </p:sp>
      <p:sp>
        <p:nvSpPr>
          <p:cNvPr id="86" name="Text 81"/>
          <p:cNvSpPr/>
          <p:nvPr/>
        </p:nvSpPr>
        <p:spPr>
          <a:xfrm>
            <a:off x="12010839" y="4753868"/>
            <a:ext cx="1714872"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ARMOUR</a:t>
            </a:r>
            <a:endParaRPr lang="en-US" sz="750" dirty="0"/>
          </a:p>
        </p:txBody>
      </p:sp>
      <p:sp>
        <p:nvSpPr>
          <p:cNvPr id="87" name="Text 82"/>
          <p:cNvSpPr/>
          <p:nvPr/>
        </p:nvSpPr>
        <p:spPr>
          <a:xfrm>
            <a:off x="12010839" y="4877693"/>
            <a:ext cx="1714872"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2</a:t>
            </a:r>
            <a:endParaRPr lang="en-US" sz="1350" dirty="0"/>
          </a:p>
        </p:txBody>
      </p:sp>
      <p:sp>
        <p:nvSpPr>
          <p:cNvPr id="88" name="Shape 83"/>
          <p:cNvSpPr/>
          <p:nvPr/>
        </p:nvSpPr>
        <p:spPr>
          <a:xfrm>
            <a:off x="13704912" y="4668143"/>
            <a:ext cx="9525" cy="490538"/>
          </a:xfrm>
          <a:prstGeom prst="rect">
            <a:avLst/>
          </a:prstGeom>
          <a:solidFill>
            <a:srgbClr val="2A2933"/>
          </a:solidFill>
          <a:ln/>
        </p:spPr>
      </p:sp>
      <p:sp>
        <p:nvSpPr>
          <p:cNvPr id="89" name="Text 84"/>
          <p:cNvSpPr/>
          <p:nvPr/>
        </p:nvSpPr>
        <p:spPr>
          <a:xfrm>
            <a:off x="13693642" y="4753868"/>
            <a:ext cx="1714790"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STANDING</a:t>
            </a:r>
            <a:endParaRPr lang="en-US" sz="750" dirty="0"/>
          </a:p>
        </p:txBody>
      </p:sp>
      <p:sp>
        <p:nvSpPr>
          <p:cNvPr id="90" name="Text 85"/>
          <p:cNvSpPr/>
          <p:nvPr/>
        </p:nvSpPr>
        <p:spPr>
          <a:xfrm>
            <a:off x="13693642" y="4877693"/>
            <a:ext cx="1714790"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88</a:t>
            </a:r>
            <a:endParaRPr lang="en-US" sz="1350" dirty="0"/>
          </a:p>
        </p:txBody>
      </p:sp>
      <p:sp>
        <p:nvSpPr>
          <p:cNvPr id="91" name="Shape 86"/>
          <p:cNvSpPr/>
          <p:nvPr/>
        </p:nvSpPr>
        <p:spPr>
          <a:xfrm>
            <a:off x="5110163" y="5339655"/>
            <a:ext cx="5057775" cy="1520130"/>
          </a:xfrm>
          <a:prstGeom prst="roundRect">
            <a:avLst>
              <a:gd name="adj" fmla="val 3133"/>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92" name="Shape 87"/>
          <p:cNvSpPr/>
          <p:nvPr/>
        </p:nvSpPr>
        <p:spPr>
          <a:xfrm>
            <a:off x="5119688" y="5349180"/>
            <a:ext cx="28575" cy="1501080"/>
          </a:xfrm>
          <a:prstGeom prst="rect">
            <a:avLst/>
          </a:prstGeom>
          <a:solidFill>
            <a:srgbClr val="8A1F2A"/>
          </a:solidFill>
          <a:ln/>
        </p:spPr>
      </p:sp>
      <p:sp>
        <p:nvSpPr>
          <p:cNvPr id="93" name="Shape 88"/>
          <p:cNvSpPr/>
          <p:nvPr/>
        </p:nvSpPr>
        <p:spPr>
          <a:xfrm>
            <a:off x="5291138" y="5501580"/>
            <a:ext cx="628650" cy="628650"/>
          </a:xfrm>
          <a:prstGeom prst="roundRect">
            <a:avLst>
              <a:gd name="adj" fmla="val 4545"/>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94" name="Text 89"/>
          <p:cNvSpPr/>
          <p:nvPr/>
        </p:nvSpPr>
        <p:spPr>
          <a:xfrm>
            <a:off x="5262563" y="5511105"/>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C5BDA6"/>
                </a:solidFill>
                <a:latin typeface="Georgia" pitchFamily="34" charset="0"/>
                <a:ea typeface="Georgia" pitchFamily="34" charset="-122"/>
                <a:cs typeface="Georgia" pitchFamily="34" charset="-120"/>
              </a:rPr>
              <a:t>DV</a:t>
            </a:r>
            <a:endParaRPr lang="en-US" sz="1950" dirty="0"/>
          </a:p>
        </p:txBody>
      </p:sp>
      <p:sp>
        <p:nvSpPr>
          <p:cNvPr id="95" name="Shape 90"/>
          <p:cNvSpPr/>
          <p:nvPr/>
        </p:nvSpPr>
        <p:spPr>
          <a:xfrm>
            <a:off x="5732785" y="6010796"/>
            <a:ext cx="196528" cy="196528"/>
          </a:xfrm>
          <a:prstGeom prst="ellipse">
            <a:avLst/>
          </a:prstGeom>
          <a:solidFill>
            <a:srgbClr val="8A1F2A"/>
          </a:solidFill>
          <a:ln w="19050">
            <a:solidFill>
              <a:srgbClr val="16151D"/>
            </a:solidFill>
            <a:prstDash val="solid"/>
          </a:ln>
        </p:spPr>
      </p:sp>
      <p:sp>
        <p:nvSpPr>
          <p:cNvPr id="96" name="Text 91"/>
          <p:cNvSpPr/>
          <p:nvPr/>
        </p:nvSpPr>
        <p:spPr>
          <a:xfrm>
            <a:off x="6053138" y="5501580"/>
            <a:ext cx="1492716"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ECE6D6"/>
                </a:solidFill>
                <a:latin typeface="Georgia" pitchFamily="34" charset="0"/>
                <a:ea typeface="Georgia" pitchFamily="34" charset="-122"/>
                <a:cs typeface="Georgia" pitchFamily="34" charset="-120"/>
              </a:rPr>
              <a:t>Dragomir Vale</a:t>
            </a:r>
            <a:endParaRPr lang="en-US" sz="1650" dirty="0"/>
          </a:p>
        </p:txBody>
      </p:sp>
      <p:sp>
        <p:nvSpPr>
          <p:cNvPr id="97" name="Text 92"/>
          <p:cNvSpPr/>
          <p:nvPr/>
        </p:nvSpPr>
        <p:spPr>
          <a:xfrm>
            <a:off x="9643988" y="5548238"/>
            <a:ext cx="419174" cy="185738"/>
          </a:xfrm>
          <a:prstGeom prst="rect">
            <a:avLst/>
          </a:prstGeom>
          <a:noFill/>
          <a:ln/>
        </p:spPr>
        <p:txBody>
          <a:bodyPr wrap="square" lIns="25400" tIns="25400" rIns="25400" bIns="25400" rtlCol="0" anchor="t">
            <a:normAutofit/>
          </a:bodyPr>
          <a:lstStyle/>
          <a:p>
            <a:pPr algn="l" indent="0" marL="0">
              <a:buNone/>
            </a:pPr>
            <a:r>
              <a:rPr lang="en-US" sz="900" dirty="0">
                <a:solidFill>
                  <a:srgbClr val="837B66"/>
                </a:solidFill>
                <a:latin typeface="Courier New" pitchFamily="34" charset="0"/>
                <a:ea typeface="Courier New" pitchFamily="34" charset="-122"/>
                <a:cs typeface="Courier New" pitchFamily="34" charset="-120"/>
              </a:rPr>
              <a:t>LVL 4</a:t>
            </a:r>
            <a:endParaRPr lang="en-US" sz="900" dirty="0"/>
          </a:p>
        </p:txBody>
      </p:sp>
      <p:sp>
        <p:nvSpPr>
          <p:cNvPr id="98" name="Text 93"/>
          <p:cNvSpPr/>
          <p:nvPr/>
        </p:nvSpPr>
        <p:spPr>
          <a:xfrm>
            <a:off x="6053138" y="5752058"/>
            <a:ext cx="4327208" cy="190500"/>
          </a:xfrm>
          <a:prstGeom prst="rect">
            <a:avLst/>
          </a:prstGeom>
          <a:noFill/>
          <a:ln/>
        </p:spPr>
        <p:txBody>
          <a:bodyPr wrap="square" lIns="25400" tIns="25400" rIns="25400" bIns="25400" rtlCol="0" anchor="t">
            <a:normAutofit/>
          </a:bodyPr>
          <a:lstStyle/>
          <a:p>
            <a:pPr algn="l" indent="0" marL="0">
              <a:buNone/>
            </a:pPr>
            <a:r>
              <a:rPr lang="en-US" sz="1050" i="1" dirty="0">
                <a:solidFill>
                  <a:srgbClr val="837B66"/>
                </a:solidFill>
                <a:latin typeface="Georgia" pitchFamily="34" charset="0"/>
                <a:ea typeface="Georgia" pitchFamily="34" charset="-122"/>
                <a:cs typeface="Georgia" pitchFamily="34" charset="-120"/>
              </a:rPr>
              <a:t>Oathbreaker, struck</a:t>
            </a:r>
            <a:endParaRPr lang="en-US" sz="1050" dirty="0"/>
          </a:p>
        </p:txBody>
      </p:sp>
      <p:sp>
        <p:nvSpPr>
          <p:cNvPr id="99" name="Shape 94"/>
          <p:cNvSpPr/>
          <p:nvPr/>
        </p:nvSpPr>
        <p:spPr>
          <a:xfrm>
            <a:off x="6053138" y="5980658"/>
            <a:ext cx="922065" cy="217140"/>
          </a:xfrm>
          <a:prstGeom prst="roundRect">
            <a:avLst>
              <a:gd name="adj" fmla="val 50000"/>
            </a:avLst>
          </a:prstGeom>
          <a:ln w="9525">
            <a:solidFill>
              <a:srgbClr val="C99A5B"/>
            </a:solidFill>
            <a:prstDash val="solid"/>
          </a:ln>
        </p:spPr>
      </p:sp>
      <p:sp>
        <p:nvSpPr>
          <p:cNvPr id="100" name="Text 95"/>
          <p:cNvSpPr/>
          <p:nvPr/>
        </p:nvSpPr>
        <p:spPr>
          <a:xfrm>
            <a:off x="6148388" y="6009233"/>
            <a:ext cx="807765" cy="198090"/>
          </a:xfrm>
          <a:prstGeom prst="rect">
            <a:avLst/>
          </a:prstGeom>
          <a:noFill/>
          <a:ln/>
        </p:spPr>
        <p:txBody>
          <a:bodyPr wrap="square" lIns="25400" tIns="25400" rIns="25400" bIns="25400" rtlCol="0" anchor="ctr">
            <a:normAutofit/>
          </a:bodyPr>
          <a:lstStyle/>
          <a:p>
            <a:pPr algn="l" indent="0" marL="0">
              <a:lnSpc>
                <a:spcPct val="140000"/>
              </a:lnSpc>
              <a:buNone/>
            </a:pPr>
            <a:r>
              <a:rPr lang="en-US" sz="900" spc="36" kern="0" dirty="0">
                <a:solidFill>
                  <a:srgbClr val="E0BA80"/>
                </a:solidFill>
                <a:latin typeface="Courier New" pitchFamily="34" charset="0"/>
                <a:ea typeface="Courier New" pitchFamily="34" charset="-122"/>
                <a:cs typeface="Courier New" pitchFamily="34" charset="-120"/>
              </a:rPr>
              <a:t>HOUSE CROW</a:t>
            </a:r>
            <a:endParaRPr lang="en-US" sz="900" dirty="0"/>
          </a:p>
        </p:txBody>
      </p:sp>
      <p:sp>
        <p:nvSpPr>
          <p:cNvPr id="101" name="Shape 96"/>
          <p:cNvSpPr/>
          <p:nvPr/>
        </p:nvSpPr>
        <p:spPr>
          <a:xfrm>
            <a:off x="7051402" y="5980658"/>
            <a:ext cx="597471" cy="217140"/>
          </a:xfrm>
          <a:prstGeom prst="roundRect">
            <a:avLst>
              <a:gd name="adj" fmla="val 50000"/>
            </a:avLst>
          </a:prstGeom>
          <a:solidFill>
            <a:srgbClr val="8A1F2A">
              <a:alpha val="18000"/>
            </a:srgbClr>
          </a:solidFill>
          <a:ln/>
        </p:spPr>
      </p:sp>
      <p:sp>
        <p:nvSpPr>
          <p:cNvPr id="102" name="Shape 97"/>
          <p:cNvSpPr/>
          <p:nvPr/>
        </p:nvSpPr>
        <p:spPr>
          <a:xfrm>
            <a:off x="7146652" y="6060653"/>
            <a:ext cx="57150" cy="57150"/>
          </a:xfrm>
          <a:prstGeom prst="ellipse">
            <a:avLst/>
          </a:prstGeom>
          <a:solidFill>
            <a:srgbClr val="8A1F2A"/>
          </a:solidFill>
          <a:ln/>
        </p:spPr>
      </p:sp>
      <p:sp>
        <p:nvSpPr>
          <p:cNvPr id="103" name="Text 98"/>
          <p:cNvSpPr/>
          <p:nvPr/>
        </p:nvSpPr>
        <p:spPr>
          <a:xfrm>
            <a:off x="7260952" y="6013996"/>
            <a:ext cx="368871"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8A1F2A"/>
                </a:solidFill>
                <a:latin typeface="Courier New" pitchFamily="34" charset="0"/>
                <a:ea typeface="Courier New" pitchFamily="34" charset="-122"/>
                <a:cs typeface="Courier New" pitchFamily="34" charset="-120"/>
              </a:rPr>
              <a:t>DEAD</a:t>
            </a:r>
            <a:endParaRPr lang="en-US" sz="900" dirty="0"/>
          </a:p>
        </p:txBody>
      </p:sp>
      <p:sp>
        <p:nvSpPr>
          <p:cNvPr id="104" name="Shape 99"/>
          <p:cNvSpPr/>
          <p:nvPr/>
        </p:nvSpPr>
        <p:spPr>
          <a:xfrm>
            <a:off x="5119688" y="6350198"/>
            <a:ext cx="5038725" cy="500063"/>
          </a:xfrm>
          <a:prstGeom prst="rect">
            <a:avLst/>
          </a:prstGeom>
          <a:solidFill>
            <a:srgbClr val="100F15"/>
          </a:solidFill>
          <a:ln/>
        </p:spPr>
      </p:sp>
      <p:sp>
        <p:nvSpPr>
          <p:cNvPr id="105" name="Shape 100"/>
          <p:cNvSpPr/>
          <p:nvPr/>
        </p:nvSpPr>
        <p:spPr>
          <a:xfrm>
            <a:off x="5119688" y="6350198"/>
            <a:ext cx="5038725" cy="9525"/>
          </a:xfrm>
          <a:prstGeom prst="rect">
            <a:avLst/>
          </a:prstGeom>
          <a:solidFill>
            <a:srgbClr val="2A2933"/>
          </a:solidFill>
          <a:ln/>
        </p:spPr>
      </p:sp>
      <p:sp>
        <p:nvSpPr>
          <p:cNvPr id="106" name="Text 101"/>
          <p:cNvSpPr/>
          <p:nvPr/>
        </p:nvSpPr>
        <p:spPr>
          <a:xfrm>
            <a:off x="5098892" y="6445448"/>
            <a:ext cx="1714790"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HP</a:t>
            </a:r>
            <a:endParaRPr lang="en-US" sz="750" dirty="0"/>
          </a:p>
        </p:txBody>
      </p:sp>
      <p:sp>
        <p:nvSpPr>
          <p:cNvPr id="107" name="Text 102"/>
          <p:cNvSpPr/>
          <p:nvPr/>
        </p:nvSpPr>
        <p:spPr>
          <a:xfrm>
            <a:off x="5098892" y="6569273"/>
            <a:ext cx="1714790"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0</a:t>
            </a:r>
            <a:endParaRPr lang="en-US" sz="1350" dirty="0"/>
          </a:p>
        </p:txBody>
      </p:sp>
      <p:sp>
        <p:nvSpPr>
          <p:cNvPr id="108" name="Shape 103"/>
          <p:cNvSpPr/>
          <p:nvPr/>
        </p:nvSpPr>
        <p:spPr>
          <a:xfrm>
            <a:off x="6792888" y="6359723"/>
            <a:ext cx="9525" cy="490538"/>
          </a:xfrm>
          <a:prstGeom prst="rect">
            <a:avLst/>
          </a:prstGeom>
          <a:solidFill>
            <a:srgbClr val="2A2933"/>
          </a:solidFill>
          <a:ln/>
        </p:spPr>
      </p:sp>
      <p:sp>
        <p:nvSpPr>
          <p:cNvPr id="109" name="Text 104"/>
          <p:cNvSpPr/>
          <p:nvPr/>
        </p:nvSpPr>
        <p:spPr>
          <a:xfrm>
            <a:off x="6781614" y="6445448"/>
            <a:ext cx="1714872"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ARMOUR</a:t>
            </a:r>
            <a:endParaRPr lang="en-US" sz="750" dirty="0"/>
          </a:p>
        </p:txBody>
      </p:sp>
      <p:sp>
        <p:nvSpPr>
          <p:cNvPr id="110" name="Text 105"/>
          <p:cNvSpPr/>
          <p:nvPr/>
        </p:nvSpPr>
        <p:spPr>
          <a:xfrm>
            <a:off x="6781614" y="6569273"/>
            <a:ext cx="1714872"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3</a:t>
            </a:r>
            <a:endParaRPr lang="en-US" sz="1350" dirty="0"/>
          </a:p>
        </p:txBody>
      </p:sp>
      <p:sp>
        <p:nvSpPr>
          <p:cNvPr id="111" name="Shape 106"/>
          <p:cNvSpPr/>
          <p:nvPr/>
        </p:nvSpPr>
        <p:spPr>
          <a:xfrm>
            <a:off x="8475687" y="6359723"/>
            <a:ext cx="9525" cy="490538"/>
          </a:xfrm>
          <a:prstGeom prst="rect">
            <a:avLst/>
          </a:prstGeom>
          <a:solidFill>
            <a:srgbClr val="2A2933"/>
          </a:solidFill>
          <a:ln/>
        </p:spPr>
      </p:sp>
      <p:sp>
        <p:nvSpPr>
          <p:cNvPr id="112" name="Text 107"/>
          <p:cNvSpPr/>
          <p:nvPr/>
        </p:nvSpPr>
        <p:spPr>
          <a:xfrm>
            <a:off x="8464417" y="6445448"/>
            <a:ext cx="1714790"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STANDING</a:t>
            </a:r>
            <a:endParaRPr lang="en-US" sz="750" dirty="0"/>
          </a:p>
        </p:txBody>
      </p:sp>
      <p:sp>
        <p:nvSpPr>
          <p:cNvPr id="113" name="Text 108"/>
          <p:cNvSpPr/>
          <p:nvPr/>
        </p:nvSpPr>
        <p:spPr>
          <a:xfrm>
            <a:off x="8464417" y="6569273"/>
            <a:ext cx="1714790"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12</a:t>
            </a:r>
            <a:endParaRPr lang="en-US" sz="1350" dirty="0"/>
          </a:p>
        </p:txBody>
      </p:sp>
      <p:sp>
        <p:nvSpPr>
          <p:cNvPr id="114" name="Shape 109"/>
          <p:cNvSpPr/>
          <p:nvPr/>
        </p:nvSpPr>
        <p:spPr>
          <a:xfrm>
            <a:off x="10339388" y="5339655"/>
            <a:ext cx="5057775" cy="1520130"/>
          </a:xfrm>
          <a:prstGeom prst="roundRect">
            <a:avLst>
              <a:gd name="adj" fmla="val 3133"/>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115" name="Shape 110"/>
          <p:cNvSpPr/>
          <p:nvPr/>
        </p:nvSpPr>
        <p:spPr>
          <a:xfrm>
            <a:off x="10348913" y="5349180"/>
            <a:ext cx="28575" cy="1501080"/>
          </a:xfrm>
          <a:prstGeom prst="rect">
            <a:avLst/>
          </a:prstGeom>
          <a:solidFill>
            <a:srgbClr val="9B1C1C"/>
          </a:solidFill>
          <a:ln/>
        </p:spPr>
      </p:sp>
      <p:sp>
        <p:nvSpPr>
          <p:cNvPr id="116" name="Shape 111"/>
          <p:cNvSpPr/>
          <p:nvPr/>
        </p:nvSpPr>
        <p:spPr>
          <a:xfrm>
            <a:off x="10520363" y="5501580"/>
            <a:ext cx="628650" cy="628650"/>
          </a:xfrm>
          <a:prstGeom prst="roundRect">
            <a:avLst>
              <a:gd name="adj" fmla="val 4545"/>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117" name="Text 112"/>
          <p:cNvSpPr/>
          <p:nvPr/>
        </p:nvSpPr>
        <p:spPr>
          <a:xfrm>
            <a:off x="10491788" y="5511105"/>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C5BDA6"/>
                </a:solidFill>
                <a:latin typeface="Georgia" pitchFamily="34" charset="0"/>
                <a:ea typeface="Georgia" pitchFamily="34" charset="-122"/>
                <a:cs typeface="Georgia" pitchFamily="34" charset="-120"/>
              </a:rPr>
              <a:t>SF</a:t>
            </a:r>
            <a:endParaRPr lang="en-US" sz="1950" dirty="0"/>
          </a:p>
        </p:txBody>
      </p:sp>
      <p:sp>
        <p:nvSpPr>
          <p:cNvPr id="118" name="Shape 113"/>
          <p:cNvSpPr/>
          <p:nvPr/>
        </p:nvSpPr>
        <p:spPr>
          <a:xfrm>
            <a:off x="10962010" y="6010796"/>
            <a:ext cx="196528" cy="196528"/>
          </a:xfrm>
          <a:prstGeom prst="ellipse">
            <a:avLst/>
          </a:prstGeom>
          <a:solidFill>
            <a:srgbClr val="5B7A4E"/>
          </a:solidFill>
          <a:ln w="19050">
            <a:solidFill>
              <a:srgbClr val="16151D"/>
            </a:solidFill>
            <a:prstDash val="solid"/>
          </a:ln>
        </p:spPr>
      </p:sp>
      <p:sp>
        <p:nvSpPr>
          <p:cNvPr id="119" name="Text 114"/>
          <p:cNvSpPr/>
          <p:nvPr/>
        </p:nvSpPr>
        <p:spPr>
          <a:xfrm>
            <a:off x="11282363" y="5501580"/>
            <a:ext cx="1530697"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ECE6D6"/>
                </a:solidFill>
                <a:latin typeface="Georgia" pitchFamily="34" charset="0"/>
                <a:ea typeface="Georgia" pitchFamily="34" charset="-122"/>
                <a:cs typeface="Georgia" pitchFamily="34" charset="-120"/>
              </a:rPr>
              <a:t>Sieglinde Frost</a:t>
            </a:r>
            <a:endParaRPr lang="en-US" sz="1650" dirty="0"/>
          </a:p>
        </p:txBody>
      </p:sp>
      <p:sp>
        <p:nvSpPr>
          <p:cNvPr id="120" name="Text 115"/>
          <p:cNvSpPr/>
          <p:nvPr/>
        </p:nvSpPr>
        <p:spPr>
          <a:xfrm>
            <a:off x="14873213" y="5548238"/>
            <a:ext cx="419174" cy="185738"/>
          </a:xfrm>
          <a:prstGeom prst="rect">
            <a:avLst/>
          </a:prstGeom>
          <a:noFill/>
          <a:ln/>
        </p:spPr>
        <p:txBody>
          <a:bodyPr wrap="square" lIns="25400" tIns="25400" rIns="25400" bIns="25400" rtlCol="0" anchor="t">
            <a:normAutofit/>
          </a:bodyPr>
          <a:lstStyle/>
          <a:p>
            <a:pPr algn="l" indent="0" marL="0">
              <a:buNone/>
            </a:pPr>
            <a:r>
              <a:rPr lang="en-US" sz="900" dirty="0">
                <a:solidFill>
                  <a:srgbClr val="837B66"/>
                </a:solidFill>
                <a:latin typeface="Courier New" pitchFamily="34" charset="0"/>
                <a:ea typeface="Courier New" pitchFamily="34" charset="-122"/>
                <a:cs typeface="Courier New" pitchFamily="34" charset="-120"/>
              </a:rPr>
              <a:t>LVL 8</a:t>
            </a:r>
            <a:endParaRPr lang="en-US" sz="900" dirty="0"/>
          </a:p>
        </p:txBody>
      </p:sp>
      <p:sp>
        <p:nvSpPr>
          <p:cNvPr id="121" name="Text 116"/>
          <p:cNvSpPr/>
          <p:nvPr/>
        </p:nvSpPr>
        <p:spPr>
          <a:xfrm>
            <a:off x="11282363" y="5752058"/>
            <a:ext cx="4327208" cy="190500"/>
          </a:xfrm>
          <a:prstGeom prst="rect">
            <a:avLst/>
          </a:prstGeom>
          <a:noFill/>
          <a:ln/>
        </p:spPr>
        <p:txBody>
          <a:bodyPr wrap="square" lIns="25400" tIns="25400" rIns="25400" bIns="25400" rtlCol="0" anchor="t">
            <a:normAutofit/>
          </a:bodyPr>
          <a:lstStyle/>
          <a:p>
            <a:pPr algn="l" indent="0" marL="0">
              <a:buNone/>
            </a:pPr>
            <a:r>
              <a:rPr lang="en-US" sz="1050" i="1" dirty="0">
                <a:solidFill>
                  <a:srgbClr val="837B66"/>
                </a:solidFill>
                <a:latin typeface="Georgia" pitchFamily="34" charset="0"/>
                <a:ea typeface="Georgia" pitchFamily="34" charset="-122"/>
                <a:cs typeface="Georgia" pitchFamily="34" charset="-120"/>
              </a:rPr>
              <a:t>First of the cohort</a:t>
            </a:r>
            <a:endParaRPr lang="en-US" sz="1050" dirty="0"/>
          </a:p>
        </p:txBody>
      </p:sp>
      <p:sp>
        <p:nvSpPr>
          <p:cNvPr id="122" name="Shape 117"/>
          <p:cNvSpPr/>
          <p:nvPr/>
        </p:nvSpPr>
        <p:spPr>
          <a:xfrm>
            <a:off x="11282363" y="5980658"/>
            <a:ext cx="995214" cy="217140"/>
          </a:xfrm>
          <a:prstGeom prst="roundRect">
            <a:avLst>
              <a:gd name="adj" fmla="val 50000"/>
            </a:avLst>
          </a:prstGeom>
          <a:ln w="9525">
            <a:solidFill>
              <a:srgbClr val="C99A5B"/>
            </a:solidFill>
            <a:prstDash val="solid"/>
          </a:ln>
        </p:spPr>
      </p:sp>
      <p:sp>
        <p:nvSpPr>
          <p:cNvPr id="123" name="Text 118"/>
          <p:cNvSpPr/>
          <p:nvPr/>
        </p:nvSpPr>
        <p:spPr>
          <a:xfrm>
            <a:off x="11377612" y="6009233"/>
            <a:ext cx="880914" cy="198090"/>
          </a:xfrm>
          <a:prstGeom prst="rect">
            <a:avLst/>
          </a:prstGeom>
          <a:noFill/>
          <a:ln/>
        </p:spPr>
        <p:txBody>
          <a:bodyPr wrap="square" lIns="25400" tIns="25400" rIns="25400" bIns="25400" rtlCol="0" anchor="ctr">
            <a:normAutofit/>
          </a:bodyPr>
          <a:lstStyle/>
          <a:p>
            <a:pPr algn="l" indent="0" marL="0">
              <a:lnSpc>
                <a:spcPct val="140000"/>
              </a:lnSpc>
              <a:buNone/>
            </a:pPr>
            <a:r>
              <a:rPr lang="en-US" sz="900" spc="36" kern="0" dirty="0">
                <a:solidFill>
                  <a:srgbClr val="E0BA80"/>
                </a:solidFill>
                <a:latin typeface="Courier New" pitchFamily="34" charset="0"/>
                <a:ea typeface="Courier New" pitchFamily="34" charset="-122"/>
                <a:cs typeface="Courier New" pitchFamily="34" charset="-120"/>
              </a:rPr>
              <a:t>HOUSE STORM</a:t>
            </a:r>
            <a:endParaRPr lang="en-US" sz="900" dirty="0"/>
          </a:p>
        </p:txBody>
      </p:sp>
      <p:sp>
        <p:nvSpPr>
          <p:cNvPr id="124" name="Shape 119"/>
          <p:cNvSpPr/>
          <p:nvPr/>
        </p:nvSpPr>
        <p:spPr>
          <a:xfrm>
            <a:off x="12353776" y="5980658"/>
            <a:ext cx="670620" cy="217140"/>
          </a:xfrm>
          <a:prstGeom prst="roundRect">
            <a:avLst>
              <a:gd name="adj" fmla="val 50000"/>
            </a:avLst>
          </a:prstGeom>
          <a:solidFill>
            <a:srgbClr val="5B7A4E">
              <a:alpha val="16000"/>
            </a:srgbClr>
          </a:solidFill>
          <a:ln/>
        </p:spPr>
      </p:sp>
      <p:sp>
        <p:nvSpPr>
          <p:cNvPr id="125" name="Shape 120"/>
          <p:cNvSpPr/>
          <p:nvPr/>
        </p:nvSpPr>
        <p:spPr>
          <a:xfrm>
            <a:off x="12449026" y="6060653"/>
            <a:ext cx="57150" cy="57150"/>
          </a:xfrm>
          <a:prstGeom prst="ellipse">
            <a:avLst/>
          </a:prstGeom>
          <a:solidFill>
            <a:srgbClr val="5B7A4E"/>
          </a:solidFill>
          <a:ln/>
        </p:spPr>
      </p:sp>
      <p:sp>
        <p:nvSpPr>
          <p:cNvPr id="126" name="Text 121"/>
          <p:cNvSpPr/>
          <p:nvPr/>
        </p:nvSpPr>
        <p:spPr>
          <a:xfrm>
            <a:off x="12563326" y="6013996"/>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127" name="Shape 122"/>
          <p:cNvSpPr/>
          <p:nvPr/>
        </p:nvSpPr>
        <p:spPr>
          <a:xfrm>
            <a:off x="10348913" y="6350198"/>
            <a:ext cx="5038725" cy="500063"/>
          </a:xfrm>
          <a:prstGeom prst="rect">
            <a:avLst/>
          </a:prstGeom>
          <a:solidFill>
            <a:srgbClr val="100F15"/>
          </a:solidFill>
          <a:ln/>
        </p:spPr>
      </p:sp>
      <p:sp>
        <p:nvSpPr>
          <p:cNvPr id="128" name="Shape 123"/>
          <p:cNvSpPr/>
          <p:nvPr/>
        </p:nvSpPr>
        <p:spPr>
          <a:xfrm>
            <a:off x="10348913" y="6350198"/>
            <a:ext cx="5038725" cy="9525"/>
          </a:xfrm>
          <a:prstGeom prst="rect">
            <a:avLst/>
          </a:prstGeom>
          <a:solidFill>
            <a:srgbClr val="2A2933"/>
          </a:solidFill>
          <a:ln/>
        </p:spPr>
      </p:sp>
      <p:sp>
        <p:nvSpPr>
          <p:cNvPr id="129" name="Text 124"/>
          <p:cNvSpPr/>
          <p:nvPr/>
        </p:nvSpPr>
        <p:spPr>
          <a:xfrm>
            <a:off x="10328117" y="6445448"/>
            <a:ext cx="1714790"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HP</a:t>
            </a:r>
            <a:endParaRPr lang="en-US" sz="750" dirty="0"/>
          </a:p>
        </p:txBody>
      </p:sp>
      <p:sp>
        <p:nvSpPr>
          <p:cNvPr id="130" name="Text 125"/>
          <p:cNvSpPr/>
          <p:nvPr/>
        </p:nvSpPr>
        <p:spPr>
          <a:xfrm>
            <a:off x="10328117" y="6569273"/>
            <a:ext cx="1714790"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24</a:t>
            </a:r>
            <a:endParaRPr lang="en-US" sz="1350" dirty="0"/>
          </a:p>
        </p:txBody>
      </p:sp>
      <p:sp>
        <p:nvSpPr>
          <p:cNvPr id="131" name="Shape 126"/>
          <p:cNvSpPr/>
          <p:nvPr/>
        </p:nvSpPr>
        <p:spPr>
          <a:xfrm>
            <a:off x="12022113" y="6359723"/>
            <a:ext cx="9525" cy="490538"/>
          </a:xfrm>
          <a:prstGeom prst="rect">
            <a:avLst/>
          </a:prstGeom>
          <a:solidFill>
            <a:srgbClr val="2A2933"/>
          </a:solidFill>
          <a:ln/>
        </p:spPr>
      </p:sp>
      <p:sp>
        <p:nvSpPr>
          <p:cNvPr id="132" name="Text 127"/>
          <p:cNvSpPr/>
          <p:nvPr/>
        </p:nvSpPr>
        <p:spPr>
          <a:xfrm>
            <a:off x="12010839" y="6445448"/>
            <a:ext cx="1714872"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ARMOUR</a:t>
            </a:r>
            <a:endParaRPr lang="en-US" sz="750" dirty="0"/>
          </a:p>
        </p:txBody>
      </p:sp>
      <p:sp>
        <p:nvSpPr>
          <p:cNvPr id="133" name="Text 128"/>
          <p:cNvSpPr/>
          <p:nvPr/>
        </p:nvSpPr>
        <p:spPr>
          <a:xfrm>
            <a:off x="12010839" y="6569273"/>
            <a:ext cx="1714872"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5</a:t>
            </a:r>
            <a:endParaRPr lang="en-US" sz="1350" dirty="0"/>
          </a:p>
        </p:txBody>
      </p:sp>
      <p:sp>
        <p:nvSpPr>
          <p:cNvPr id="134" name="Shape 129"/>
          <p:cNvSpPr/>
          <p:nvPr/>
        </p:nvSpPr>
        <p:spPr>
          <a:xfrm>
            <a:off x="13704912" y="6359723"/>
            <a:ext cx="9525" cy="490538"/>
          </a:xfrm>
          <a:prstGeom prst="rect">
            <a:avLst/>
          </a:prstGeom>
          <a:solidFill>
            <a:srgbClr val="2A2933"/>
          </a:solidFill>
          <a:ln/>
        </p:spPr>
      </p:sp>
      <p:sp>
        <p:nvSpPr>
          <p:cNvPr id="135" name="Text 130"/>
          <p:cNvSpPr/>
          <p:nvPr/>
        </p:nvSpPr>
        <p:spPr>
          <a:xfrm>
            <a:off x="13693642" y="6445448"/>
            <a:ext cx="1714790"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STANDING</a:t>
            </a:r>
            <a:endParaRPr lang="en-US" sz="750" dirty="0"/>
          </a:p>
        </p:txBody>
      </p:sp>
      <p:sp>
        <p:nvSpPr>
          <p:cNvPr id="136" name="Text 131"/>
          <p:cNvSpPr/>
          <p:nvPr/>
        </p:nvSpPr>
        <p:spPr>
          <a:xfrm>
            <a:off x="13693642" y="6569273"/>
            <a:ext cx="1714790"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94</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6326445"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LARP · PLAYER CABINET</a:t>
            </a:r>
            <a:endParaRPr lang="en-US" sz="1275" dirty="0"/>
          </a:p>
        </p:txBody>
      </p:sp>
      <p:sp>
        <p:nvSpPr>
          <p:cNvPr id="4" name="Text 2"/>
          <p:cNvSpPr/>
          <p:nvPr/>
        </p:nvSpPr>
        <p:spPr>
          <a:xfrm>
            <a:off x="533400" y="766763"/>
            <a:ext cx="6326445"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Character Sheet &amp; Assessment</a:t>
            </a:r>
            <a:endParaRPr lang="en-US" sz="3450" dirty="0"/>
          </a:p>
        </p:txBody>
      </p:sp>
      <p:sp>
        <p:nvSpPr>
          <p:cNvPr id="5" name="Shape 3"/>
          <p:cNvSpPr/>
          <p:nvPr/>
        </p:nvSpPr>
        <p:spPr>
          <a:xfrm>
            <a:off x="15966728" y="438150"/>
            <a:ext cx="1787872" cy="381000"/>
          </a:xfrm>
          <a:prstGeom prst="roundRect">
            <a:avLst>
              <a:gd name="adj" fmla="val 50000"/>
            </a:avLst>
          </a:prstGeom>
          <a:solidFill>
            <a:srgbClr val="F2ECDC"/>
          </a:solidFill>
          <a:ln w="9525">
            <a:solidFill>
              <a:srgbClr val="C2B79C"/>
            </a:solidFill>
            <a:prstDash val="solid"/>
          </a:ln>
        </p:spPr>
      </p:sp>
      <p:sp>
        <p:nvSpPr>
          <p:cNvPr id="6" name="Shape 4"/>
          <p:cNvSpPr/>
          <p:nvPr/>
        </p:nvSpPr>
        <p:spPr>
          <a:xfrm>
            <a:off x="16081028" y="533400"/>
            <a:ext cx="190500" cy="190500"/>
          </a:xfrm>
          <a:prstGeom prst="ellipse">
            <a:avLst/>
          </a:prstGeom>
          <a:solidFill>
            <a:srgbClr val="E7DFCC"/>
          </a:solidFill>
          <a:ln w="9525">
            <a:solidFill>
              <a:srgbClr val="FFFFFF">
                <a:alpha val="18000"/>
              </a:srgbClr>
            </a:solidFill>
            <a:prstDash val="solid"/>
          </a:ln>
        </p:spPr>
      </p:sp>
      <p:sp>
        <p:nvSpPr>
          <p:cNvPr id="7" name="Text 5"/>
          <p:cNvSpPr/>
          <p:nvPr/>
        </p:nvSpPr>
        <p:spPr>
          <a:xfrm>
            <a:off x="16366778" y="533400"/>
            <a:ext cx="1302097" cy="228600"/>
          </a:xfrm>
          <a:prstGeom prst="rect">
            <a:avLst/>
          </a:prstGeom>
          <a:noFill/>
          <a:ln/>
        </p:spPr>
        <p:txBody>
          <a:bodyPr wrap="none" lIns="0" tIns="0" rIns="0" bIns="0" rtlCol="0" anchor="t">
            <a:normAutofit/>
          </a:bodyPr>
          <a:lstStyle/>
          <a:p>
            <a:pPr algn="l" indent="0" marL="0">
              <a:buNone/>
            </a:pPr>
            <a:r>
              <a:rPr lang="en-US" sz="1125" spc="68" kern="0" dirty="0">
                <a:solidFill>
                  <a:srgbClr val="423A2C"/>
                </a:solidFill>
                <a:latin typeface="Courier New" pitchFamily="34" charset="0"/>
                <a:ea typeface="Courier New" pitchFamily="34" charset="-122"/>
                <a:cs typeface="Courier New" pitchFamily="34" charset="-120"/>
              </a:rPr>
              <a:t>Light · light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E7DFCC"/>
          </a:solidFill>
          <a:ln/>
        </p:spPr>
      </p:sp>
      <p:sp>
        <p:nvSpPr>
          <p:cNvPr id="10" name="Shape 8"/>
          <p:cNvSpPr/>
          <p:nvPr/>
        </p:nvSpPr>
        <p:spPr>
          <a:xfrm>
            <a:off x="542925" y="1462088"/>
            <a:ext cx="2219325" cy="8320088"/>
          </a:xfrm>
          <a:prstGeom prst="rect">
            <a:avLst/>
          </a:prstGeom>
          <a:solidFill>
            <a:srgbClr val="DED5BF"/>
          </a:solidFill>
          <a:ln/>
        </p:spPr>
      </p:sp>
      <p:sp>
        <p:nvSpPr>
          <p:cNvPr id="11" name="Shape 9"/>
          <p:cNvSpPr/>
          <p:nvPr/>
        </p:nvSpPr>
        <p:spPr>
          <a:xfrm>
            <a:off x="2752725" y="1462088"/>
            <a:ext cx="9525" cy="8320088"/>
          </a:xfrm>
          <a:prstGeom prst="rect">
            <a:avLst/>
          </a:prstGeom>
          <a:solidFill>
            <a:srgbClr val="D2C8B0"/>
          </a:solidFill>
          <a:ln/>
        </p:spPr>
      </p:sp>
      <p:sp>
        <p:nvSpPr>
          <p:cNvPr id="12" name="Shape 10"/>
          <p:cNvSpPr/>
          <p:nvPr/>
        </p:nvSpPr>
        <p:spPr>
          <a:xfrm>
            <a:off x="542925" y="2071688"/>
            <a:ext cx="2209800" cy="9525"/>
          </a:xfrm>
          <a:prstGeom prst="rect">
            <a:avLst/>
          </a:prstGeom>
          <a:solidFill>
            <a:srgbClr val="D2C8B0"/>
          </a:solidFill>
          <a:ln/>
        </p:spPr>
      </p:sp>
      <p:sp>
        <p:nvSpPr>
          <p:cNvPr id="13" name="Text 11"/>
          <p:cNvSpPr/>
          <p:nvPr/>
        </p:nvSpPr>
        <p:spPr>
          <a:xfrm>
            <a:off x="733425" y="1671638"/>
            <a:ext cx="277564"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7C1418"/>
                </a:solidFill>
                <a:latin typeface="Georgia" pitchFamily="34" charset="0"/>
                <a:ea typeface="Georgia" pitchFamily="34" charset="-122"/>
                <a:cs typeface="Georgia" pitchFamily="34" charset="-120"/>
              </a:rPr>
              <a:t>ᛏ</a:t>
            </a:r>
            <a:endParaRPr lang="en-US" sz="1350" dirty="0"/>
          </a:p>
        </p:txBody>
      </p:sp>
      <p:sp>
        <p:nvSpPr>
          <p:cNvPr id="14" name="Text 12"/>
          <p:cNvSpPr/>
          <p:nvPr/>
        </p:nvSpPr>
        <p:spPr>
          <a:xfrm>
            <a:off x="1030039" y="1700213"/>
            <a:ext cx="799430" cy="20955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1C1812"/>
                </a:solidFill>
                <a:latin typeface="Georgia" pitchFamily="34" charset="0"/>
                <a:ea typeface="Georgia" pitchFamily="34" charset="-122"/>
                <a:cs typeface="Georgia" pitchFamily="34" charset="-120"/>
              </a:rPr>
              <a:t>CABINET</a:t>
            </a:r>
            <a:endParaRPr lang="en-US" sz="1200"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6" name="Text 13"/>
          <p:cNvSpPr/>
          <p:nvPr/>
        </p:nvSpPr>
        <p:spPr>
          <a:xfrm>
            <a:off x="1057275" y="2290763"/>
            <a:ext cx="524694" cy="257175"/>
          </a:xfrm>
          <a:prstGeom prst="rect">
            <a:avLst/>
          </a:prstGeom>
          <a:noFill/>
          <a:ln/>
        </p:spPr>
        <p:txBody>
          <a:bodyPr wrap="square" lIns="0" tIns="0" rIns="0" bIns="0" rtlCol="0" anchor="t">
            <a:normAutofit/>
          </a:bodyPr>
          <a:lstStyle/>
          <a:p>
            <a:pPr algn="l" indent="0" marL="0">
              <a:buNone/>
            </a:pPr>
            <a:r>
              <a:rPr lang="en-US" sz="1125" dirty="0">
                <a:solidFill>
                  <a:srgbClr val="756B57"/>
                </a:solidFill>
                <a:latin typeface="Georgia" pitchFamily="34" charset="0"/>
                <a:ea typeface="Georgia" pitchFamily="34" charset="-122"/>
                <a:cs typeface="Georgia" pitchFamily="34" charset="-120"/>
              </a:rPr>
              <a:t>Cohort</a:t>
            </a:r>
            <a:endParaRPr lang="en-US" sz="1125" dirty="0"/>
          </a:p>
        </p:txBody>
      </p:sp>
      <p:sp>
        <p:nvSpPr>
          <p:cNvPr id="17" name="Shape 14"/>
          <p:cNvSpPr/>
          <p:nvPr/>
        </p:nvSpPr>
        <p:spPr>
          <a:xfrm>
            <a:off x="657225" y="2624138"/>
            <a:ext cx="1981200" cy="409575"/>
          </a:xfrm>
          <a:prstGeom prst="roundRect">
            <a:avLst>
              <a:gd name="adj" fmla="val 6977"/>
            </a:avLst>
          </a:prstGeom>
          <a:solidFill>
            <a:srgbClr val="F8F3E6"/>
          </a:solidFill>
          <a:ln/>
        </p:spPr>
      </p:sp>
      <p:sp>
        <p:nvSpPr>
          <p:cNvPr id="18" name="Shape 15"/>
          <p:cNvSpPr/>
          <p:nvPr/>
        </p:nvSpPr>
        <p:spPr>
          <a:xfrm>
            <a:off x="657225" y="2624138"/>
            <a:ext cx="19050" cy="409575"/>
          </a:xfrm>
          <a:prstGeom prst="rect">
            <a:avLst/>
          </a:prstGeom>
          <a:solidFill>
            <a:srgbClr val="7C1418"/>
          </a:solidFill>
          <a:ln/>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20" name="Text 16"/>
          <p:cNvSpPr/>
          <p:nvPr/>
        </p:nvSpPr>
        <p:spPr>
          <a:xfrm>
            <a:off x="1057275" y="2719388"/>
            <a:ext cx="705148" cy="257175"/>
          </a:xfrm>
          <a:prstGeom prst="rect">
            <a:avLst/>
          </a:prstGeom>
          <a:noFill/>
          <a:ln/>
        </p:spPr>
        <p:txBody>
          <a:bodyPr wrap="square" lIns="0" tIns="0" rIns="0" bIns="0" rtlCol="0" anchor="t">
            <a:normAutofit/>
          </a:bodyPr>
          <a:lstStyle/>
          <a:p>
            <a:pPr algn="l" indent="0" marL="0">
              <a:buNone/>
            </a:pPr>
            <a:r>
              <a:rPr lang="en-US" sz="1125" dirty="0">
                <a:solidFill>
                  <a:srgbClr val="1C1812"/>
                </a:solidFill>
                <a:latin typeface="Georgia" pitchFamily="34" charset="0"/>
                <a:ea typeface="Georgia" pitchFamily="34" charset="-122"/>
                <a:cs typeface="Georgia" pitchFamily="34" charset="-120"/>
              </a:rPr>
              <a:t>Character</a:t>
            </a:r>
            <a:endParaRPr lang="en-US" sz="1125" dirty="0"/>
          </a:p>
        </p:txBody>
      </p:sp>
      <p:sp>
        <p:nvSpPr>
          <p:cNvPr id="21" name="Shape 17"/>
          <p:cNvSpPr/>
          <p:nvPr/>
        </p:nvSpPr>
        <p:spPr>
          <a:xfrm>
            <a:off x="542925" y="9144000"/>
            <a:ext cx="2209800" cy="9525"/>
          </a:xfrm>
          <a:prstGeom prst="rect">
            <a:avLst/>
          </a:prstGeom>
          <a:solidFill>
            <a:srgbClr val="D2C8B0"/>
          </a:solidFill>
          <a:ln/>
        </p:spPr>
      </p:sp>
      <p:sp>
        <p:nvSpPr>
          <p:cNvPr id="22" name="Shape 18"/>
          <p:cNvSpPr/>
          <p:nvPr/>
        </p:nvSpPr>
        <p:spPr>
          <a:xfrm>
            <a:off x="695325" y="9305925"/>
            <a:ext cx="323850" cy="323850"/>
          </a:xfrm>
          <a:prstGeom prst="ellipse">
            <a:avLst/>
          </a:prstGeom>
          <a:solidFill>
            <a:srgbClr val="F8F3E6"/>
          </a:solidFill>
          <a:ln w="9525">
            <a:solidFill>
              <a:srgbClr val="C2B79C"/>
            </a:solidFill>
            <a:prstDash val="solid"/>
          </a:ln>
          <a:effectLst>
            <a:outerShdw sx="100000" sy="100000" kx="0" ky="0" algn="bl" rotWithShape="0" blurRad="19050" dist="9525" dir="5400000">
              <a:srgbClr val="000000">
                <a:alpha val="35000"/>
              </a:srgbClr>
            </a:outerShdw>
          </a:effectLst>
        </p:spPr>
      </p:sp>
      <p:sp>
        <p:nvSpPr>
          <p:cNvPr id="23" name="Text 19"/>
          <p:cNvSpPr/>
          <p:nvPr/>
        </p:nvSpPr>
        <p:spPr>
          <a:xfrm>
            <a:off x="666750" y="931545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423A2C"/>
                </a:solidFill>
                <a:latin typeface="Georgia" pitchFamily="34" charset="0"/>
                <a:ea typeface="Georgia" pitchFamily="34" charset="-122"/>
                <a:cs typeface="Georgia" pitchFamily="34" charset="-120"/>
              </a:rPr>
              <a:t>IV</a:t>
            </a:r>
            <a:endParaRPr lang="en-US" sz="975" dirty="0"/>
          </a:p>
        </p:txBody>
      </p:sp>
      <p:sp>
        <p:nvSpPr>
          <p:cNvPr id="24" name="Shape 20"/>
          <p:cNvSpPr/>
          <p:nvPr/>
        </p:nvSpPr>
        <p:spPr>
          <a:xfrm>
            <a:off x="911423" y="9522023"/>
            <a:ext cx="117277" cy="117277"/>
          </a:xfrm>
          <a:prstGeom prst="ellipse">
            <a:avLst/>
          </a:prstGeom>
          <a:solidFill>
            <a:srgbClr val="B5601F"/>
          </a:solidFill>
          <a:ln w="19050">
            <a:solidFill>
              <a:srgbClr val="F2ECDC"/>
            </a:solidFill>
            <a:prstDash val="solid"/>
          </a:ln>
        </p:spPr>
      </p:sp>
      <p:sp>
        <p:nvSpPr>
          <p:cNvPr id="25" name="Text 21"/>
          <p:cNvSpPr/>
          <p:nvPr/>
        </p:nvSpPr>
        <p:spPr>
          <a:xfrm>
            <a:off x="1133475" y="9322594"/>
            <a:ext cx="1144935"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1C1812"/>
                </a:solidFill>
                <a:latin typeface="Georgia" pitchFamily="34" charset="0"/>
                <a:ea typeface="Georgia" pitchFamily="34" charset="-122"/>
                <a:cs typeface="Georgia" pitchFamily="34" charset="-120"/>
              </a:rPr>
              <a:t>Ivar Holm</a:t>
            </a:r>
            <a:endParaRPr lang="en-US" sz="1050" dirty="0"/>
          </a:p>
        </p:txBody>
      </p:sp>
      <p:sp>
        <p:nvSpPr>
          <p:cNvPr id="26" name="Text 22"/>
          <p:cNvSpPr/>
          <p:nvPr/>
        </p:nvSpPr>
        <p:spPr>
          <a:xfrm>
            <a:off x="1133475" y="9474994"/>
            <a:ext cx="1144935" cy="176212"/>
          </a:xfrm>
          <a:prstGeom prst="rect">
            <a:avLst/>
          </a:prstGeom>
          <a:noFill/>
          <a:ln/>
        </p:spPr>
        <p:txBody>
          <a:bodyPr wrap="square" lIns="25400" tIns="25400" rIns="25400" bIns="25400" rtlCol="0" anchor="t">
            <a:normAutofit/>
          </a:bodyPr>
          <a:lstStyle/>
          <a:p>
            <a:pPr algn="l" indent="0" marL="0">
              <a:buNone/>
            </a:pPr>
            <a:r>
              <a:rPr lang="en-US" sz="825" dirty="0">
                <a:solidFill>
                  <a:srgbClr val="756B57"/>
                </a:solidFill>
                <a:latin typeface="Courier New" pitchFamily="34" charset="0"/>
                <a:ea typeface="Courier New" pitchFamily="34" charset="-122"/>
                <a:cs typeface="Courier New" pitchFamily="34" charset="-120"/>
              </a:rPr>
              <a:t>Player · Cohort B</a:t>
            </a:r>
            <a:endParaRPr lang="en-US" sz="825" dirty="0"/>
          </a:p>
        </p:txBody>
      </p:sp>
      <p:sp>
        <p:nvSpPr>
          <p:cNvPr id="27" name="Shape 23"/>
          <p:cNvSpPr/>
          <p:nvPr/>
        </p:nvSpPr>
        <p:spPr>
          <a:xfrm>
            <a:off x="2762250" y="1462088"/>
            <a:ext cx="14982825" cy="504825"/>
          </a:xfrm>
          <a:prstGeom prst="rect">
            <a:avLst/>
          </a:prstGeom>
          <a:solidFill>
            <a:srgbClr val="E7DFCC"/>
          </a:solidFill>
          <a:ln/>
        </p:spPr>
      </p:sp>
      <p:sp>
        <p:nvSpPr>
          <p:cNvPr id="28" name="Shape 24"/>
          <p:cNvSpPr/>
          <p:nvPr/>
        </p:nvSpPr>
        <p:spPr>
          <a:xfrm>
            <a:off x="2762250" y="1957388"/>
            <a:ext cx="14982825" cy="9525"/>
          </a:xfrm>
          <a:prstGeom prst="rect">
            <a:avLst/>
          </a:prstGeom>
          <a:solidFill>
            <a:srgbClr val="D2C8B0"/>
          </a:solidFill>
          <a:ln/>
        </p:spPr>
      </p:sp>
      <p:sp>
        <p:nvSpPr>
          <p:cNvPr id="29" name="Text 25"/>
          <p:cNvSpPr/>
          <p:nvPr/>
        </p:nvSpPr>
        <p:spPr>
          <a:xfrm>
            <a:off x="2971800" y="1640681"/>
            <a:ext cx="1475281"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56B57"/>
                </a:solidFill>
                <a:latin typeface="Courier New" pitchFamily="34" charset="0"/>
                <a:ea typeface="Courier New" pitchFamily="34" charset="-122"/>
                <a:cs typeface="Courier New" pitchFamily="34" charset="-120"/>
              </a:rPr>
              <a:t>LARP · CHARACTER</a:t>
            </a:r>
            <a:endParaRPr lang="en-US" sz="825" dirty="0"/>
          </a:p>
        </p:txBody>
      </p:sp>
      <p:sp>
        <p:nvSpPr>
          <p:cNvPr id="30" name="Text 26"/>
          <p:cNvSpPr/>
          <p:nvPr/>
        </p:nvSpPr>
        <p:spPr>
          <a:xfrm>
            <a:off x="16659597" y="1640681"/>
            <a:ext cx="952128"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7C1418"/>
                </a:solidFill>
                <a:latin typeface="Courier New" pitchFamily="34" charset="0"/>
                <a:ea typeface="Courier New" pitchFamily="34" charset="-122"/>
                <a:cs typeface="Courier New" pitchFamily="34" charset="-120"/>
              </a:rPr>
              <a:t>House Storm</a:t>
            </a:r>
            <a:endParaRPr lang="en-US" sz="825" dirty="0"/>
          </a:p>
        </p:txBody>
      </p:sp>
      <p:sp>
        <p:nvSpPr>
          <p:cNvPr id="31" name="Shape 27"/>
          <p:cNvSpPr/>
          <p:nvPr/>
        </p:nvSpPr>
        <p:spPr>
          <a:xfrm>
            <a:off x="2762250" y="1966912"/>
            <a:ext cx="14982825" cy="7815263"/>
          </a:xfrm>
          <a:prstGeom prst="rect">
            <a:avLst/>
          </a:prstGeom>
          <a:gradFill rotWithShape="1">
            <a:gsLst>
              <a:gs pos="0">
                <a:srgbClr val="FFFFFF">
                  <a:alpha val="2000"/>
                </a:srgbClr>
              </a:gs>
              <a:gs pos="100000">
                <a:srgbClr val="FFFFFF">
                  <a:alpha val="0"/>
                </a:srgbClr>
              </a:gs>
            </a:gsLst>
            <a:lin ang="5400000" scaled="0"/>
          </a:gradFill>
          <a:ln/>
        </p:spPr>
      </p:sp>
      <p:sp>
        <p:nvSpPr>
          <p:cNvPr id="32" name="Shape 28"/>
          <p:cNvSpPr/>
          <p:nvPr/>
        </p:nvSpPr>
        <p:spPr>
          <a:xfrm>
            <a:off x="5110163" y="2271713"/>
            <a:ext cx="933450" cy="933450"/>
          </a:xfrm>
          <a:prstGeom prst="roundRect">
            <a:avLst>
              <a:gd name="adj" fmla="val 3061"/>
            </a:avLst>
          </a:prstGeom>
          <a:solidFill>
            <a:srgbClr val="F8F3E6"/>
          </a:solidFill>
          <a:ln w="9525">
            <a:solidFill>
              <a:srgbClr val="C2B79C"/>
            </a:solidFill>
            <a:prstDash val="solid"/>
          </a:ln>
          <a:effectLst>
            <a:outerShdw sx="100000" sy="100000" kx="0" ky="0" algn="bl" rotWithShape="0" blurRad="19050" dist="9525" dir="5400000">
              <a:srgbClr val="000000">
                <a:alpha val="35000"/>
              </a:srgbClr>
            </a:outerShdw>
          </a:effectLst>
        </p:spPr>
      </p:sp>
      <p:sp>
        <p:nvSpPr>
          <p:cNvPr id="33" name="Text 29"/>
          <p:cNvSpPr/>
          <p:nvPr/>
        </p:nvSpPr>
        <p:spPr>
          <a:xfrm>
            <a:off x="5081588" y="2281238"/>
            <a:ext cx="990600" cy="952500"/>
          </a:xfrm>
          <a:prstGeom prst="rect">
            <a:avLst/>
          </a:prstGeom>
          <a:noFill/>
          <a:ln/>
        </p:spPr>
        <p:txBody>
          <a:bodyPr wrap="square" lIns="25400" tIns="25400" rIns="25400" bIns="25400" rtlCol="0" anchor="ctr">
            <a:normAutofit/>
          </a:bodyPr>
          <a:lstStyle/>
          <a:p>
            <a:pPr algn="ctr" indent="0" marL="0">
              <a:buNone/>
            </a:pPr>
            <a:r>
              <a:rPr lang="en-US" sz="2850" b="1" dirty="0">
                <a:solidFill>
                  <a:srgbClr val="423A2C"/>
                </a:solidFill>
                <a:latin typeface="Georgia" pitchFamily="34" charset="0"/>
                <a:ea typeface="Georgia" pitchFamily="34" charset="-122"/>
                <a:cs typeface="Georgia" pitchFamily="34" charset="-120"/>
              </a:rPr>
              <a:t>IV</a:t>
            </a:r>
            <a:endParaRPr lang="en-US" sz="2850" dirty="0"/>
          </a:p>
        </p:txBody>
      </p:sp>
      <p:sp>
        <p:nvSpPr>
          <p:cNvPr id="34" name="Shape 30"/>
          <p:cNvSpPr/>
          <p:nvPr/>
        </p:nvSpPr>
        <p:spPr>
          <a:xfrm>
            <a:off x="5777359" y="2938909"/>
            <a:ext cx="275779" cy="275779"/>
          </a:xfrm>
          <a:prstGeom prst="ellipse">
            <a:avLst/>
          </a:prstGeom>
          <a:solidFill>
            <a:srgbClr val="B5601F"/>
          </a:solidFill>
          <a:ln w="19050">
            <a:solidFill>
              <a:srgbClr val="F2ECDC"/>
            </a:solidFill>
            <a:prstDash val="solid"/>
          </a:ln>
        </p:spPr>
      </p:sp>
      <p:sp>
        <p:nvSpPr>
          <p:cNvPr id="35" name="Text 31"/>
          <p:cNvSpPr/>
          <p:nvPr/>
        </p:nvSpPr>
        <p:spPr>
          <a:xfrm>
            <a:off x="6215063" y="2282205"/>
            <a:ext cx="2933209"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C1812"/>
                </a:solidFill>
                <a:latin typeface="Georgia" pitchFamily="34" charset="0"/>
                <a:ea typeface="Georgia" pitchFamily="34" charset="-122"/>
                <a:cs typeface="Georgia" pitchFamily="34" charset="-120"/>
              </a:rPr>
              <a:t>Ivar the Drowned</a:t>
            </a:r>
            <a:endParaRPr lang="en-US" sz="2700" dirty="0"/>
          </a:p>
        </p:txBody>
      </p:sp>
      <p:sp>
        <p:nvSpPr>
          <p:cNvPr id="36" name="Shape 32"/>
          <p:cNvSpPr/>
          <p:nvPr/>
        </p:nvSpPr>
        <p:spPr>
          <a:xfrm>
            <a:off x="8976866" y="2368897"/>
            <a:ext cx="816918" cy="217140"/>
          </a:xfrm>
          <a:prstGeom prst="roundRect">
            <a:avLst>
              <a:gd name="adj" fmla="val 50000"/>
            </a:avLst>
          </a:prstGeom>
          <a:solidFill>
            <a:srgbClr val="B5601F">
              <a:alpha val="16000"/>
            </a:srgbClr>
          </a:solidFill>
          <a:ln/>
        </p:spPr>
      </p:sp>
      <p:sp>
        <p:nvSpPr>
          <p:cNvPr id="37" name="Shape 33"/>
          <p:cNvSpPr/>
          <p:nvPr/>
        </p:nvSpPr>
        <p:spPr>
          <a:xfrm>
            <a:off x="9072116" y="2448892"/>
            <a:ext cx="57150" cy="57150"/>
          </a:xfrm>
          <a:prstGeom prst="ellipse">
            <a:avLst/>
          </a:prstGeom>
          <a:solidFill>
            <a:srgbClr val="B5601F"/>
          </a:solidFill>
          <a:ln/>
        </p:spPr>
      </p:sp>
      <p:sp>
        <p:nvSpPr>
          <p:cNvPr id="38" name="Text 34"/>
          <p:cNvSpPr/>
          <p:nvPr/>
        </p:nvSpPr>
        <p:spPr>
          <a:xfrm>
            <a:off x="9186416" y="2402235"/>
            <a:ext cx="588318"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B5601F"/>
                </a:solidFill>
                <a:latin typeface="Courier New" pitchFamily="34" charset="0"/>
                <a:ea typeface="Courier New" pitchFamily="34" charset="-122"/>
                <a:cs typeface="Courier New" pitchFamily="34" charset="-120"/>
              </a:rPr>
              <a:t>WOUNDED</a:t>
            </a:r>
            <a:endParaRPr lang="en-US" sz="900" dirty="0"/>
          </a:p>
        </p:txBody>
      </p:sp>
      <p:sp>
        <p:nvSpPr>
          <p:cNvPr id="39" name="Text 35"/>
          <p:cNvSpPr/>
          <p:nvPr/>
        </p:nvSpPr>
        <p:spPr>
          <a:xfrm>
            <a:off x="6215063" y="2691780"/>
            <a:ext cx="8932969" cy="209550"/>
          </a:xfrm>
          <a:prstGeom prst="rect">
            <a:avLst/>
          </a:prstGeom>
          <a:noFill/>
          <a:ln/>
        </p:spPr>
        <p:txBody>
          <a:bodyPr wrap="square" lIns="25400" tIns="25400" rIns="25400" bIns="25400" rtlCol="0" anchor="t">
            <a:normAutofit/>
          </a:bodyPr>
          <a:lstStyle/>
          <a:p>
            <a:pPr algn="l" indent="0" marL="0">
              <a:buNone/>
            </a:pPr>
            <a:r>
              <a:rPr lang="en-US" sz="1200" i="1" dirty="0">
                <a:solidFill>
                  <a:srgbClr val="756B57"/>
                </a:solidFill>
                <a:latin typeface="Georgia" pitchFamily="34" charset="0"/>
                <a:ea typeface="Georgia" pitchFamily="34" charset="-122"/>
                <a:cs typeface="Georgia" pitchFamily="34" charset="-120"/>
              </a:rPr>
              <a:t>Saltbound, third of his line</a:t>
            </a:r>
            <a:endParaRPr lang="en-US" sz="1200" dirty="0"/>
          </a:p>
        </p:txBody>
      </p:sp>
      <p:sp>
        <p:nvSpPr>
          <p:cNvPr id="40" name="Shape 36"/>
          <p:cNvSpPr/>
          <p:nvPr/>
        </p:nvSpPr>
        <p:spPr>
          <a:xfrm>
            <a:off x="6215063" y="2977530"/>
            <a:ext cx="995214" cy="217140"/>
          </a:xfrm>
          <a:prstGeom prst="roundRect">
            <a:avLst>
              <a:gd name="adj" fmla="val 50000"/>
            </a:avLst>
          </a:prstGeom>
          <a:ln w="9525">
            <a:solidFill>
              <a:srgbClr val="8A6322"/>
            </a:solidFill>
            <a:prstDash val="solid"/>
          </a:ln>
        </p:spPr>
      </p:sp>
      <p:sp>
        <p:nvSpPr>
          <p:cNvPr id="41" name="Text 37"/>
          <p:cNvSpPr/>
          <p:nvPr/>
        </p:nvSpPr>
        <p:spPr>
          <a:xfrm>
            <a:off x="6310313" y="3006105"/>
            <a:ext cx="880914" cy="198090"/>
          </a:xfrm>
          <a:prstGeom prst="rect">
            <a:avLst/>
          </a:prstGeom>
          <a:noFill/>
          <a:ln/>
        </p:spPr>
        <p:txBody>
          <a:bodyPr wrap="square" lIns="25400" tIns="25400" rIns="25400" bIns="25400" rtlCol="0" anchor="ctr">
            <a:normAutofit/>
          </a:bodyPr>
          <a:lstStyle/>
          <a:p>
            <a:pPr algn="l" indent="0" marL="0">
              <a:lnSpc>
                <a:spcPct val="140000"/>
              </a:lnSpc>
              <a:buNone/>
            </a:pPr>
            <a:r>
              <a:rPr lang="en-US" sz="900" spc="36" kern="0" dirty="0">
                <a:solidFill>
                  <a:srgbClr val="8A6322"/>
                </a:solidFill>
                <a:latin typeface="Courier New" pitchFamily="34" charset="0"/>
                <a:ea typeface="Courier New" pitchFamily="34" charset="-122"/>
                <a:cs typeface="Courier New" pitchFamily="34" charset="-120"/>
              </a:rPr>
              <a:t>HOUSE STORM</a:t>
            </a:r>
            <a:endParaRPr lang="en-US" sz="900" dirty="0"/>
          </a:p>
        </p:txBody>
      </p:sp>
      <p:sp>
        <p:nvSpPr>
          <p:cNvPr id="42" name="Shape 38"/>
          <p:cNvSpPr/>
          <p:nvPr/>
        </p:nvSpPr>
        <p:spPr>
          <a:xfrm>
            <a:off x="7286476" y="2977530"/>
            <a:ext cx="686693" cy="217140"/>
          </a:xfrm>
          <a:prstGeom prst="roundRect">
            <a:avLst>
              <a:gd name="adj" fmla="val 50000"/>
            </a:avLst>
          </a:prstGeom>
          <a:solidFill>
            <a:srgbClr val="F8F3E6"/>
          </a:solidFill>
          <a:ln/>
        </p:spPr>
      </p:sp>
      <p:sp>
        <p:nvSpPr>
          <p:cNvPr id="43" name="Text 39"/>
          <p:cNvSpPr/>
          <p:nvPr/>
        </p:nvSpPr>
        <p:spPr>
          <a:xfrm>
            <a:off x="7381726" y="3006105"/>
            <a:ext cx="442020"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423A2C"/>
                </a:solidFill>
                <a:latin typeface="Courier New" pitchFamily="34" charset="0"/>
                <a:ea typeface="Courier New" pitchFamily="34" charset="-122"/>
                <a:cs typeface="Courier New" pitchFamily="34" charset="-120"/>
              </a:rPr>
              <a:t>LEVEL</a:t>
            </a:r>
            <a:endParaRPr lang="en-US" sz="900" dirty="0"/>
          </a:p>
        </p:txBody>
      </p:sp>
      <p:sp>
        <p:nvSpPr>
          <p:cNvPr id="44" name="Text 40"/>
          <p:cNvSpPr/>
          <p:nvPr/>
        </p:nvSpPr>
        <p:spPr>
          <a:xfrm>
            <a:off x="7804696" y="3010867"/>
            <a:ext cx="149423"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423A2C"/>
                </a:solidFill>
                <a:latin typeface="Courier New" pitchFamily="34" charset="0"/>
                <a:ea typeface="Courier New" pitchFamily="34" charset="-122"/>
                <a:cs typeface="Courier New" pitchFamily="34" charset="-120"/>
              </a:rPr>
              <a:t>7</a:t>
            </a:r>
            <a:endParaRPr lang="en-US" sz="900" dirty="0"/>
          </a:p>
        </p:txBody>
      </p:sp>
      <p:sp>
        <p:nvSpPr>
          <p:cNvPr id="45" name="Shape 41"/>
          <p:cNvSpPr/>
          <p:nvPr/>
        </p:nvSpPr>
        <p:spPr>
          <a:xfrm>
            <a:off x="14507394" y="2557463"/>
            <a:ext cx="889769" cy="361950"/>
          </a:xfrm>
          <a:prstGeom prst="roundRect">
            <a:avLst>
              <a:gd name="adj" fmla="val 7895"/>
            </a:avLst>
          </a:prstGeom>
          <a:solidFill>
            <a:srgbClr val="F8F3E6"/>
          </a:solidFill>
          <a:ln w="9525">
            <a:solidFill>
              <a:srgbClr val="A99C7E"/>
            </a:solidFill>
            <a:prstDash val="solid"/>
          </a:ln>
          <a:effectLst>
            <a:outerShdw sx="100000" sy="100000" kx="0" ky="0" algn="bl" rotWithShape="0" blurRad="19050" dist="9525" dir="5400000">
              <a:srgbClr val="000000">
                <a:alpha val="35000"/>
              </a:srgbClr>
            </a:outerShdw>
          </a:effectLst>
        </p:spPr>
      </p:sp>
      <p:pic>
        <p:nvPicPr>
          <p:cNvPr id="4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688369" y="2667000"/>
            <a:ext cx="142875" cy="142875"/>
          </a:xfrm>
          <a:prstGeom prst="rect">
            <a:avLst/>
          </a:prstGeom>
        </p:spPr>
      </p:pic>
      <p:sp>
        <p:nvSpPr>
          <p:cNvPr id="47" name="Text 42"/>
          <p:cNvSpPr/>
          <p:nvPr/>
        </p:nvSpPr>
        <p:spPr>
          <a:xfrm>
            <a:off x="14869344" y="2662238"/>
            <a:ext cx="384944"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1C1812"/>
                </a:solidFill>
                <a:latin typeface="Georgia" pitchFamily="34" charset="0"/>
                <a:ea typeface="Georgia" pitchFamily="34" charset="-122"/>
                <a:cs typeface="Georgia" pitchFamily="34" charset="-120"/>
              </a:rPr>
              <a:t>Edit</a:t>
            </a:r>
            <a:endParaRPr lang="en-US" sz="1200" dirty="0"/>
          </a:p>
        </p:txBody>
      </p:sp>
      <p:sp>
        <p:nvSpPr>
          <p:cNvPr id="48" name="Shape 43"/>
          <p:cNvSpPr/>
          <p:nvPr/>
        </p:nvSpPr>
        <p:spPr>
          <a:xfrm>
            <a:off x="5110163" y="3867150"/>
            <a:ext cx="10287000" cy="9525"/>
          </a:xfrm>
          <a:prstGeom prst="rect">
            <a:avLst/>
          </a:prstGeom>
          <a:solidFill>
            <a:srgbClr val="D2C8B0"/>
          </a:solidFill>
          <a:ln/>
        </p:spPr>
      </p:sp>
      <p:sp>
        <p:nvSpPr>
          <p:cNvPr id="49" name="Text 44"/>
          <p:cNvSpPr/>
          <p:nvPr/>
        </p:nvSpPr>
        <p:spPr>
          <a:xfrm>
            <a:off x="5262563" y="3583781"/>
            <a:ext cx="820713" cy="190500"/>
          </a:xfrm>
          <a:prstGeom prst="rect">
            <a:avLst/>
          </a:prstGeom>
          <a:noFill/>
          <a:ln/>
        </p:spPr>
        <p:txBody>
          <a:bodyPr wrap="square" lIns="0" tIns="0" rIns="0" bIns="0" rtlCol="0" anchor="t">
            <a:normAutofit/>
          </a:bodyPr>
          <a:lstStyle/>
          <a:p>
            <a:pPr algn="ctr" indent="0" marL="0">
              <a:buNone/>
            </a:pPr>
            <a:r>
              <a:rPr lang="en-US" sz="1050" b="1" spc="42" kern="0" dirty="0">
                <a:solidFill>
                  <a:srgbClr val="1C1812"/>
                </a:solidFill>
                <a:latin typeface="Georgia" pitchFamily="34" charset="0"/>
                <a:ea typeface="Georgia" pitchFamily="34" charset="-122"/>
                <a:cs typeface="Georgia" pitchFamily="34" charset="-120"/>
              </a:rPr>
              <a:t>Assessment</a:t>
            </a:r>
            <a:endParaRPr lang="en-US" sz="1050" dirty="0"/>
          </a:p>
        </p:txBody>
      </p:sp>
      <p:sp>
        <p:nvSpPr>
          <p:cNvPr id="50" name="Shape 45"/>
          <p:cNvSpPr/>
          <p:nvPr/>
        </p:nvSpPr>
        <p:spPr>
          <a:xfrm>
            <a:off x="5110163" y="3857625"/>
            <a:ext cx="1049313" cy="19050"/>
          </a:xfrm>
          <a:prstGeom prst="rect">
            <a:avLst/>
          </a:prstGeom>
          <a:solidFill>
            <a:srgbClr val="7C1418"/>
          </a:solidFill>
          <a:ln/>
        </p:spPr>
      </p:sp>
      <p:sp>
        <p:nvSpPr>
          <p:cNvPr id="51" name="Text 46"/>
          <p:cNvSpPr/>
          <p:nvPr/>
        </p:nvSpPr>
        <p:spPr>
          <a:xfrm>
            <a:off x="6349975" y="3557588"/>
            <a:ext cx="627757" cy="242888"/>
          </a:xfrm>
          <a:prstGeom prst="rect">
            <a:avLst/>
          </a:prstGeom>
          <a:noFill/>
          <a:ln/>
        </p:spPr>
        <p:txBody>
          <a:bodyPr wrap="square" lIns="0" tIns="0" rIns="0" bIns="0" rtlCol="0" anchor="t">
            <a:normAutofit/>
          </a:bodyPr>
          <a:lstStyle/>
          <a:p>
            <a:pPr algn="ctr" indent="0" marL="0">
              <a:buNone/>
            </a:pPr>
            <a:r>
              <a:rPr lang="en-US" sz="1050" spc="42" kern="0" dirty="0">
                <a:solidFill>
                  <a:srgbClr val="756B57"/>
                </a:solidFill>
                <a:latin typeface="Georgia" pitchFamily="34" charset="0"/>
                <a:ea typeface="Georgia" pitchFamily="34" charset="-122"/>
                <a:cs typeface="Georgia" pitchFamily="34" charset="-120"/>
              </a:rPr>
              <a:t>Remarks</a:t>
            </a:r>
            <a:endParaRPr lang="en-US" sz="1050" dirty="0"/>
          </a:p>
        </p:txBody>
      </p:sp>
      <p:sp>
        <p:nvSpPr>
          <p:cNvPr id="52" name="Shape 47"/>
          <p:cNvSpPr/>
          <p:nvPr/>
        </p:nvSpPr>
        <p:spPr>
          <a:xfrm>
            <a:off x="6968207" y="3576638"/>
            <a:ext cx="207318" cy="166688"/>
          </a:xfrm>
          <a:prstGeom prst="ellipse">
            <a:avLst/>
          </a:prstGeom>
          <a:solidFill>
            <a:srgbClr val="F8F3E6"/>
          </a:solidFill>
          <a:ln/>
        </p:spPr>
      </p:sp>
      <p:sp>
        <p:nvSpPr>
          <p:cNvPr id="53" name="Text 48"/>
          <p:cNvSpPr/>
          <p:nvPr/>
        </p:nvSpPr>
        <p:spPr>
          <a:xfrm>
            <a:off x="7024516" y="3586163"/>
            <a:ext cx="94699" cy="185737"/>
          </a:xfrm>
          <a:prstGeom prst="rect">
            <a:avLst/>
          </a:prstGeom>
          <a:noFill/>
          <a:ln/>
        </p:spPr>
        <p:txBody>
          <a:bodyPr wrap="square" lIns="25400" tIns="25400" rIns="25400" bIns="25400" rtlCol="0" anchor="t">
            <a:normAutofit/>
          </a:bodyPr>
          <a:lstStyle/>
          <a:p>
            <a:pPr algn="ctr" indent="0" marL="0">
              <a:buNone/>
            </a:pPr>
            <a:r>
              <a:rPr lang="en-US" sz="900" spc="42" kern="0" dirty="0">
                <a:solidFill>
                  <a:srgbClr val="756B57"/>
                </a:solidFill>
                <a:latin typeface="Courier New" pitchFamily="34" charset="0"/>
                <a:ea typeface="Courier New" pitchFamily="34" charset="-122"/>
                <a:cs typeface="Courier New" pitchFamily="34" charset="-120"/>
              </a:rPr>
              <a:t>2</a:t>
            </a:r>
            <a:endParaRPr lang="en-US" sz="900" dirty="0"/>
          </a:p>
        </p:txBody>
      </p:sp>
      <p:sp>
        <p:nvSpPr>
          <p:cNvPr id="54" name="Text 49"/>
          <p:cNvSpPr/>
          <p:nvPr/>
        </p:nvSpPr>
        <p:spPr>
          <a:xfrm>
            <a:off x="7518425" y="3557588"/>
            <a:ext cx="694879" cy="242888"/>
          </a:xfrm>
          <a:prstGeom prst="rect">
            <a:avLst/>
          </a:prstGeom>
          <a:noFill/>
          <a:ln/>
        </p:spPr>
        <p:txBody>
          <a:bodyPr wrap="square" lIns="0" tIns="0" rIns="0" bIns="0" rtlCol="0" anchor="t">
            <a:normAutofit/>
          </a:bodyPr>
          <a:lstStyle/>
          <a:p>
            <a:pPr algn="ctr" indent="0" marL="0">
              <a:buNone/>
            </a:pPr>
            <a:r>
              <a:rPr lang="en-US" sz="1050" spc="42" kern="0" dirty="0">
                <a:solidFill>
                  <a:srgbClr val="756B57"/>
                </a:solidFill>
                <a:latin typeface="Georgia" pitchFamily="34" charset="0"/>
                <a:ea typeface="Georgia" pitchFamily="34" charset="-122"/>
                <a:cs typeface="Georgia" pitchFamily="34" charset="-120"/>
              </a:rPr>
              <a:t>Inventory</a:t>
            </a:r>
            <a:endParaRPr lang="en-US" sz="1050" dirty="0"/>
          </a:p>
        </p:txBody>
      </p:sp>
      <p:sp>
        <p:nvSpPr>
          <p:cNvPr id="55" name="Shape 50"/>
          <p:cNvSpPr/>
          <p:nvPr/>
        </p:nvSpPr>
        <p:spPr>
          <a:xfrm>
            <a:off x="5110163" y="4105275"/>
            <a:ext cx="5048250" cy="4399508"/>
          </a:xfrm>
          <a:prstGeom prst="roundRect">
            <a:avLst>
              <a:gd name="adj" fmla="val 1083"/>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56" name="Text 51"/>
          <p:cNvSpPr/>
          <p:nvPr/>
        </p:nvSpPr>
        <p:spPr>
          <a:xfrm>
            <a:off x="5310188" y="4267200"/>
            <a:ext cx="2655391"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7C1418"/>
                </a:solidFill>
                <a:latin typeface="Courier New" pitchFamily="34" charset="0"/>
                <a:ea typeface="Courier New" pitchFamily="34" charset="-122"/>
                <a:cs typeface="Courier New" pitchFamily="34" charset="-120"/>
              </a:rPr>
              <a:t>RECORDED AT THE SEA-GATE</a:t>
            </a:r>
            <a:endParaRPr lang="en-US" sz="900" dirty="0"/>
          </a:p>
        </p:txBody>
      </p:sp>
      <p:sp>
        <p:nvSpPr>
          <p:cNvPr id="57" name="Text 52"/>
          <p:cNvSpPr/>
          <p:nvPr/>
        </p:nvSpPr>
        <p:spPr>
          <a:xfrm>
            <a:off x="5310188" y="4471988"/>
            <a:ext cx="2655391"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C1812"/>
                </a:solidFill>
                <a:latin typeface="Georgia" pitchFamily="34" charset="0"/>
                <a:ea typeface="Georgia" pitchFamily="34" charset="-122"/>
                <a:cs typeface="Georgia" pitchFamily="34" charset="-120"/>
              </a:rPr>
              <a:t>Threshold Assessment</a:t>
            </a:r>
            <a:endParaRPr lang="en-US" sz="1650" dirty="0"/>
          </a:p>
        </p:txBody>
      </p:sp>
      <p:sp>
        <p:nvSpPr>
          <p:cNvPr id="58" name="Text 53"/>
          <p:cNvSpPr/>
          <p:nvPr/>
        </p:nvSpPr>
        <p:spPr>
          <a:xfrm>
            <a:off x="5310188" y="4924425"/>
            <a:ext cx="5113020" cy="185738"/>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56B57"/>
                </a:solidFill>
                <a:latin typeface="Courier New" pitchFamily="34" charset="0"/>
                <a:ea typeface="Courier New" pitchFamily="34" charset="-122"/>
                <a:cs typeface="Courier New" pitchFamily="34" charset="-120"/>
              </a:rPr>
              <a:t>HOMELAND</a:t>
            </a:r>
            <a:endParaRPr lang="en-US" sz="900" dirty="0"/>
          </a:p>
        </p:txBody>
      </p:sp>
      <p:sp>
        <p:nvSpPr>
          <p:cNvPr id="59" name="Shape 54"/>
          <p:cNvSpPr/>
          <p:nvPr/>
        </p:nvSpPr>
        <p:spPr>
          <a:xfrm>
            <a:off x="5310188" y="5129213"/>
            <a:ext cx="4914900" cy="442913"/>
          </a:xfrm>
          <a:prstGeom prst="roundRect">
            <a:avLst>
              <a:gd name="adj" fmla="val 6452"/>
            </a:avLst>
          </a:prstGeom>
          <a:solidFill>
            <a:srgbClr val="E2D9C4"/>
          </a:solidFill>
          <a:ln w="9525">
            <a:solidFill>
              <a:srgbClr val="C2B79C"/>
            </a:solidFill>
            <a:prstDash val="solid"/>
          </a:ln>
        </p:spPr>
      </p:sp>
      <p:pic>
        <p:nvPicPr>
          <p:cNvPr id="60" name="Image 3" descr="preencoded.png">    </p:cNvPr>
          <p:cNvPicPr>
            <a:picLocks noChangeAspect="1"/>
          </p:cNvPicPr>
          <p:nvPr/>
        </p:nvPicPr>
        <p:blipFill>
          <a:blip r:embed="rId7"/>
          <a:stretch>
            <a:fillRect/>
          </a:stretch>
        </p:blipFill>
        <p:spPr>
          <a:xfrm>
            <a:off x="5310188" y="5129213"/>
            <a:ext cx="4914900" cy="442913"/>
          </a:xfrm>
          <a:prstGeom prst="rect">
            <a:avLst/>
          </a:prstGeom>
        </p:spPr>
      </p:pic>
      <p:sp>
        <p:nvSpPr>
          <p:cNvPr id="61" name="Text 55"/>
          <p:cNvSpPr/>
          <p:nvPr/>
        </p:nvSpPr>
        <p:spPr>
          <a:xfrm>
            <a:off x="5310188" y="5724525"/>
            <a:ext cx="2483168" cy="185738"/>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56B57"/>
                </a:solidFill>
                <a:latin typeface="Courier New" pitchFamily="34" charset="0"/>
                <a:ea typeface="Courier New" pitchFamily="34" charset="-122"/>
                <a:cs typeface="Courier New" pitchFamily="34" charset="-120"/>
              </a:rPr>
              <a:t>DISCIPLINE</a:t>
            </a:r>
            <a:endParaRPr lang="en-US" sz="900" dirty="0"/>
          </a:p>
        </p:txBody>
      </p:sp>
      <p:sp>
        <p:nvSpPr>
          <p:cNvPr id="62" name="Shape 56"/>
          <p:cNvSpPr/>
          <p:nvPr/>
        </p:nvSpPr>
        <p:spPr>
          <a:xfrm>
            <a:off x="5310188" y="5929313"/>
            <a:ext cx="2257425" cy="442913"/>
          </a:xfrm>
          <a:prstGeom prst="roundRect">
            <a:avLst>
              <a:gd name="adj" fmla="val 6452"/>
            </a:avLst>
          </a:prstGeom>
          <a:solidFill>
            <a:srgbClr val="E2D9C4"/>
          </a:solidFill>
          <a:ln w="9525">
            <a:solidFill>
              <a:srgbClr val="C2B79C"/>
            </a:solidFill>
            <a:prstDash val="solid"/>
          </a:ln>
        </p:spPr>
      </p:sp>
      <p:pic>
        <p:nvPicPr>
          <p:cNvPr id="63" name="Image 4" descr="preencoded.png">    </p:cNvPr>
          <p:cNvPicPr>
            <a:picLocks noChangeAspect="1"/>
          </p:cNvPicPr>
          <p:nvPr/>
        </p:nvPicPr>
        <p:blipFill>
          <a:blip r:embed="rId8"/>
          <a:stretch>
            <a:fillRect/>
          </a:stretch>
        </p:blipFill>
        <p:spPr>
          <a:xfrm>
            <a:off x="5310188" y="5929313"/>
            <a:ext cx="2257425" cy="442913"/>
          </a:xfrm>
          <a:prstGeom prst="rect">
            <a:avLst/>
          </a:prstGeom>
        </p:spPr>
      </p:pic>
      <p:pic>
        <p:nvPicPr>
          <p:cNvPr id="64"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29488" y="6093619"/>
            <a:ext cx="114300" cy="114300"/>
          </a:xfrm>
          <a:prstGeom prst="rect">
            <a:avLst/>
          </a:prstGeom>
        </p:spPr>
      </p:pic>
      <p:sp>
        <p:nvSpPr>
          <p:cNvPr id="65" name="Text 57"/>
          <p:cNvSpPr/>
          <p:nvPr/>
        </p:nvSpPr>
        <p:spPr>
          <a:xfrm>
            <a:off x="7700963" y="5724525"/>
            <a:ext cx="2483168" cy="185738"/>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56B57"/>
                </a:solidFill>
                <a:latin typeface="Courier New" pitchFamily="34" charset="0"/>
                <a:ea typeface="Courier New" pitchFamily="34" charset="-122"/>
                <a:cs typeface="Courier New" pitchFamily="34" charset="-120"/>
              </a:rPr>
              <a:t>HOUSE</a:t>
            </a:r>
            <a:endParaRPr lang="en-US" sz="900" dirty="0"/>
          </a:p>
        </p:txBody>
      </p:sp>
      <p:sp>
        <p:nvSpPr>
          <p:cNvPr id="66" name="Shape 58"/>
          <p:cNvSpPr/>
          <p:nvPr/>
        </p:nvSpPr>
        <p:spPr>
          <a:xfrm>
            <a:off x="7700963" y="5929313"/>
            <a:ext cx="2257425" cy="442913"/>
          </a:xfrm>
          <a:prstGeom prst="roundRect">
            <a:avLst>
              <a:gd name="adj" fmla="val 6452"/>
            </a:avLst>
          </a:prstGeom>
          <a:solidFill>
            <a:srgbClr val="E2D9C4"/>
          </a:solidFill>
          <a:ln w="9525">
            <a:solidFill>
              <a:srgbClr val="C2B79C"/>
            </a:solidFill>
            <a:prstDash val="solid"/>
          </a:ln>
        </p:spPr>
      </p:sp>
      <p:pic>
        <p:nvPicPr>
          <p:cNvPr id="67" name="Image 6" descr="preencoded.png">    </p:cNvPr>
          <p:cNvPicPr>
            <a:picLocks noChangeAspect="1"/>
          </p:cNvPicPr>
          <p:nvPr/>
        </p:nvPicPr>
        <p:blipFill>
          <a:blip r:embed="rId11"/>
          <a:stretch>
            <a:fillRect/>
          </a:stretch>
        </p:blipFill>
        <p:spPr>
          <a:xfrm>
            <a:off x="7700963" y="5929313"/>
            <a:ext cx="2257425" cy="442913"/>
          </a:xfrm>
          <a:prstGeom prst="rect">
            <a:avLst/>
          </a:prstGeom>
        </p:spPr>
      </p:pic>
      <p:pic>
        <p:nvPicPr>
          <p:cNvPr id="68" name="Image 7"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720263" y="6093619"/>
            <a:ext cx="114300" cy="114300"/>
          </a:xfrm>
          <a:prstGeom prst="rect">
            <a:avLst/>
          </a:prstGeom>
        </p:spPr>
      </p:pic>
      <p:sp>
        <p:nvSpPr>
          <p:cNvPr id="69" name="Text 59"/>
          <p:cNvSpPr/>
          <p:nvPr/>
        </p:nvSpPr>
        <p:spPr>
          <a:xfrm>
            <a:off x="5310188" y="6524625"/>
            <a:ext cx="5113020" cy="185738"/>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756B57"/>
                </a:solidFill>
                <a:latin typeface="Courier New" pitchFamily="34" charset="0"/>
                <a:ea typeface="Courier New" pitchFamily="34" charset="-122"/>
                <a:cs typeface="Courier New" pitchFamily="34" charset="-120"/>
              </a:rPr>
              <a:t>THE MARK THE PAST HAS LEFT</a:t>
            </a:r>
            <a:endParaRPr lang="en-US" sz="900" dirty="0"/>
          </a:p>
        </p:txBody>
      </p:sp>
      <p:sp>
        <p:nvSpPr>
          <p:cNvPr id="70" name="Shape 60"/>
          <p:cNvSpPr/>
          <p:nvPr/>
        </p:nvSpPr>
        <p:spPr>
          <a:xfrm>
            <a:off x="5310188" y="6729413"/>
            <a:ext cx="4914900" cy="937171"/>
          </a:xfrm>
          <a:prstGeom prst="roundRect">
            <a:avLst>
              <a:gd name="adj" fmla="val 3049"/>
            </a:avLst>
          </a:prstGeom>
          <a:solidFill>
            <a:srgbClr val="E2D9C4"/>
          </a:solidFill>
          <a:ln w="9525">
            <a:solidFill>
              <a:srgbClr val="C2B79C"/>
            </a:solidFill>
            <a:prstDash val="solid"/>
          </a:ln>
        </p:spPr>
      </p:sp>
      <p:sp>
        <p:nvSpPr>
          <p:cNvPr id="71" name="Text 61"/>
          <p:cNvSpPr/>
          <p:nvPr/>
        </p:nvSpPr>
        <p:spPr>
          <a:xfrm>
            <a:off x="5310188" y="7723733"/>
            <a:ext cx="5113020" cy="166688"/>
          </a:xfrm>
          <a:prstGeom prst="rect">
            <a:avLst/>
          </a:prstGeom>
          <a:noFill/>
          <a:ln/>
        </p:spPr>
        <p:txBody>
          <a:bodyPr wrap="square" lIns="25400" tIns="25400" rIns="25400" bIns="25400" rtlCol="0" anchor="t">
            <a:normAutofit/>
          </a:bodyPr>
          <a:lstStyle/>
          <a:p>
            <a:pPr algn="l" indent="0" marL="0">
              <a:buNone/>
            </a:pPr>
            <a:r>
              <a:rPr lang="en-US" sz="900" i="1" dirty="0">
                <a:solidFill>
                  <a:srgbClr val="756B57"/>
                </a:solidFill>
                <a:latin typeface="Georgia" pitchFamily="34" charset="0"/>
                <a:ea typeface="Georgia" pitchFamily="34" charset="-122"/>
                <a:cs typeface="Georgia" pitchFamily="34" charset="-120"/>
              </a:rPr>
              <a:t>Spoken at the threshold; cannot be unwritten.</a:t>
            </a:r>
            <a:endParaRPr lang="en-US" sz="900" dirty="0"/>
          </a:p>
        </p:txBody>
      </p:sp>
      <p:sp>
        <p:nvSpPr>
          <p:cNvPr id="72" name="Shape 62"/>
          <p:cNvSpPr/>
          <p:nvPr/>
        </p:nvSpPr>
        <p:spPr>
          <a:xfrm>
            <a:off x="5310188" y="8004721"/>
            <a:ext cx="924371" cy="300038"/>
          </a:xfrm>
          <a:prstGeom prst="roundRect">
            <a:avLst>
              <a:gd name="adj" fmla="val 9524"/>
            </a:avLst>
          </a:prstGeom>
          <a:solidFill>
            <a:srgbClr val="F8F3E6"/>
          </a:solidFill>
          <a:ln w="9525">
            <a:solidFill>
              <a:srgbClr val="C2B79C"/>
            </a:solidFill>
            <a:prstDash val="solid"/>
          </a:ln>
        </p:spPr>
      </p:sp>
      <p:sp>
        <p:nvSpPr>
          <p:cNvPr id="73" name="Text 63"/>
          <p:cNvSpPr/>
          <p:nvPr/>
        </p:nvSpPr>
        <p:spPr>
          <a:xfrm>
            <a:off x="5414963" y="8052346"/>
            <a:ext cx="791021"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423A2C"/>
                </a:solidFill>
                <a:latin typeface="Georgia" pitchFamily="34" charset="0"/>
                <a:ea typeface="Georgia" pitchFamily="34" charset="-122"/>
                <a:cs typeface="Georgia" pitchFamily="34" charset="-120"/>
              </a:rPr>
              <a:t>Salt-marked</a:t>
            </a:r>
            <a:endParaRPr lang="en-US" sz="1050" dirty="0"/>
          </a:p>
        </p:txBody>
      </p:sp>
      <p:sp>
        <p:nvSpPr>
          <p:cNvPr id="74" name="Shape 64"/>
          <p:cNvSpPr/>
          <p:nvPr/>
        </p:nvSpPr>
        <p:spPr>
          <a:xfrm>
            <a:off x="6310759" y="8004721"/>
            <a:ext cx="880170" cy="300038"/>
          </a:xfrm>
          <a:prstGeom prst="roundRect">
            <a:avLst>
              <a:gd name="adj" fmla="val 9524"/>
            </a:avLst>
          </a:prstGeom>
          <a:solidFill>
            <a:srgbClr val="F8F3E6"/>
          </a:solidFill>
          <a:ln w="9525">
            <a:solidFill>
              <a:srgbClr val="C2B79C"/>
            </a:solidFill>
            <a:prstDash val="solid"/>
          </a:ln>
        </p:spPr>
      </p:sp>
      <p:sp>
        <p:nvSpPr>
          <p:cNvPr id="75" name="Text 65"/>
          <p:cNvSpPr/>
          <p:nvPr/>
        </p:nvSpPr>
        <p:spPr>
          <a:xfrm>
            <a:off x="6415534" y="8052346"/>
            <a:ext cx="746820"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423A2C"/>
                </a:solidFill>
                <a:latin typeface="Georgia" pitchFamily="34" charset="0"/>
                <a:ea typeface="Georgia" pitchFamily="34" charset="-122"/>
                <a:cs typeface="Georgia" pitchFamily="34" charset="-120"/>
              </a:rPr>
              <a:t>Oathbound</a:t>
            </a:r>
            <a:endParaRPr lang="en-US" sz="1050" dirty="0"/>
          </a:p>
        </p:txBody>
      </p:sp>
      <p:sp>
        <p:nvSpPr>
          <p:cNvPr id="76" name="Shape 66"/>
          <p:cNvSpPr/>
          <p:nvPr/>
        </p:nvSpPr>
        <p:spPr>
          <a:xfrm>
            <a:off x="7267129" y="8004721"/>
            <a:ext cx="550664" cy="300038"/>
          </a:xfrm>
          <a:prstGeom prst="roundRect">
            <a:avLst>
              <a:gd name="adj" fmla="val 9524"/>
            </a:avLst>
          </a:prstGeom>
          <a:solidFill>
            <a:srgbClr val="F8F3E6"/>
          </a:solidFill>
          <a:ln w="9525">
            <a:solidFill>
              <a:srgbClr val="C2B79C"/>
            </a:solidFill>
            <a:prstDash val="solid"/>
          </a:ln>
        </p:spPr>
      </p:sp>
      <p:sp>
        <p:nvSpPr>
          <p:cNvPr id="77" name="Text 67"/>
          <p:cNvSpPr/>
          <p:nvPr/>
        </p:nvSpPr>
        <p:spPr>
          <a:xfrm>
            <a:off x="7371904" y="8052346"/>
            <a:ext cx="417314"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423A2C"/>
                </a:solidFill>
                <a:latin typeface="Georgia" pitchFamily="34" charset="0"/>
                <a:ea typeface="Georgia" pitchFamily="34" charset="-122"/>
                <a:cs typeface="Georgia" pitchFamily="34" charset="-120"/>
              </a:rPr>
              <a:t>Silent</a:t>
            </a:r>
            <a:endParaRPr lang="en-US" sz="1050" dirty="0"/>
          </a:p>
        </p:txBody>
      </p:sp>
      <p:sp>
        <p:nvSpPr>
          <p:cNvPr id="78" name="Shape 68"/>
          <p:cNvSpPr/>
          <p:nvPr/>
        </p:nvSpPr>
        <p:spPr>
          <a:xfrm>
            <a:off x="7893993" y="8004721"/>
            <a:ext cx="901005" cy="300038"/>
          </a:xfrm>
          <a:prstGeom prst="roundRect">
            <a:avLst>
              <a:gd name="adj" fmla="val 9524"/>
            </a:avLst>
          </a:prstGeom>
          <a:solidFill>
            <a:srgbClr val="F8F3E6"/>
          </a:solidFill>
          <a:ln w="9525">
            <a:solidFill>
              <a:srgbClr val="C2B79C"/>
            </a:solidFill>
            <a:prstDash val="solid"/>
          </a:ln>
        </p:spPr>
      </p:sp>
      <p:sp>
        <p:nvSpPr>
          <p:cNvPr id="79" name="Text 69"/>
          <p:cNvSpPr/>
          <p:nvPr/>
        </p:nvSpPr>
        <p:spPr>
          <a:xfrm>
            <a:off x="7998768" y="8052346"/>
            <a:ext cx="767655" cy="242888"/>
          </a:xfrm>
          <a:prstGeom prst="rect">
            <a:avLst/>
          </a:prstGeom>
          <a:noFill/>
          <a:ln/>
        </p:spPr>
        <p:txBody>
          <a:bodyPr wrap="square" lIns="25400" tIns="25400" rIns="25400" bIns="25400" rtlCol="0" anchor="ctr">
            <a:normAutofit/>
          </a:bodyPr>
          <a:lstStyle/>
          <a:p>
            <a:pPr algn="l" indent="0" marL="0">
              <a:buNone/>
            </a:pPr>
            <a:r>
              <a:rPr lang="en-US" sz="1050" dirty="0">
                <a:solidFill>
                  <a:srgbClr val="423A2C"/>
                </a:solidFill>
                <a:latin typeface="Georgia" pitchFamily="34" charset="0"/>
                <a:ea typeface="Georgia" pitchFamily="34" charset="-122"/>
                <a:cs typeface="Georgia" pitchFamily="34" charset="-120"/>
              </a:rPr>
              <a:t>Stormblood</a:t>
            </a:r>
            <a:endParaRPr lang="en-US" sz="1050" dirty="0"/>
          </a:p>
        </p:txBody>
      </p:sp>
      <p:sp>
        <p:nvSpPr>
          <p:cNvPr id="80" name="Shape 70"/>
          <p:cNvSpPr/>
          <p:nvPr/>
        </p:nvSpPr>
        <p:spPr>
          <a:xfrm>
            <a:off x="8871198" y="8004721"/>
            <a:ext cx="927274" cy="300038"/>
          </a:xfrm>
          <a:prstGeom prst="roundRect">
            <a:avLst>
              <a:gd name="adj" fmla="val 9524"/>
            </a:avLst>
          </a:prstGeom>
          <a:solidFill>
            <a:srgbClr val="F8F3E6"/>
          </a:solidFill>
          <a:ln w="9525">
            <a:solidFill>
              <a:srgbClr val="C2B79C"/>
            </a:solidFill>
            <a:prstDash val="solid"/>
          </a:ln>
        </p:spPr>
      </p:sp>
      <p:pic>
        <p:nvPicPr>
          <p:cNvPr id="81" name="Image 8"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975973" y="8097589"/>
            <a:ext cx="114300" cy="114300"/>
          </a:xfrm>
          <a:prstGeom prst="rect">
            <a:avLst/>
          </a:prstGeom>
        </p:spPr>
      </p:pic>
      <p:sp>
        <p:nvSpPr>
          <p:cNvPr id="82" name="Text 71"/>
          <p:cNvSpPr/>
          <p:nvPr/>
        </p:nvSpPr>
        <p:spPr>
          <a:xfrm>
            <a:off x="9156948" y="8052346"/>
            <a:ext cx="612949" cy="242888"/>
          </a:xfrm>
          <a:prstGeom prst="rect">
            <a:avLst/>
          </a:prstGeom>
          <a:noFill/>
          <a:ln/>
        </p:spPr>
        <p:txBody>
          <a:bodyPr wrap="square" lIns="25400" tIns="25400" rIns="25400" bIns="25400" rtlCol="0" anchor="t">
            <a:normAutofit/>
          </a:bodyPr>
          <a:lstStyle/>
          <a:p>
            <a:pPr algn="l" indent="0" marL="0">
              <a:buNone/>
            </a:pPr>
            <a:r>
              <a:rPr lang="en-US" sz="1050" dirty="0">
                <a:solidFill>
                  <a:srgbClr val="423A2C"/>
                </a:solidFill>
                <a:latin typeface="Georgia" pitchFamily="34" charset="0"/>
                <a:ea typeface="Georgia" pitchFamily="34" charset="-122"/>
                <a:cs typeface="Georgia" pitchFamily="34" charset="-120"/>
              </a:rPr>
              <a:t>Add trait</a:t>
            </a:r>
            <a:endParaRPr lang="en-US" sz="1050" dirty="0"/>
          </a:p>
        </p:txBody>
      </p:sp>
      <p:sp>
        <p:nvSpPr>
          <p:cNvPr id="83" name="Shape 72"/>
          <p:cNvSpPr/>
          <p:nvPr/>
        </p:nvSpPr>
        <p:spPr>
          <a:xfrm>
            <a:off x="10348913" y="4105275"/>
            <a:ext cx="5048250" cy="1595438"/>
          </a:xfrm>
          <a:prstGeom prst="roundRect">
            <a:avLst>
              <a:gd name="adj" fmla="val 2985"/>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84" name="Text 73"/>
          <p:cNvSpPr/>
          <p:nvPr/>
        </p:nvSpPr>
        <p:spPr>
          <a:xfrm>
            <a:off x="10548938" y="4267200"/>
            <a:ext cx="2323467"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7C1418"/>
                </a:solidFill>
                <a:latin typeface="Courier New" pitchFamily="34" charset="0"/>
                <a:ea typeface="Courier New" pitchFamily="34" charset="-122"/>
                <a:cs typeface="Courier New" pitchFamily="34" charset="-120"/>
              </a:rPr>
              <a:t>DRAWN FROM THE LEDGER</a:t>
            </a:r>
            <a:endParaRPr lang="en-US" sz="900" dirty="0"/>
          </a:p>
        </p:txBody>
      </p:sp>
      <p:sp>
        <p:nvSpPr>
          <p:cNvPr id="85" name="Text 74"/>
          <p:cNvSpPr/>
          <p:nvPr/>
        </p:nvSpPr>
        <p:spPr>
          <a:xfrm>
            <a:off x="10548938" y="4471988"/>
            <a:ext cx="2323467"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C1812"/>
                </a:solidFill>
                <a:latin typeface="Georgia" pitchFamily="34" charset="0"/>
                <a:ea typeface="Georgia" pitchFamily="34" charset="-122"/>
                <a:cs typeface="Georgia" pitchFamily="34" charset="-120"/>
              </a:rPr>
              <a:t>Vitals</a:t>
            </a:r>
            <a:endParaRPr lang="en-US" sz="1650" dirty="0"/>
          </a:p>
        </p:txBody>
      </p:sp>
      <p:sp>
        <p:nvSpPr>
          <p:cNvPr id="86" name="Text 75"/>
          <p:cNvSpPr/>
          <p:nvPr/>
        </p:nvSpPr>
        <p:spPr>
          <a:xfrm>
            <a:off x="10534650" y="5000625"/>
            <a:ext cx="1571625" cy="161925"/>
          </a:xfrm>
          <a:prstGeom prst="rect">
            <a:avLst/>
          </a:prstGeom>
          <a:noFill/>
          <a:ln/>
        </p:spPr>
        <p:txBody>
          <a:bodyPr wrap="square" lIns="25400" tIns="25400" rIns="25400" bIns="25400" rtlCol="0" anchor="t">
            <a:normAutofit/>
          </a:bodyPr>
          <a:lstStyle/>
          <a:p>
            <a:pPr algn="ctr" indent="0" marL="0">
              <a:buNone/>
            </a:pPr>
            <a:r>
              <a:rPr lang="en-US" sz="750" spc="90" kern="0" dirty="0">
                <a:solidFill>
                  <a:srgbClr val="756B57"/>
                </a:solidFill>
                <a:latin typeface="Courier New" pitchFamily="34" charset="0"/>
                <a:ea typeface="Courier New" pitchFamily="34" charset="-122"/>
                <a:cs typeface="Courier New" pitchFamily="34" charset="-120"/>
              </a:rPr>
              <a:t>HP</a:t>
            </a:r>
            <a:endParaRPr lang="en-US" sz="750" dirty="0"/>
          </a:p>
        </p:txBody>
      </p:sp>
      <p:sp>
        <p:nvSpPr>
          <p:cNvPr id="87" name="Text 76"/>
          <p:cNvSpPr/>
          <p:nvPr/>
        </p:nvSpPr>
        <p:spPr>
          <a:xfrm>
            <a:off x="10534650" y="5124450"/>
            <a:ext cx="1571625" cy="338138"/>
          </a:xfrm>
          <a:prstGeom prst="rect">
            <a:avLst/>
          </a:prstGeom>
          <a:noFill/>
          <a:ln/>
        </p:spPr>
        <p:txBody>
          <a:bodyPr wrap="square" lIns="25400" tIns="25400" rIns="25400" bIns="25400" rtlCol="0" anchor="t">
            <a:normAutofit/>
          </a:bodyPr>
          <a:lstStyle/>
          <a:p>
            <a:pPr algn="ctr" indent="0" marL="0">
              <a:buNone/>
            </a:pPr>
            <a:r>
              <a:rPr lang="en-US" sz="2100" b="1" dirty="0">
                <a:solidFill>
                  <a:srgbClr val="1C1812"/>
                </a:solidFill>
                <a:latin typeface="Georgia" pitchFamily="34" charset="0"/>
                <a:ea typeface="Georgia" pitchFamily="34" charset="-122"/>
                <a:cs typeface="Georgia" pitchFamily="34" charset="-120"/>
              </a:rPr>
              <a:t>18</a:t>
            </a:r>
            <a:endParaRPr lang="en-US" sz="2100" dirty="0"/>
          </a:p>
        </p:txBody>
      </p:sp>
      <p:sp>
        <p:nvSpPr>
          <p:cNvPr id="88" name="Shape 77"/>
          <p:cNvSpPr/>
          <p:nvPr/>
        </p:nvSpPr>
        <p:spPr>
          <a:xfrm>
            <a:off x="12091988" y="4924425"/>
            <a:ext cx="9525" cy="576263"/>
          </a:xfrm>
          <a:prstGeom prst="rect">
            <a:avLst/>
          </a:prstGeom>
          <a:solidFill>
            <a:srgbClr val="D2C8B0"/>
          </a:solidFill>
          <a:ln/>
        </p:spPr>
      </p:sp>
      <p:sp>
        <p:nvSpPr>
          <p:cNvPr id="89" name="Text 78"/>
          <p:cNvSpPr/>
          <p:nvPr/>
        </p:nvSpPr>
        <p:spPr>
          <a:xfrm>
            <a:off x="12087225" y="5000625"/>
            <a:ext cx="1571625" cy="161925"/>
          </a:xfrm>
          <a:prstGeom prst="rect">
            <a:avLst/>
          </a:prstGeom>
          <a:noFill/>
          <a:ln/>
        </p:spPr>
        <p:txBody>
          <a:bodyPr wrap="square" lIns="25400" tIns="25400" rIns="25400" bIns="25400" rtlCol="0" anchor="t">
            <a:normAutofit/>
          </a:bodyPr>
          <a:lstStyle/>
          <a:p>
            <a:pPr algn="ctr" indent="0" marL="0">
              <a:buNone/>
            </a:pPr>
            <a:r>
              <a:rPr lang="en-US" sz="750" spc="90" kern="0" dirty="0">
                <a:solidFill>
                  <a:srgbClr val="756B57"/>
                </a:solidFill>
                <a:latin typeface="Courier New" pitchFamily="34" charset="0"/>
                <a:ea typeface="Courier New" pitchFamily="34" charset="-122"/>
                <a:cs typeface="Courier New" pitchFamily="34" charset="-120"/>
              </a:rPr>
              <a:t>ARMOUR</a:t>
            </a:r>
            <a:endParaRPr lang="en-US" sz="750" dirty="0"/>
          </a:p>
        </p:txBody>
      </p:sp>
      <p:sp>
        <p:nvSpPr>
          <p:cNvPr id="90" name="Text 79"/>
          <p:cNvSpPr/>
          <p:nvPr/>
        </p:nvSpPr>
        <p:spPr>
          <a:xfrm>
            <a:off x="12087225" y="5124450"/>
            <a:ext cx="1571625" cy="338138"/>
          </a:xfrm>
          <a:prstGeom prst="rect">
            <a:avLst/>
          </a:prstGeom>
          <a:noFill/>
          <a:ln/>
        </p:spPr>
        <p:txBody>
          <a:bodyPr wrap="square" lIns="25400" tIns="25400" rIns="25400" bIns="25400" rtlCol="0" anchor="t">
            <a:normAutofit/>
          </a:bodyPr>
          <a:lstStyle/>
          <a:p>
            <a:pPr algn="ctr" indent="0" marL="0">
              <a:buNone/>
            </a:pPr>
            <a:r>
              <a:rPr lang="en-US" sz="2100" b="1" dirty="0">
                <a:solidFill>
                  <a:srgbClr val="1C1812"/>
                </a:solidFill>
                <a:latin typeface="Georgia" pitchFamily="34" charset="0"/>
                <a:ea typeface="Georgia" pitchFamily="34" charset="-122"/>
                <a:cs typeface="Georgia" pitchFamily="34" charset="-120"/>
              </a:rPr>
              <a:t>4</a:t>
            </a:r>
            <a:endParaRPr lang="en-US" sz="2100" dirty="0"/>
          </a:p>
        </p:txBody>
      </p:sp>
      <p:sp>
        <p:nvSpPr>
          <p:cNvPr id="91" name="Shape 80"/>
          <p:cNvSpPr/>
          <p:nvPr/>
        </p:nvSpPr>
        <p:spPr>
          <a:xfrm>
            <a:off x="13644563" y="4924425"/>
            <a:ext cx="9525" cy="576263"/>
          </a:xfrm>
          <a:prstGeom prst="rect">
            <a:avLst/>
          </a:prstGeom>
          <a:solidFill>
            <a:srgbClr val="D2C8B0"/>
          </a:solidFill>
          <a:ln/>
        </p:spPr>
      </p:sp>
      <p:sp>
        <p:nvSpPr>
          <p:cNvPr id="92" name="Text 81"/>
          <p:cNvSpPr/>
          <p:nvPr/>
        </p:nvSpPr>
        <p:spPr>
          <a:xfrm>
            <a:off x="13639800" y="5000625"/>
            <a:ext cx="1571625" cy="161925"/>
          </a:xfrm>
          <a:prstGeom prst="rect">
            <a:avLst/>
          </a:prstGeom>
          <a:noFill/>
          <a:ln/>
        </p:spPr>
        <p:txBody>
          <a:bodyPr wrap="square" lIns="25400" tIns="25400" rIns="25400" bIns="25400" rtlCol="0" anchor="t">
            <a:normAutofit/>
          </a:bodyPr>
          <a:lstStyle/>
          <a:p>
            <a:pPr algn="ctr" indent="0" marL="0">
              <a:buNone/>
            </a:pPr>
            <a:r>
              <a:rPr lang="en-US" sz="750" spc="90" kern="0" dirty="0">
                <a:solidFill>
                  <a:srgbClr val="756B57"/>
                </a:solidFill>
                <a:latin typeface="Courier New" pitchFamily="34" charset="0"/>
                <a:ea typeface="Courier New" pitchFamily="34" charset="-122"/>
                <a:cs typeface="Courier New" pitchFamily="34" charset="-120"/>
              </a:rPr>
              <a:t>STANDING</a:t>
            </a:r>
            <a:endParaRPr lang="en-US" sz="750" dirty="0"/>
          </a:p>
        </p:txBody>
      </p:sp>
      <p:sp>
        <p:nvSpPr>
          <p:cNvPr id="93" name="Text 82"/>
          <p:cNvSpPr/>
          <p:nvPr/>
        </p:nvSpPr>
        <p:spPr>
          <a:xfrm>
            <a:off x="13639800" y="5124450"/>
            <a:ext cx="1571625" cy="338138"/>
          </a:xfrm>
          <a:prstGeom prst="rect">
            <a:avLst/>
          </a:prstGeom>
          <a:noFill/>
          <a:ln/>
        </p:spPr>
        <p:txBody>
          <a:bodyPr wrap="square" lIns="25400" tIns="25400" rIns="25400" bIns="25400" rtlCol="0" anchor="t">
            <a:normAutofit/>
          </a:bodyPr>
          <a:lstStyle/>
          <a:p>
            <a:pPr algn="ctr" indent="0" marL="0">
              <a:buNone/>
            </a:pPr>
            <a:r>
              <a:rPr lang="en-US" sz="2100" b="1" dirty="0">
                <a:solidFill>
                  <a:srgbClr val="1C1812"/>
                </a:solidFill>
                <a:latin typeface="Georgia" pitchFamily="34" charset="0"/>
                <a:ea typeface="Georgia" pitchFamily="34" charset="-122"/>
                <a:cs typeface="Georgia" pitchFamily="34" charset="-120"/>
              </a:rPr>
              <a:t>62</a:t>
            </a:r>
            <a:endParaRPr lang="en-US" sz="2100" dirty="0"/>
          </a:p>
        </p:txBody>
      </p:sp>
      <p:sp>
        <p:nvSpPr>
          <p:cNvPr id="94" name="Shape 83"/>
          <p:cNvSpPr/>
          <p:nvPr/>
        </p:nvSpPr>
        <p:spPr>
          <a:xfrm>
            <a:off x="10348913" y="5891213"/>
            <a:ext cx="5048250" cy="1685925"/>
          </a:xfrm>
          <a:prstGeom prst="roundRect">
            <a:avLst>
              <a:gd name="adj" fmla="val 2825"/>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95" name="Shape 84"/>
          <p:cNvSpPr/>
          <p:nvPr/>
        </p:nvSpPr>
        <p:spPr>
          <a:xfrm>
            <a:off x="10358438" y="5900738"/>
            <a:ext cx="28575" cy="1666875"/>
          </a:xfrm>
          <a:prstGeom prst="rect">
            <a:avLst/>
          </a:prstGeom>
          <a:solidFill>
            <a:srgbClr val="7C1418"/>
          </a:solidFill>
          <a:ln/>
        </p:spPr>
      </p:sp>
      <p:sp>
        <p:nvSpPr>
          <p:cNvPr id="96" name="Text 85"/>
          <p:cNvSpPr/>
          <p:nvPr/>
        </p:nvSpPr>
        <p:spPr>
          <a:xfrm>
            <a:off x="10548938" y="6053138"/>
            <a:ext cx="2212881"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7C1418"/>
                </a:solidFill>
                <a:latin typeface="Courier New" pitchFamily="34" charset="0"/>
                <a:ea typeface="Courier New" pitchFamily="34" charset="-122"/>
                <a:cs typeface="Courier New" pitchFamily="34" charset="-120"/>
              </a:rPr>
              <a:t>PUBLIC TO THE COHORT</a:t>
            </a:r>
            <a:endParaRPr lang="en-US" sz="900" dirty="0"/>
          </a:p>
        </p:txBody>
      </p:sp>
      <p:sp>
        <p:nvSpPr>
          <p:cNvPr id="97" name="Text 86"/>
          <p:cNvSpPr/>
          <p:nvPr/>
        </p:nvSpPr>
        <p:spPr>
          <a:xfrm>
            <a:off x="10548938" y="6257925"/>
            <a:ext cx="2212881"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C1812"/>
                </a:solidFill>
                <a:latin typeface="Georgia" pitchFamily="34" charset="0"/>
                <a:ea typeface="Georgia" pitchFamily="34" charset="-122"/>
                <a:cs typeface="Georgia" pitchFamily="34" charset="-120"/>
              </a:rPr>
              <a:t>Standing</a:t>
            </a:r>
            <a:endParaRPr lang="en-US" sz="1650" dirty="0"/>
          </a:p>
        </p:txBody>
      </p:sp>
      <p:sp>
        <p:nvSpPr>
          <p:cNvPr id="98" name="Text 87"/>
          <p:cNvSpPr/>
          <p:nvPr/>
        </p:nvSpPr>
        <p:spPr>
          <a:xfrm>
            <a:off x="10548938" y="6710363"/>
            <a:ext cx="547539"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7C1418"/>
                </a:solidFill>
                <a:latin typeface="Georgia" pitchFamily="34" charset="0"/>
                <a:ea typeface="Georgia" pitchFamily="34" charset="-122"/>
                <a:cs typeface="Georgia" pitchFamily="34" charset="-120"/>
              </a:rPr>
              <a:t>62</a:t>
            </a:r>
            <a:endParaRPr lang="en-US" sz="3300" dirty="0"/>
          </a:p>
        </p:txBody>
      </p:sp>
      <p:sp>
        <p:nvSpPr>
          <p:cNvPr id="99" name="Text 88"/>
          <p:cNvSpPr/>
          <p:nvPr/>
        </p:nvSpPr>
        <p:spPr>
          <a:xfrm>
            <a:off x="11115526" y="6981825"/>
            <a:ext cx="1173733" cy="185738"/>
          </a:xfrm>
          <a:prstGeom prst="rect">
            <a:avLst/>
          </a:prstGeom>
          <a:noFill/>
          <a:ln/>
        </p:spPr>
        <p:txBody>
          <a:bodyPr wrap="square" lIns="25400" tIns="25400" rIns="25400" bIns="25400" rtlCol="0" anchor="t">
            <a:normAutofit/>
          </a:bodyPr>
          <a:lstStyle/>
          <a:p>
            <a:pPr algn="l" indent="0" marL="0">
              <a:buNone/>
            </a:pPr>
            <a:r>
              <a:rPr lang="en-US" sz="900" dirty="0">
                <a:solidFill>
                  <a:srgbClr val="5B7A4E"/>
                </a:solidFill>
                <a:latin typeface="Courier New" pitchFamily="34" charset="0"/>
                <a:ea typeface="Courier New" pitchFamily="34" charset="-122"/>
                <a:cs typeface="Courier New" pitchFamily="34" charset="-120"/>
              </a:rPr>
              <a:t>▲ +6 this season</a:t>
            </a:r>
            <a:endParaRPr lang="en-US" sz="900" dirty="0"/>
          </a:p>
        </p:txBody>
      </p:sp>
      <p:sp>
        <p:nvSpPr>
          <p:cNvPr id="100" name="Shape 89"/>
          <p:cNvSpPr/>
          <p:nvPr/>
        </p:nvSpPr>
        <p:spPr>
          <a:xfrm>
            <a:off x="10548938" y="7300913"/>
            <a:ext cx="4648200" cy="76200"/>
          </a:xfrm>
          <a:prstGeom prst="roundRect">
            <a:avLst>
              <a:gd name="adj" fmla="val 50000"/>
            </a:avLst>
          </a:prstGeom>
          <a:solidFill>
            <a:srgbClr val="E2D9C4"/>
          </a:solidFill>
          <a:ln/>
        </p:spPr>
      </p:sp>
      <p:sp>
        <p:nvSpPr>
          <p:cNvPr id="101" name="Shape 90"/>
          <p:cNvSpPr/>
          <p:nvPr/>
        </p:nvSpPr>
        <p:spPr>
          <a:xfrm>
            <a:off x="10548938" y="7300913"/>
            <a:ext cx="2881833" cy="76200"/>
          </a:xfrm>
          <a:prstGeom prst="rect">
            <a:avLst/>
          </a:prstGeom>
          <a:solidFill>
            <a:srgbClr val="7C1418"/>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3284451"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LARP · MASTER CABINET</a:t>
            </a:r>
            <a:endParaRPr lang="en-US" sz="1275" dirty="0"/>
          </a:p>
        </p:txBody>
      </p:sp>
      <p:sp>
        <p:nvSpPr>
          <p:cNvPr id="4" name="Text 2"/>
          <p:cNvSpPr/>
          <p:nvPr/>
        </p:nvSpPr>
        <p:spPr>
          <a:xfrm>
            <a:off x="533400" y="766763"/>
            <a:ext cx="3284451"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Player Manager</a:t>
            </a:r>
            <a:endParaRPr lang="en-US" sz="3450" dirty="0"/>
          </a:p>
        </p:txBody>
      </p:sp>
      <p:sp>
        <p:nvSpPr>
          <p:cNvPr id="5" name="Shape 3"/>
          <p:cNvSpPr/>
          <p:nvPr/>
        </p:nvSpPr>
        <p:spPr>
          <a:xfrm>
            <a:off x="16155293" y="438150"/>
            <a:ext cx="1599307" cy="381000"/>
          </a:xfrm>
          <a:prstGeom prst="roundRect">
            <a:avLst>
              <a:gd name="adj" fmla="val 50000"/>
            </a:avLst>
          </a:prstGeom>
          <a:solidFill>
            <a:srgbClr val="16151D"/>
          </a:solidFill>
          <a:ln w="9525">
            <a:solidFill>
              <a:srgbClr val="35343F"/>
            </a:solidFill>
            <a:prstDash val="solid"/>
          </a:ln>
        </p:spPr>
      </p:sp>
      <p:sp>
        <p:nvSpPr>
          <p:cNvPr id="6" name="Shape 4"/>
          <p:cNvSpPr/>
          <p:nvPr/>
        </p:nvSpPr>
        <p:spPr>
          <a:xfrm>
            <a:off x="16269593" y="533400"/>
            <a:ext cx="190500" cy="190500"/>
          </a:xfrm>
          <a:prstGeom prst="ellipse">
            <a:avLst/>
          </a:prstGeom>
          <a:solidFill>
            <a:srgbClr val="0B0A0F"/>
          </a:solidFill>
          <a:ln w="9525">
            <a:solidFill>
              <a:srgbClr val="FFFFFF">
                <a:alpha val="18000"/>
              </a:srgbClr>
            </a:solidFill>
            <a:prstDash val="solid"/>
          </a:ln>
        </p:spPr>
      </p:sp>
      <p:sp>
        <p:nvSpPr>
          <p:cNvPr id="7" name="Text 5"/>
          <p:cNvSpPr/>
          <p:nvPr/>
        </p:nvSpPr>
        <p:spPr>
          <a:xfrm>
            <a:off x="16555343" y="533400"/>
            <a:ext cx="1113532" cy="228600"/>
          </a:xfrm>
          <a:prstGeom prst="rect">
            <a:avLst/>
          </a:prstGeom>
          <a:noFill/>
          <a:ln/>
        </p:spPr>
        <p:txBody>
          <a:bodyPr wrap="none" lIns="0" tIns="0" rIns="0" bIns="0" rtlCol="0" anchor="t">
            <a:normAutofit/>
          </a:bodyPr>
          <a:lstStyle/>
          <a:p>
            <a:pPr algn="l" indent="0" marL="0">
              <a:buNone/>
            </a:pPr>
            <a:r>
              <a:rPr lang="en-US" sz="1125" spc="68" kern="0" dirty="0">
                <a:solidFill>
                  <a:srgbClr val="C5BDA6"/>
                </a:solidFill>
                <a:latin typeface="Courier New" pitchFamily="34" charset="0"/>
                <a:ea typeface="Courier New" pitchFamily="34" charset="-122"/>
                <a:cs typeface="Courier New" pitchFamily="34" charset="-120"/>
              </a:rPr>
              <a:t>Dark · dark</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B0A0F"/>
          </a:solidFill>
          <a:ln/>
        </p:spPr>
      </p:sp>
      <p:sp>
        <p:nvSpPr>
          <p:cNvPr id="10" name="Shape 8"/>
          <p:cNvSpPr/>
          <p:nvPr/>
        </p:nvSpPr>
        <p:spPr>
          <a:xfrm>
            <a:off x="542925" y="1462088"/>
            <a:ext cx="2219325" cy="8320088"/>
          </a:xfrm>
          <a:prstGeom prst="rect">
            <a:avLst/>
          </a:prstGeom>
          <a:solidFill>
            <a:srgbClr val="100F15"/>
          </a:solidFill>
          <a:ln/>
        </p:spPr>
      </p:sp>
      <p:sp>
        <p:nvSpPr>
          <p:cNvPr id="11" name="Shape 9"/>
          <p:cNvSpPr/>
          <p:nvPr/>
        </p:nvSpPr>
        <p:spPr>
          <a:xfrm>
            <a:off x="2752725" y="1462088"/>
            <a:ext cx="9525" cy="8320088"/>
          </a:xfrm>
          <a:prstGeom prst="rect">
            <a:avLst/>
          </a:prstGeom>
          <a:solidFill>
            <a:srgbClr val="2A2933"/>
          </a:solidFill>
          <a:ln/>
        </p:spPr>
      </p:sp>
      <p:sp>
        <p:nvSpPr>
          <p:cNvPr id="12" name="Shape 10"/>
          <p:cNvSpPr/>
          <p:nvPr/>
        </p:nvSpPr>
        <p:spPr>
          <a:xfrm>
            <a:off x="542925" y="2071688"/>
            <a:ext cx="2209800" cy="9525"/>
          </a:xfrm>
          <a:prstGeom prst="rect">
            <a:avLst/>
          </a:prstGeom>
          <a:solidFill>
            <a:srgbClr val="2A2933"/>
          </a:solidFill>
          <a:ln/>
        </p:spPr>
      </p:sp>
      <p:sp>
        <p:nvSpPr>
          <p:cNvPr id="13" name="Text 11"/>
          <p:cNvSpPr/>
          <p:nvPr/>
        </p:nvSpPr>
        <p:spPr>
          <a:xfrm>
            <a:off x="733425" y="1671638"/>
            <a:ext cx="277564"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DB4A3F"/>
                </a:solidFill>
                <a:latin typeface="Georgia" pitchFamily="34" charset="0"/>
                <a:ea typeface="Georgia" pitchFamily="34" charset="-122"/>
                <a:cs typeface="Georgia" pitchFamily="34" charset="-120"/>
              </a:rPr>
              <a:t>ᛏ</a:t>
            </a:r>
            <a:endParaRPr lang="en-US" sz="1350" dirty="0"/>
          </a:p>
        </p:txBody>
      </p:sp>
      <p:sp>
        <p:nvSpPr>
          <p:cNvPr id="14" name="Text 12"/>
          <p:cNvSpPr/>
          <p:nvPr/>
        </p:nvSpPr>
        <p:spPr>
          <a:xfrm>
            <a:off x="1030039" y="1700213"/>
            <a:ext cx="799430" cy="20955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ECE6D6"/>
                </a:solidFill>
                <a:latin typeface="Georgia" pitchFamily="34" charset="0"/>
                <a:ea typeface="Georgia" pitchFamily="34" charset="-122"/>
                <a:cs typeface="Georgia" pitchFamily="34" charset="-120"/>
              </a:rPr>
              <a:t>CABINET</a:t>
            </a:r>
            <a:endParaRPr lang="en-US" sz="1200"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6" name="Text 13"/>
          <p:cNvSpPr/>
          <p:nvPr/>
        </p:nvSpPr>
        <p:spPr>
          <a:xfrm>
            <a:off x="1057275" y="2290763"/>
            <a:ext cx="524694" cy="257175"/>
          </a:xfrm>
          <a:prstGeom prst="rect">
            <a:avLst/>
          </a:prstGeom>
          <a:noFill/>
          <a:ln/>
        </p:spPr>
        <p:txBody>
          <a:bodyPr wrap="square" lIns="0" tIns="0" rIns="0" bIns="0" rtlCol="0" anchor="t">
            <a:normAutofit/>
          </a:bodyPr>
          <a:lstStyle/>
          <a:p>
            <a:pPr algn="l" indent="0" marL="0">
              <a:buNone/>
            </a:pPr>
            <a:r>
              <a:rPr lang="en-US" sz="1125" dirty="0">
                <a:solidFill>
                  <a:srgbClr val="837B66"/>
                </a:solidFill>
                <a:latin typeface="Georgia" pitchFamily="34" charset="0"/>
                <a:ea typeface="Georgia" pitchFamily="34" charset="-122"/>
                <a:cs typeface="Georgia" pitchFamily="34" charset="-120"/>
              </a:rPr>
              <a:t>Cohort</a:t>
            </a:r>
            <a:endParaRPr lang="en-US" sz="1125"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18" name="Text 14"/>
          <p:cNvSpPr/>
          <p:nvPr/>
        </p:nvSpPr>
        <p:spPr>
          <a:xfrm>
            <a:off x="1057275" y="2719388"/>
            <a:ext cx="705148" cy="257175"/>
          </a:xfrm>
          <a:prstGeom prst="rect">
            <a:avLst/>
          </a:prstGeom>
          <a:noFill/>
          <a:ln/>
        </p:spPr>
        <p:txBody>
          <a:bodyPr wrap="square" lIns="0" tIns="0" rIns="0" bIns="0" rtlCol="0" anchor="t">
            <a:normAutofit/>
          </a:bodyPr>
          <a:lstStyle/>
          <a:p>
            <a:pPr algn="l" indent="0" marL="0">
              <a:buNone/>
            </a:pPr>
            <a:r>
              <a:rPr lang="en-US" sz="1125" dirty="0">
                <a:solidFill>
                  <a:srgbClr val="837B66"/>
                </a:solidFill>
                <a:latin typeface="Georgia" pitchFamily="34" charset="0"/>
                <a:ea typeface="Georgia" pitchFamily="34" charset="-122"/>
                <a:cs typeface="Georgia" pitchFamily="34" charset="-120"/>
              </a:rPr>
              <a:t>Character</a:t>
            </a:r>
            <a:endParaRPr lang="en-US" sz="1125" dirty="0"/>
          </a:p>
        </p:txBody>
      </p:sp>
      <p:sp>
        <p:nvSpPr>
          <p:cNvPr id="19" name="Shape 15"/>
          <p:cNvSpPr/>
          <p:nvPr/>
        </p:nvSpPr>
        <p:spPr>
          <a:xfrm>
            <a:off x="657225" y="3052763"/>
            <a:ext cx="1981200" cy="409575"/>
          </a:xfrm>
          <a:prstGeom prst="roundRect">
            <a:avLst>
              <a:gd name="adj" fmla="val 6977"/>
            </a:avLst>
          </a:prstGeom>
          <a:solidFill>
            <a:srgbClr val="1C1B24"/>
          </a:solidFill>
          <a:ln/>
        </p:spPr>
      </p:sp>
      <p:sp>
        <p:nvSpPr>
          <p:cNvPr id="20" name="Shape 16"/>
          <p:cNvSpPr/>
          <p:nvPr/>
        </p:nvSpPr>
        <p:spPr>
          <a:xfrm>
            <a:off x="657225" y="3052763"/>
            <a:ext cx="19050" cy="409575"/>
          </a:xfrm>
          <a:prstGeom prst="rect">
            <a:avLst/>
          </a:prstGeom>
          <a:solidFill>
            <a:srgbClr val="9B1C1C"/>
          </a:solidFill>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2" name="Text 17"/>
          <p:cNvSpPr/>
          <p:nvPr/>
        </p:nvSpPr>
        <p:spPr>
          <a:xfrm>
            <a:off x="1057275" y="3148013"/>
            <a:ext cx="1069628" cy="257175"/>
          </a:xfrm>
          <a:prstGeom prst="rect">
            <a:avLst/>
          </a:prstGeom>
          <a:noFill/>
          <a:ln/>
        </p:spPr>
        <p:txBody>
          <a:bodyPr wrap="square" lIns="0" tIns="0" rIns="0" bIns="0" rtlCol="0" anchor="t">
            <a:normAutofit/>
          </a:bodyPr>
          <a:lstStyle/>
          <a:p>
            <a:pPr algn="l" indent="0" marL="0">
              <a:buNone/>
            </a:pPr>
            <a:r>
              <a:rPr lang="en-US" sz="1125" dirty="0">
                <a:solidFill>
                  <a:srgbClr val="ECE6D6"/>
                </a:solidFill>
                <a:latin typeface="Georgia" pitchFamily="34" charset="0"/>
                <a:ea typeface="Georgia" pitchFamily="34" charset="-122"/>
                <a:cs typeface="Georgia" pitchFamily="34" charset="-120"/>
              </a:rPr>
              <a:t>Player Manager</a:t>
            </a:r>
            <a:endParaRPr lang="en-US" sz="1125"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4" name="Text 18"/>
          <p:cNvSpPr/>
          <p:nvPr/>
        </p:nvSpPr>
        <p:spPr>
          <a:xfrm>
            <a:off x="1057275" y="3576638"/>
            <a:ext cx="951235" cy="257175"/>
          </a:xfrm>
          <a:prstGeom prst="rect">
            <a:avLst/>
          </a:prstGeom>
          <a:noFill/>
          <a:ln/>
        </p:spPr>
        <p:txBody>
          <a:bodyPr wrap="square" lIns="0" tIns="0" rIns="0" bIns="0" rtlCol="0" anchor="t">
            <a:normAutofit/>
          </a:bodyPr>
          <a:lstStyle/>
          <a:p>
            <a:pPr algn="l" indent="0" marL="0">
              <a:buNone/>
            </a:pPr>
            <a:r>
              <a:rPr lang="en-US" sz="1125" dirty="0">
                <a:solidFill>
                  <a:srgbClr val="837B66"/>
                </a:solidFill>
                <a:latin typeface="Georgia" pitchFamily="34" charset="0"/>
                <a:ea typeface="Georgia" pitchFamily="34" charset="-122"/>
                <a:cs typeface="Georgia" pitchFamily="34" charset="-120"/>
              </a:rPr>
              <a:t>Text Manager</a:t>
            </a:r>
            <a:endParaRPr lang="en-US" sz="1125" dirty="0"/>
          </a:p>
        </p:txBody>
      </p:sp>
      <p:sp>
        <p:nvSpPr>
          <p:cNvPr id="25" name="Shape 19"/>
          <p:cNvSpPr/>
          <p:nvPr/>
        </p:nvSpPr>
        <p:spPr>
          <a:xfrm>
            <a:off x="542925" y="9144000"/>
            <a:ext cx="2209800" cy="9525"/>
          </a:xfrm>
          <a:prstGeom prst="rect">
            <a:avLst/>
          </a:prstGeom>
          <a:solidFill>
            <a:srgbClr val="2A2933"/>
          </a:solidFill>
          <a:ln/>
        </p:spPr>
      </p:sp>
      <p:sp>
        <p:nvSpPr>
          <p:cNvPr id="26" name="Shape 20"/>
          <p:cNvSpPr/>
          <p:nvPr/>
        </p:nvSpPr>
        <p:spPr>
          <a:xfrm>
            <a:off x="695325" y="9305925"/>
            <a:ext cx="323850" cy="323850"/>
          </a:xfrm>
          <a:prstGeom prst="ellipse">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27" name="Text 21"/>
          <p:cNvSpPr/>
          <p:nvPr/>
        </p:nvSpPr>
        <p:spPr>
          <a:xfrm>
            <a:off x="666750" y="931545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C5BDA6"/>
                </a:solidFill>
                <a:latin typeface="Georgia" pitchFamily="34" charset="0"/>
                <a:ea typeface="Georgia" pitchFamily="34" charset="-122"/>
                <a:cs typeface="Georgia" pitchFamily="34" charset="-120"/>
              </a:rPr>
              <a:t>IV</a:t>
            </a:r>
            <a:endParaRPr lang="en-US" sz="975" dirty="0"/>
          </a:p>
        </p:txBody>
      </p:sp>
      <p:sp>
        <p:nvSpPr>
          <p:cNvPr id="28" name="Shape 22"/>
          <p:cNvSpPr/>
          <p:nvPr/>
        </p:nvSpPr>
        <p:spPr>
          <a:xfrm>
            <a:off x="911423" y="9522023"/>
            <a:ext cx="117277" cy="117277"/>
          </a:xfrm>
          <a:prstGeom prst="ellipse">
            <a:avLst/>
          </a:prstGeom>
          <a:solidFill>
            <a:srgbClr val="B5601F"/>
          </a:solidFill>
          <a:ln w="19050">
            <a:solidFill>
              <a:srgbClr val="16151D"/>
            </a:solidFill>
            <a:prstDash val="solid"/>
          </a:ln>
        </p:spPr>
      </p:sp>
      <p:sp>
        <p:nvSpPr>
          <p:cNvPr id="29" name="Text 23"/>
          <p:cNvSpPr/>
          <p:nvPr/>
        </p:nvSpPr>
        <p:spPr>
          <a:xfrm>
            <a:off x="1133475" y="9322594"/>
            <a:ext cx="1144935"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ECE6D6"/>
                </a:solidFill>
                <a:latin typeface="Georgia" pitchFamily="34" charset="0"/>
                <a:ea typeface="Georgia" pitchFamily="34" charset="-122"/>
                <a:cs typeface="Georgia" pitchFamily="34" charset="-120"/>
              </a:rPr>
              <a:t>Ivar Holm</a:t>
            </a:r>
            <a:endParaRPr lang="en-US" sz="1050" dirty="0"/>
          </a:p>
        </p:txBody>
      </p:sp>
      <p:sp>
        <p:nvSpPr>
          <p:cNvPr id="30" name="Text 24"/>
          <p:cNvSpPr/>
          <p:nvPr/>
        </p:nvSpPr>
        <p:spPr>
          <a:xfrm>
            <a:off x="1133475" y="9474994"/>
            <a:ext cx="1144935" cy="176212"/>
          </a:xfrm>
          <a:prstGeom prst="rect">
            <a:avLst/>
          </a:prstGeom>
          <a:noFill/>
          <a:ln/>
        </p:spPr>
        <p:txBody>
          <a:bodyPr wrap="square" lIns="25400" tIns="25400" rIns="25400" bIns="25400" rtlCol="0" anchor="t">
            <a:normAutofit/>
          </a:bodyPr>
          <a:lstStyle/>
          <a:p>
            <a:pPr algn="l" indent="0" marL="0">
              <a:buNone/>
            </a:pPr>
            <a:r>
              <a:rPr lang="en-US" sz="825" dirty="0">
                <a:solidFill>
                  <a:srgbClr val="837B66"/>
                </a:solidFill>
                <a:latin typeface="Courier New" pitchFamily="34" charset="0"/>
                <a:ea typeface="Courier New" pitchFamily="34" charset="-122"/>
                <a:cs typeface="Courier New" pitchFamily="34" charset="-120"/>
              </a:rPr>
              <a:t>Player · Cohort B</a:t>
            </a:r>
            <a:endParaRPr lang="en-US" sz="825" dirty="0"/>
          </a:p>
        </p:txBody>
      </p:sp>
      <p:sp>
        <p:nvSpPr>
          <p:cNvPr id="31" name="Shape 25"/>
          <p:cNvSpPr/>
          <p:nvPr/>
        </p:nvSpPr>
        <p:spPr>
          <a:xfrm>
            <a:off x="2762250" y="1462088"/>
            <a:ext cx="14982825" cy="504825"/>
          </a:xfrm>
          <a:prstGeom prst="rect">
            <a:avLst/>
          </a:prstGeom>
          <a:solidFill>
            <a:srgbClr val="0B0A0F"/>
          </a:solidFill>
          <a:ln/>
        </p:spPr>
      </p:sp>
      <p:sp>
        <p:nvSpPr>
          <p:cNvPr id="32" name="Shape 26"/>
          <p:cNvSpPr/>
          <p:nvPr/>
        </p:nvSpPr>
        <p:spPr>
          <a:xfrm>
            <a:off x="2762250" y="1957388"/>
            <a:ext cx="14982825" cy="9525"/>
          </a:xfrm>
          <a:prstGeom prst="rect">
            <a:avLst/>
          </a:prstGeom>
          <a:solidFill>
            <a:srgbClr val="2A2933"/>
          </a:solidFill>
          <a:ln/>
        </p:spPr>
      </p:sp>
      <p:sp>
        <p:nvSpPr>
          <p:cNvPr id="33" name="Text 27"/>
          <p:cNvSpPr/>
          <p:nvPr/>
        </p:nvSpPr>
        <p:spPr>
          <a:xfrm>
            <a:off x="2971800" y="1640681"/>
            <a:ext cx="1165920"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837B66"/>
                </a:solidFill>
                <a:latin typeface="Courier New" pitchFamily="34" charset="0"/>
                <a:ea typeface="Courier New" pitchFamily="34" charset="-122"/>
                <a:cs typeface="Courier New" pitchFamily="34" charset="-120"/>
              </a:rPr>
              <a:t>LARP · MASTER</a:t>
            </a:r>
            <a:endParaRPr lang="en-US" sz="825" dirty="0"/>
          </a:p>
        </p:txBody>
      </p:sp>
      <p:sp>
        <p:nvSpPr>
          <p:cNvPr id="34" name="Text 28"/>
          <p:cNvSpPr/>
          <p:nvPr/>
        </p:nvSpPr>
        <p:spPr>
          <a:xfrm>
            <a:off x="16420654" y="1640681"/>
            <a:ext cx="1191071"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DB4A3F"/>
                </a:solidFill>
                <a:latin typeface="Courier New" pitchFamily="34" charset="0"/>
                <a:ea typeface="Courier New" pitchFamily="34" charset="-122"/>
                <a:cs typeface="Courier New" pitchFamily="34" charset="-120"/>
              </a:rPr>
              <a:t>Player Manager</a:t>
            </a:r>
            <a:endParaRPr lang="en-US" sz="825" dirty="0"/>
          </a:p>
        </p:txBody>
      </p:sp>
      <p:sp>
        <p:nvSpPr>
          <p:cNvPr id="35" name="Shape 29"/>
          <p:cNvSpPr/>
          <p:nvPr/>
        </p:nvSpPr>
        <p:spPr>
          <a:xfrm>
            <a:off x="2762250" y="1966912"/>
            <a:ext cx="14982825" cy="7815263"/>
          </a:xfrm>
          <a:prstGeom prst="rect">
            <a:avLst/>
          </a:prstGeom>
          <a:gradFill rotWithShape="1">
            <a:gsLst>
              <a:gs pos="0">
                <a:srgbClr val="FFFFFF">
                  <a:alpha val="2000"/>
                </a:srgbClr>
              </a:gs>
              <a:gs pos="100000">
                <a:srgbClr val="FFFFFF">
                  <a:alpha val="0"/>
                </a:srgbClr>
              </a:gs>
            </a:gsLst>
            <a:lin ang="5400000" scaled="0"/>
          </a:gradFill>
          <a:ln/>
        </p:spPr>
      </p:sp>
      <p:sp>
        <p:nvSpPr>
          <p:cNvPr id="36" name="Text 30"/>
          <p:cNvSpPr/>
          <p:nvPr/>
        </p:nvSpPr>
        <p:spPr>
          <a:xfrm>
            <a:off x="5110163" y="2271713"/>
            <a:ext cx="11315700" cy="185738"/>
          </a:xfrm>
          <a:prstGeom prst="rect">
            <a:avLst/>
          </a:prstGeom>
          <a:noFill/>
          <a:ln/>
        </p:spPr>
        <p:txBody>
          <a:bodyPr wrap="square" lIns="25400" tIns="25400" rIns="25400" bIns="25400" rtlCol="0" anchor="t">
            <a:normAutofit/>
          </a:bodyPr>
          <a:lstStyle/>
          <a:p>
            <a:pPr algn="l" indent="0" marL="0">
              <a:buNone/>
            </a:pPr>
            <a:r>
              <a:rPr lang="en-US" sz="900" spc="216" kern="0" dirty="0">
                <a:solidFill>
                  <a:srgbClr val="DB4A3F"/>
                </a:solidFill>
                <a:latin typeface="Courier New" pitchFamily="34" charset="0"/>
                <a:ea typeface="Courier New" pitchFamily="34" charset="-122"/>
                <a:cs typeface="Courier New" pitchFamily="34" charset="-120"/>
              </a:rPr>
              <a:t>MASTER · COHORT B</a:t>
            </a:r>
            <a:endParaRPr lang="en-US" sz="900" dirty="0"/>
          </a:p>
        </p:txBody>
      </p:sp>
      <p:sp>
        <p:nvSpPr>
          <p:cNvPr id="37" name="Text 31"/>
          <p:cNvSpPr/>
          <p:nvPr/>
        </p:nvSpPr>
        <p:spPr>
          <a:xfrm>
            <a:off x="5110163" y="2495550"/>
            <a:ext cx="113157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ECE6D6"/>
                </a:solidFill>
                <a:latin typeface="Georgia" pitchFamily="34" charset="0"/>
                <a:ea typeface="Georgia" pitchFamily="34" charset="-122"/>
                <a:cs typeface="Georgia" pitchFamily="34" charset="-120"/>
              </a:rPr>
              <a:t>Player Manager</a:t>
            </a:r>
            <a:endParaRPr lang="en-US" sz="2700" dirty="0"/>
          </a:p>
        </p:txBody>
      </p:sp>
      <p:sp>
        <p:nvSpPr>
          <p:cNvPr id="38" name="Shape 32"/>
          <p:cNvSpPr/>
          <p:nvPr/>
        </p:nvSpPr>
        <p:spPr>
          <a:xfrm>
            <a:off x="5110163" y="3114675"/>
            <a:ext cx="10287000" cy="2338388"/>
          </a:xfrm>
          <a:prstGeom prst="roundRect">
            <a:avLst>
              <a:gd name="adj" fmla="val 2037"/>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39" name="Shape 33"/>
          <p:cNvSpPr/>
          <p:nvPr/>
        </p:nvSpPr>
        <p:spPr>
          <a:xfrm>
            <a:off x="5119688" y="3124200"/>
            <a:ext cx="10267950" cy="381000"/>
          </a:xfrm>
          <a:prstGeom prst="rect">
            <a:avLst/>
          </a:prstGeom>
          <a:solidFill>
            <a:srgbClr val="100F15"/>
          </a:solidFill>
          <a:ln/>
        </p:spPr>
      </p:sp>
      <p:sp>
        <p:nvSpPr>
          <p:cNvPr id="40" name="Shape 34"/>
          <p:cNvSpPr/>
          <p:nvPr/>
        </p:nvSpPr>
        <p:spPr>
          <a:xfrm>
            <a:off x="5119688" y="3495675"/>
            <a:ext cx="2847529" cy="9525"/>
          </a:xfrm>
          <a:prstGeom prst="rect">
            <a:avLst/>
          </a:prstGeom>
          <a:solidFill>
            <a:srgbClr val="35343F"/>
          </a:solidFill>
          <a:ln/>
        </p:spPr>
      </p:sp>
      <p:sp>
        <p:nvSpPr>
          <p:cNvPr id="41" name="Text 35"/>
          <p:cNvSpPr/>
          <p:nvPr/>
        </p:nvSpPr>
        <p:spPr>
          <a:xfrm>
            <a:off x="5272088" y="3238500"/>
            <a:ext cx="2628154" cy="180975"/>
          </a:xfrm>
          <a:prstGeom prst="rect">
            <a:avLst/>
          </a:prstGeom>
          <a:noFill/>
          <a:ln/>
        </p:spPr>
        <p:txBody>
          <a:bodyPr wrap="none" lIns="25400" tIns="25400" rIns="25400" bIns="25400" rtlCol="0" anchor="ctr">
            <a:normAutofit/>
          </a:bodyPr>
          <a:lstStyle/>
          <a:p>
            <a:pPr algn="l" indent="0" marL="0">
              <a:buNone/>
            </a:pPr>
            <a:r>
              <a:rPr lang="en-US" sz="900" spc="108" kern="0" dirty="0">
                <a:solidFill>
                  <a:srgbClr val="837B66"/>
                </a:solidFill>
                <a:latin typeface="Courier New" pitchFamily="34" charset="0"/>
                <a:ea typeface="Courier New" pitchFamily="34" charset="-122"/>
                <a:cs typeface="Courier New" pitchFamily="34" charset="-120"/>
              </a:rPr>
              <a:t>PLAYER</a:t>
            </a:r>
            <a:endParaRPr lang="en-US" sz="900" dirty="0"/>
          </a:p>
        </p:txBody>
      </p:sp>
      <p:sp>
        <p:nvSpPr>
          <p:cNvPr id="42" name="Shape 36"/>
          <p:cNvSpPr/>
          <p:nvPr/>
        </p:nvSpPr>
        <p:spPr>
          <a:xfrm>
            <a:off x="7967216" y="3495675"/>
            <a:ext cx="2401565" cy="9525"/>
          </a:xfrm>
          <a:prstGeom prst="rect">
            <a:avLst/>
          </a:prstGeom>
          <a:solidFill>
            <a:srgbClr val="35343F"/>
          </a:solidFill>
          <a:ln/>
        </p:spPr>
      </p:sp>
      <p:sp>
        <p:nvSpPr>
          <p:cNvPr id="43" name="Text 37"/>
          <p:cNvSpPr/>
          <p:nvPr/>
        </p:nvSpPr>
        <p:spPr>
          <a:xfrm>
            <a:off x="8119616" y="3238500"/>
            <a:ext cx="2172965" cy="180975"/>
          </a:xfrm>
          <a:prstGeom prst="rect">
            <a:avLst/>
          </a:prstGeom>
          <a:noFill/>
          <a:ln/>
        </p:spPr>
        <p:txBody>
          <a:bodyPr wrap="none" lIns="25400" tIns="25400" rIns="25400" bIns="25400" rtlCol="0" anchor="ctr">
            <a:normAutofit/>
          </a:bodyPr>
          <a:lstStyle/>
          <a:p>
            <a:pPr algn="l" indent="0" marL="0">
              <a:buNone/>
            </a:pPr>
            <a:r>
              <a:rPr lang="en-US" sz="900" spc="108" kern="0" dirty="0">
                <a:solidFill>
                  <a:srgbClr val="837B66"/>
                </a:solidFill>
                <a:latin typeface="Courier New" pitchFamily="34" charset="0"/>
                <a:ea typeface="Courier New" pitchFamily="34" charset="-122"/>
                <a:cs typeface="Courier New" pitchFamily="34" charset="-120"/>
              </a:rPr>
              <a:t>CHARACTER</a:t>
            </a:r>
            <a:endParaRPr lang="en-US" sz="900" dirty="0"/>
          </a:p>
        </p:txBody>
      </p:sp>
      <p:sp>
        <p:nvSpPr>
          <p:cNvPr id="44" name="Shape 38"/>
          <p:cNvSpPr/>
          <p:nvPr/>
        </p:nvSpPr>
        <p:spPr>
          <a:xfrm>
            <a:off x="10368781" y="3495675"/>
            <a:ext cx="1283345" cy="9525"/>
          </a:xfrm>
          <a:prstGeom prst="rect">
            <a:avLst/>
          </a:prstGeom>
          <a:solidFill>
            <a:srgbClr val="35343F"/>
          </a:solidFill>
          <a:ln/>
        </p:spPr>
      </p:sp>
      <p:sp>
        <p:nvSpPr>
          <p:cNvPr id="45" name="Text 39"/>
          <p:cNvSpPr/>
          <p:nvPr/>
        </p:nvSpPr>
        <p:spPr>
          <a:xfrm>
            <a:off x="10521181" y="3238500"/>
            <a:ext cx="1054745" cy="180975"/>
          </a:xfrm>
          <a:prstGeom prst="rect">
            <a:avLst/>
          </a:prstGeom>
          <a:noFill/>
          <a:ln/>
        </p:spPr>
        <p:txBody>
          <a:bodyPr wrap="none" lIns="25400" tIns="25400" rIns="25400" bIns="25400" rtlCol="0" anchor="ctr">
            <a:normAutofit/>
          </a:bodyPr>
          <a:lstStyle/>
          <a:p>
            <a:pPr algn="l" indent="0" marL="0">
              <a:buNone/>
            </a:pPr>
            <a:r>
              <a:rPr lang="en-US" sz="900" spc="108" kern="0" dirty="0">
                <a:solidFill>
                  <a:srgbClr val="837B66"/>
                </a:solidFill>
                <a:latin typeface="Courier New" pitchFamily="34" charset="0"/>
                <a:ea typeface="Courier New" pitchFamily="34" charset="-122"/>
                <a:cs typeface="Courier New" pitchFamily="34" charset="-120"/>
              </a:rPr>
              <a:t>HOUSE</a:t>
            </a:r>
            <a:endParaRPr lang="en-US" sz="900" dirty="0"/>
          </a:p>
        </p:txBody>
      </p:sp>
      <p:sp>
        <p:nvSpPr>
          <p:cNvPr id="46" name="Shape 40"/>
          <p:cNvSpPr/>
          <p:nvPr/>
        </p:nvSpPr>
        <p:spPr>
          <a:xfrm>
            <a:off x="11652126" y="3495675"/>
            <a:ext cx="1725737" cy="9525"/>
          </a:xfrm>
          <a:prstGeom prst="rect">
            <a:avLst/>
          </a:prstGeom>
          <a:solidFill>
            <a:srgbClr val="35343F"/>
          </a:solidFill>
          <a:ln/>
        </p:spPr>
      </p:sp>
      <p:sp>
        <p:nvSpPr>
          <p:cNvPr id="47" name="Text 41"/>
          <p:cNvSpPr/>
          <p:nvPr/>
        </p:nvSpPr>
        <p:spPr>
          <a:xfrm>
            <a:off x="11728326" y="3238500"/>
            <a:ext cx="1497137" cy="180975"/>
          </a:xfrm>
          <a:prstGeom prst="rect">
            <a:avLst/>
          </a:prstGeom>
          <a:noFill/>
          <a:ln/>
        </p:spPr>
        <p:txBody>
          <a:bodyPr wrap="none" lIns="25400" tIns="25400" rIns="25400" bIns="25400" rtlCol="0" anchor="ctr">
            <a:normAutofit/>
          </a:bodyPr>
          <a:lstStyle/>
          <a:p>
            <a:pPr algn="r" indent="0" marL="0">
              <a:buNone/>
            </a:pPr>
            <a:r>
              <a:rPr lang="en-US" sz="900" spc="108" kern="0" dirty="0">
                <a:solidFill>
                  <a:srgbClr val="837B66"/>
                </a:solidFill>
                <a:latin typeface="Courier New" pitchFamily="34" charset="0"/>
                <a:ea typeface="Courier New" pitchFamily="34" charset="-122"/>
                <a:cs typeface="Courier New" pitchFamily="34" charset="-120"/>
              </a:rPr>
              <a:t>STANDING</a:t>
            </a:r>
            <a:endParaRPr lang="en-US" sz="900" dirty="0"/>
          </a:p>
        </p:txBody>
      </p:sp>
      <p:sp>
        <p:nvSpPr>
          <p:cNvPr id="48" name="Shape 42"/>
          <p:cNvSpPr/>
          <p:nvPr/>
        </p:nvSpPr>
        <p:spPr>
          <a:xfrm>
            <a:off x="13377863" y="3495675"/>
            <a:ext cx="2009775" cy="9525"/>
          </a:xfrm>
          <a:prstGeom prst="rect">
            <a:avLst/>
          </a:prstGeom>
          <a:solidFill>
            <a:srgbClr val="35343F"/>
          </a:solidFill>
          <a:ln/>
        </p:spPr>
      </p:sp>
      <p:sp>
        <p:nvSpPr>
          <p:cNvPr id="49" name="Text 43"/>
          <p:cNvSpPr/>
          <p:nvPr/>
        </p:nvSpPr>
        <p:spPr>
          <a:xfrm>
            <a:off x="13530263" y="3238500"/>
            <a:ext cx="1781175" cy="180975"/>
          </a:xfrm>
          <a:prstGeom prst="rect">
            <a:avLst/>
          </a:prstGeom>
          <a:noFill/>
          <a:ln/>
        </p:spPr>
        <p:txBody>
          <a:bodyPr wrap="none" lIns="25400" tIns="25400" rIns="25400" bIns="25400" rtlCol="0" anchor="ctr">
            <a:normAutofit/>
          </a:bodyPr>
          <a:lstStyle/>
          <a:p>
            <a:pPr algn="l" indent="0" marL="0">
              <a:buNone/>
            </a:pPr>
            <a:r>
              <a:rPr lang="en-US" sz="900" spc="108" kern="0" dirty="0">
                <a:solidFill>
                  <a:srgbClr val="837B66"/>
                </a:solidFill>
                <a:latin typeface="Courier New" pitchFamily="34" charset="0"/>
                <a:ea typeface="Courier New" pitchFamily="34" charset="-122"/>
                <a:cs typeface="Courier New" pitchFamily="34" charset="-120"/>
              </a:rPr>
              <a:t>STATE</a:t>
            </a:r>
            <a:endParaRPr lang="en-US" sz="900" dirty="0"/>
          </a:p>
        </p:txBody>
      </p:sp>
      <p:sp>
        <p:nvSpPr>
          <p:cNvPr id="50" name="Shape 44"/>
          <p:cNvSpPr/>
          <p:nvPr/>
        </p:nvSpPr>
        <p:spPr>
          <a:xfrm>
            <a:off x="5119688" y="3981450"/>
            <a:ext cx="2847529" cy="9525"/>
          </a:xfrm>
          <a:prstGeom prst="rect">
            <a:avLst/>
          </a:prstGeom>
          <a:solidFill>
            <a:srgbClr val="2A2933"/>
          </a:solidFill>
          <a:ln/>
        </p:spPr>
      </p:sp>
      <p:sp>
        <p:nvSpPr>
          <p:cNvPr id="51" name="Shape 45"/>
          <p:cNvSpPr/>
          <p:nvPr/>
        </p:nvSpPr>
        <p:spPr>
          <a:xfrm>
            <a:off x="5272088" y="3624263"/>
            <a:ext cx="247650" cy="247650"/>
          </a:xfrm>
          <a:prstGeom prst="ellipse">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52" name="Text 46"/>
          <p:cNvSpPr/>
          <p:nvPr/>
        </p:nvSpPr>
        <p:spPr>
          <a:xfrm>
            <a:off x="5243513" y="3633787"/>
            <a:ext cx="304800" cy="266700"/>
          </a:xfrm>
          <a:prstGeom prst="rect">
            <a:avLst/>
          </a:prstGeom>
          <a:noFill/>
          <a:ln/>
        </p:spPr>
        <p:txBody>
          <a:bodyPr wrap="square" lIns="25400" tIns="25400" rIns="25400" bIns="25400" rtlCol="0" anchor="ctr">
            <a:normAutofit/>
          </a:bodyPr>
          <a:lstStyle/>
          <a:p>
            <a:pPr algn="ctr" indent="0" marL="0">
              <a:buNone/>
            </a:pPr>
            <a:r>
              <a:rPr lang="en-US" sz="750" b="1" dirty="0">
                <a:solidFill>
                  <a:srgbClr val="C5BDA6"/>
                </a:solidFill>
                <a:latin typeface="Georgia" pitchFamily="34" charset="0"/>
                <a:ea typeface="Georgia" pitchFamily="34" charset="-122"/>
                <a:cs typeface="Georgia" pitchFamily="34" charset="-120"/>
              </a:rPr>
              <a:t>IV</a:t>
            </a:r>
            <a:endParaRPr lang="en-US" sz="750" dirty="0"/>
          </a:p>
        </p:txBody>
      </p:sp>
      <p:sp>
        <p:nvSpPr>
          <p:cNvPr id="53" name="Shape 47"/>
          <p:cNvSpPr/>
          <p:nvPr/>
        </p:nvSpPr>
        <p:spPr>
          <a:xfrm>
            <a:off x="5414963" y="3767138"/>
            <a:ext cx="114300" cy="114300"/>
          </a:xfrm>
          <a:prstGeom prst="ellipse">
            <a:avLst/>
          </a:prstGeom>
          <a:solidFill>
            <a:srgbClr val="B5601F"/>
          </a:solidFill>
          <a:ln w="19050">
            <a:solidFill>
              <a:srgbClr val="16151D"/>
            </a:solidFill>
            <a:prstDash val="solid"/>
          </a:ln>
        </p:spPr>
      </p:sp>
      <p:sp>
        <p:nvSpPr>
          <p:cNvPr id="54" name="Text 48"/>
          <p:cNvSpPr/>
          <p:nvPr/>
        </p:nvSpPr>
        <p:spPr>
          <a:xfrm>
            <a:off x="5614988" y="3645694"/>
            <a:ext cx="677614" cy="242888"/>
          </a:xfrm>
          <a:prstGeom prst="rect">
            <a:avLst/>
          </a:prstGeom>
          <a:noFill/>
          <a:ln/>
        </p:spPr>
        <p:txBody>
          <a:bodyPr wrap="square" lIns="0" tIns="0" rIns="0" bIns="0" rtlCol="0" anchor="t">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Ivar Holm</a:t>
            </a:r>
            <a:endParaRPr lang="en-US" sz="1050" dirty="0"/>
          </a:p>
        </p:txBody>
      </p:sp>
      <p:sp>
        <p:nvSpPr>
          <p:cNvPr id="55" name="Shape 49"/>
          <p:cNvSpPr/>
          <p:nvPr/>
        </p:nvSpPr>
        <p:spPr>
          <a:xfrm>
            <a:off x="7967216" y="3981450"/>
            <a:ext cx="2401565" cy="9525"/>
          </a:xfrm>
          <a:prstGeom prst="rect">
            <a:avLst/>
          </a:prstGeom>
          <a:solidFill>
            <a:srgbClr val="2A2933"/>
          </a:solidFill>
          <a:ln/>
        </p:spPr>
      </p:sp>
      <p:sp>
        <p:nvSpPr>
          <p:cNvPr id="56" name="Text 50"/>
          <p:cNvSpPr/>
          <p:nvPr/>
        </p:nvSpPr>
        <p:spPr>
          <a:xfrm>
            <a:off x="8119616" y="3619500"/>
            <a:ext cx="2172965" cy="285750"/>
          </a:xfrm>
          <a:prstGeom prst="rect">
            <a:avLst/>
          </a:prstGeom>
          <a:noFill/>
          <a:ln/>
        </p:spPr>
        <p:txBody>
          <a:bodyPr wrap="square" lIns="25400" tIns="25400" rIns="25400" bIns="25400" rtlCol="0" anchor="ctr">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Ivar the Drowned</a:t>
            </a:r>
            <a:endParaRPr lang="en-US" sz="1050" dirty="0"/>
          </a:p>
        </p:txBody>
      </p:sp>
      <p:sp>
        <p:nvSpPr>
          <p:cNvPr id="57" name="Shape 51"/>
          <p:cNvSpPr/>
          <p:nvPr/>
        </p:nvSpPr>
        <p:spPr>
          <a:xfrm>
            <a:off x="10368781" y="3981450"/>
            <a:ext cx="1283345" cy="9525"/>
          </a:xfrm>
          <a:prstGeom prst="rect">
            <a:avLst/>
          </a:prstGeom>
          <a:solidFill>
            <a:srgbClr val="2A2933"/>
          </a:solidFill>
          <a:ln/>
        </p:spPr>
      </p:sp>
      <p:sp>
        <p:nvSpPr>
          <p:cNvPr id="58" name="Text 52"/>
          <p:cNvSpPr/>
          <p:nvPr/>
        </p:nvSpPr>
        <p:spPr>
          <a:xfrm>
            <a:off x="10521181" y="3619500"/>
            <a:ext cx="1054745" cy="285750"/>
          </a:xfrm>
          <a:prstGeom prst="rect">
            <a:avLst/>
          </a:prstGeom>
          <a:noFill/>
          <a:ln/>
        </p:spPr>
        <p:txBody>
          <a:bodyPr wrap="square" lIns="25400" tIns="25400" rIns="25400" bIns="25400" rtlCol="0" anchor="ctr">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Storm</a:t>
            </a:r>
            <a:endParaRPr lang="en-US" sz="1050" dirty="0"/>
          </a:p>
        </p:txBody>
      </p:sp>
      <p:sp>
        <p:nvSpPr>
          <p:cNvPr id="59" name="Shape 53"/>
          <p:cNvSpPr/>
          <p:nvPr/>
        </p:nvSpPr>
        <p:spPr>
          <a:xfrm>
            <a:off x="11652126" y="3981450"/>
            <a:ext cx="1725737" cy="9525"/>
          </a:xfrm>
          <a:prstGeom prst="rect">
            <a:avLst/>
          </a:prstGeom>
          <a:solidFill>
            <a:srgbClr val="2A2933"/>
          </a:solidFill>
          <a:ln/>
        </p:spPr>
      </p:sp>
      <p:sp>
        <p:nvSpPr>
          <p:cNvPr id="60" name="Text 54"/>
          <p:cNvSpPr/>
          <p:nvPr/>
        </p:nvSpPr>
        <p:spPr>
          <a:xfrm>
            <a:off x="11728326" y="3619500"/>
            <a:ext cx="1497137" cy="285750"/>
          </a:xfrm>
          <a:prstGeom prst="rect">
            <a:avLst/>
          </a:prstGeom>
          <a:noFill/>
          <a:ln/>
        </p:spPr>
        <p:txBody>
          <a:bodyPr wrap="square" lIns="25400" tIns="25400" rIns="25400" bIns="25400" rtlCol="0" anchor="ctr">
            <a:normAutofit/>
          </a:bodyPr>
          <a:lstStyle/>
          <a:p>
            <a:pPr algn="r" indent="0" marL="0">
              <a:buNone/>
            </a:pPr>
            <a:r>
              <a:rPr lang="en-US" sz="1050" dirty="0">
                <a:solidFill>
                  <a:srgbClr val="ECE6D6"/>
                </a:solidFill>
                <a:latin typeface="Courier New" pitchFamily="34" charset="0"/>
                <a:ea typeface="Courier New" pitchFamily="34" charset="-122"/>
                <a:cs typeface="Courier New" pitchFamily="34" charset="-120"/>
              </a:rPr>
              <a:t>62</a:t>
            </a:r>
            <a:endParaRPr lang="en-US" sz="1050" dirty="0"/>
          </a:p>
        </p:txBody>
      </p:sp>
      <p:sp>
        <p:nvSpPr>
          <p:cNvPr id="61" name="Shape 55"/>
          <p:cNvSpPr/>
          <p:nvPr/>
        </p:nvSpPr>
        <p:spPr>
          <a:xfrm>
            <a:off x="13377863" y="3981450"/>
            <a:ext cx="2009775" cy="9525"/>
          </a:xfrm>
          <a:prstGeom prst="rect">
            <a:avLst/>
          </a:prstGeom>
          <a:solidFill>
            <a:srgbClr val="2A2933"/>
          </a:solidFill>
          <a:ln/>
        </p:spPr>
      </p:sp>
      <p:sp>
        <p:nvSpPr>
          <p:cNvPr id="62" name="Shape 56"/>
          <p:cNvSpPr/>
          <p:nvPr/>
        </p:nvSpPr>
        <p:spPr>
          <a:xfrm>
            <a:off x="13530263" y="3642345"/>
            <a:ext cx="816918" cy="217140"/>
          </a:xfrm>
          <a:prstGeom prst="roundRect">
            <a:avLst>
              <a:gd name="adj" fmla="val 50000"/>
            </a:avLst>
          </a:prstGeom>
          <a:solidFill>
            <a:srgbClr val="B5601F">
              <a:alpha val="16000"/>
            </a:srgbClr>
          </a:solidFill>
          <a:ln/>
        </p:spPr>
      </p:sp>
      <p:sp>
        <p:nvSpPr>
          <p:cNvPr id="63" name="Shape 57"/>
          <p:cNvSpPr/>
          <p:nvPr/>
        </p:nvSpPr>
        <p:spPr>
          <a:xfrm>
            <a:off x="13625513" y="3722340"/>
            <a:ext cx="57150" cy="57150"/>
          </a:xfrm>
          <a:prstGeom prst="ellipse">
            <a:avLst/>
          </a:prstGeom>
          <a:solidFill>
            <a:srgbClr val="B5601F"/>
          </a:solidFill>
          <a:ln/>
        </p:spPr>
      </p:sp>
      <p:sp>
        <p:nvSpPr>
          <p:cNvPr id="64" name="Text 58"/>
          <p:cNvSpPr/>
          <p:nvPr/>
        </p:nvSpPr>
        <p:spPr>
          <a:xfrm>
            <a:off x="13739813" y="3675683"/>
            <a:ext cx="588318"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B5601F"/>
                </a:solidFill>
                <a:latin typeface="Courier New" pitchFamily="34" charset="0"/>
                <a:ea typeface="Courier New" pitchFamily="34" charset="-122"/>
                <a:cs typeface="Courier New" pitchFamily="34" charset="-120"/>
              </a:rPr>
              <a:t>WOUNDED</a:t>
            </a:r>
            <a:endParaRPr lang="en-US" sz="900" dirty="0"/>
          </a:p>
        </p:txBody>
      </p:sp>
      <p:sp>
        <p:nvSpPr>
          <p:cNvPr id="65" name="Shape 59"/>
          <p:cNvSpPr/>
          <p:nvPr/>
        </p:nvSpPr>
        <p:spPr>
          <a:xfrm>
            <a:off x="5119688" y="3990975"/>
            <a:ext cx="10267950" cy="485775"/>
          </a:xfrm>
          <a:prstGeom prst="rect">
            <a:avLst/>
          </a:prstGeom>
          <a:solidFill>
            <a:srgbClr val="100F15"/>
          </a:solidFill>
          <a:ln/>
        </p:spPr>
      </p:sp>
      <p:sp>
        <p:nvSpPr>
          <p:cNvPr id="66" name="Shape 60"/>
          <p:cNvSpPr/>
          <p:nvPr/>
        </p:nvSpPr>
        <p:spPr>
          <a:xfrm>
            <a:off x="5119688" y="4467225"/>
            <a:ext cx="2847529" cy="9525"/>
          </a:xfrm>
          <a:prstGeom prst="rect">
            <a:avLst/>
          </a:prstGeom>
          <a:solidFill>
            <a:srgbClr val="2A2933"/>
          </a:solidFill>
          <a:ln/>
        </p:spPr>
      </p:sp>
      <p:sp>
        <p:nvSpPr>
          <p:cNvPr id="67" name="Shape 61"/>
          <p:cNvSpPr/>
          <p:nvPr/>
        </p:nvSpPr>
        <p:spPr>
          <a:xfrm>
            <a:off x="5272088" y="4110038"/>
            <a:ext cx="247650" cy="247650"/>
          </a:xfrm>
          <a:prstGeom prst="ellipse">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68" name="Text 62"/>
          <p:cNvSpPr/>
          <p:nvPr/>
        </p:nvSpPr>
        <p:spPr>
          <a:xfrm>
            <a:off x="5243513" y="4119563"/>
            <a:ext cx="304800" cy="266700"/>
          </a:xfrm>
          <a:prstGeom prst="rect">
            <a:avLst/>
          </a:prstGeom>
          <a:noFill/>
          <a:ln/>
        </p:spPr>
        <p:txBody>
          <a:bodyPr wrap="square" lIns="25400" tIns="25400" rIns="25400" bIns="25400" rtlCol="0" anchor="ctr">
            <a:normAutofit/>
          </a:bodyPr>
          <a:lstStyle/>
          <a:p>
            <a:pPr algn="ctr" indent="0" marL="0">
              <a:buNone/>
            </a:pPr>
            <a:r>
              <a:rPr lang="en-US" sz="750" b="1" dirty="0">
                <a:solidFill>
                  <a:srgbClr val="C5BDA6"/>
                </a:solidFill>
                <a:latin typeface="Georgia" pitchFamily="34" charset="0"/>
                <a:ea typeface="Georgia" pitchFamily="34" charset="-122"/>
                <a:cs typeface="Georgia" pitchFamily="34" charset="-120"/>
              </a:rPr>
              <a:t>KN</a:t>
            </a:r>
            <a:endParaRPr lang="en-US" sz="750" dirty="0"/>
          </a:p>
        </p:txBody>
      </p:sp>
      <p:sp>
        <p:nvSpPr>
          <p:cNvPr id="69" name="Shape 63"/>
          <p:cNvSpPr/>
          <p:nvPr/>
        </p:nvSpPr>
        <p:spPr>
          <a:xfrm>
            <a:off x="5414963" y="4252913"/>
            <a:ext cx="114300" cy="114300"/>
          </a:xfrm>
          <a:prstGeom prst="ellipse">
            <a:avLst/>
          </a:prstGeom>
          <a:solidFill>
            <a:srgbClr val="5B7A4E"/>
          </a:solidFill>
          <a:ln w="19050">
            <a:solidFill>
              <a:srgbClr val="16151D"/>
            </a:solidFill>
            <a:prstDash val="solid"/>
          </a:ln>
        </p:spPr>
      </p:sp>
      <p:sp>
        <p:nvSpPr>
          <p:cNvPr id="70" name="Text 64"/>
          <p:cNvSpPr/>
          <p:nvPr/>
        </p:nvSpPr>
        <p:spPr>
          <a:xfrm>
            <a:off x="5614988" y="4131469"/>
            <a:ext cx="721370" cy="242888"/>
          </a:xfrm>
          <a:prstGeom prst="rect">
            <a:avLst/>
          </a:prstGeom>
          <a:noFill/>
          <a:ln/>
        </p:spPr>
        <p:txBody>
          <a:bodyPr wrap="square" lIns="0" tIns="0" rIns="0" bIns="0" rtlCol="0" anchor="t">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Kára Holm</a:t>
            </a:r>
            <a:endParaRPr lang="en-US" sz="1050" dirty="0"/>
          </a:p>
        </p:txBody>
      </p:sp>
      <p:sp>
        <p:nvSpPr>
          <p:cNvPr id="71" name="Shape 65"/>
          <p:cNvSpPr/>
          <p:nvPr/>
        </p:nvSpPr>
        <p:spPr>
          <a:xfrm>
            <a:off x="7967216" y="4467225"/>
            <a:ext cx="2401565" cy="9525"/>
          </a:xfrm>
          <a:prstGeom prst="rect">
            <a:avLst/>
          </a:prstGeom>
          <a:solidFill>
            <a:srgbClr val="2A2933"/>
          </a:solidFill>
          <a:ln/>
        </p:spPr>
      </p:sp>
      <p:sp>
        <p:nvSpPr>
          <p:cNvPr id="72" name="Text 66"/>
          <p:cNvSpPr/>
          <p:nvPr/>
        </p:nvSpPr>
        <p:spPr>
          <a:xfrm>
            <a:off x="8119616" y="4105275"/>
            <a:ext cx="2172965" cy="285750"/>
          </a:xfrm>
          <a:prstGeom prst="rect">
            <a:avLst/>
          </a:prstGeom>
          <a:noFill/>
          <a:ln/>
        </p:spPr>
        <p:txBody>
          <a:bodyPr wrap="square" lIns="25400" tIns="25400" rIns="25400" bIns="25400" rtlCol="0" anchor="ctr">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Kára Nightveil</a:t>
            </a:r>
            <a:endParaRPr lang="en-US" sz="1050" dirty="0"/>
          </a:p>
        </p:txBody>
      </p:sp>
      <p:sp>
        <p:nvSpPr>
          <p:cNvPr id="73" name="Shape 67"/>
          <p:cNvSpPr/>
          <p:nvPr/>
        </p:nvSpPr>
        <p:spPr>
          <a:xfrm>
            <a:off x="10368781" y="4467225"/>
            <a:ext cx="1283345" cy="9525"/>
          </a:xfrm>
          <a:prstGeom prst="rect">
            <a:avLst/>
          </a:prstGeom>
          <a:solidFill>
            <a:srgbClr val="2A2933"/>
          </a:solidFill>
          <a:ln/>
        </p:spPr>
      </p:sp>
      <p:sp>
        <p:nvSpPr>
          <p:cNvPr id="74" name="Text 68"/>
          <p:cNvSpPr/>
          <p:nvPr/>
        </p:nvSpPr>
        <p:spPr>
          <a:xfrm>
            <a:off x="10521181" y="4105275"/>
            <a:ext cx="1054745" cy="285750"/>
          </a:xfrm>
          <a:prstGeom prst="rect">
            <a:avLst/>
          </a:prstGeom>
          <a:noFill/>
          <a:ln/>
        </p:spPr>
        <p:txBody>
          <a:bodyPr wrap="square" lIns="25400" tIns="25400" rIns="25400" bIns="25400" rtlCol="0" anchor="ctr">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Ash</a:t>
            </a:r>
            <a:endParaRPr lang="en-US" sz="1050" dirty="0"/>
          </a:p>
        </p:txBody>
      </p:sp>
      <p:sp>
        <p:nvSpPr>
          <p:cNvPr id="75" name="Shape 69"/>
          <p:cNvSpPr/>
          <p:nvPr/>
        </p:nvSpPr>
        <p:spPr>
          <a:xfrm>
            <a:off x="11652126" y="4467225"/>
            <a:ext cx="1725737" cy="9525"/>
          </a:xfrm>
          <a:prstGeom prst="rect">
            <a:avLst/>
          </a:prstGeom>
          <a:solidFill>
            <a:srgbClr val="2A2933"/>
          </a:solidFill>
          <a:ln/>
        </p:spPr>
      </p:sp>
      <p:sp>
        <p:nvSpPr>
          <p:cNvPr id="76" name="Text 70"/>
          <p:cNvSpPr/>
          <p:nvPr/>
        </p:nvSpPr>
        <p:spPr>
          <a:xfrm>
            <a:off x="11728326" y="4105275"/>
            <a:ext cx="1497137" cy="285750"/>
          </a:xfrm>
          <a:prstGeom prst="rect">
            <a:avLst/>
          </a:prstGeom>
          <a:noFill/>
          <a:ln/>
        </p:spPr>
        <p:txBody>
          <a:bodyPr wrap="square" lIns="25400" tIns="25400" rIns="25400" bIns="25400" rtlCol="0" anchor="ctr">
            <a:normAutofit/>
          </a:bodyPr>
          <a:lstStyle/>
          <a:p>
            <a:pPr algn="r" indent="0" marL="0">
              <a:buNone/>
            </a:pPr>
            <a:r>
              <a:rPr lang="en-US" sz="1050" dirty="0">
                <a:solidFill>
                  <a:srgbClr val="ECE6D6"/>
                </a:solidFill>
                <a:latin typeface="Courier New" pitchFamily="34" charset="0"/>
                <a:ea typeface="Courier New" pitchFamily="34" charset="-122"/>
                <a:cs typeface="Courier New" pitchFamily="34" charset="-120"/>
              </a:rPr>
              <a:t>88</a:t>
            </a:r>
            <a:endParaRPr lang="en-US" sz="1050" dirty="0"/>
          </a:p>
        </p:txBody>
      </p:sp>
      <p:sp>
        <p:nvSpPr>
          <p:cNvPr id="77" name="Shape 71"/>
          <p:cNvSpPr/>
          <p:nvPr/>
        </p:nvSpPr>
        <p:spPr>
          <a:xfrm>
            <a:off x="13377863" y="4467225"/>
            <a:ext cx="2009775" cy="9525"/>
          </a:xfrm>
          <a:prstGeom prst="rect">
            <a:avLst/>
          </a:prstGeom>
          <a:solidFill>
            <a:srgbClr val="2A2933"/>
          </a:solidFill>
          <a:ln/>
        </p:spPr>
      </p:sp>
      <p:sp>
        <p:nvSpPr>
          <p:cNvPr id="78" name="Shape 72"/>
          <p:cNvSpPr/>
          <p:nvPr/>
        </p:nvSpPr>
        <p:spPr>
          <a:xfrm>
            <a:off x="13530263" y="4128120"/>
            <a:ext cx="670620" cy="217140"/>
          </a:xfrm>
          <a:prstGeom prst="roundRect">
            <a:avLst>
              <a:gd name="adj" fmla="val 50000"/>
            </a:avLst>
          </a:prstGeom>
          <a:solidFill>
            <a:srgbClr val="5B7A4E">
              <a:alpha val="16000"/>
            </a:srgbClr>
          </a:solidFill>
          <a:ln/>
        </p:spPr>
      </p:sp>
      <p:sp>
        <p:nvSpPr>
          <p:cNvPr id="79" name="Shape 73"/>
          <p:cNvSpPr/>
          <p:nvPr/>
        </p:nvSpPr>
        <p:spPr>
          <a:xfrm>
            <a:off x="13625513" y="4208115"/>
            <a:ext cx="57150" cy="57150"/>
          </a:xfrm>
          <a:prstGeom prst="ellipse">
            <a:avLst/>
          </a:prstGeom>
          <a:solidFill>
            <a:srgbClr val="5B7A4E"/>
          </a:solidFill>
          <a:ln/>
        </p:spPr>
      </p:sp>
      <p:sp>
        <p:nvSpPr>
          <p:cNvPr id="80" name="Text 74"/>
          <p:cNvSpPr/>
          <p:nvPr/>
        </p:nvSpPr>
        <p:spPr>
          <a:xfrm>
            <a:off x="13739813" y="4161458"/>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81" name="Shape 75"/>
          <p:cNvSpPr/>
          <p:nvPr/>
        </p:nvSpPr>
        <p:spPr>
          <a:xfrm>
            <a:off x="5119688" y="4953000"/>
            <a:ext cx="2847529" cy="9525"/>
          </a:xfrm>
          <a:prstGeom prst="rect">
            <a:avLst/>
          </a:prstGeom>
          <a:solidFill>
            <a:srgbClr val="2A2933"/>
          </a:solidFill>
          <a:ln/>
        </p:spPr>
      </p:sp>
      <p:sp>
        <p:nvSpPr>
          <p:cNvPr id="82" name="Shape 76"/>
          <p:cNvSpPr/>
          <p:nvPr/>
        </p:nvSpPr>
        <p:spPr>
          <a:xfrm>
            <a:off x="5272088" y="4595813"/>
            <a:ext cx="247650" cy="247650"/>
          </a:xfrm>
          <a:prstGeom prst="ellipse">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83" name="Text 77"/>
          <p:cNvSpPr/>
          <p:nvPr/>
        </p:nvSpPr>
        <p:spPr>
          <a:xfrm>
            <a:off x="5243513" y="4605338"/>
            <a:ext cx="304800" cy="266700"/>
          </a:xfrm>
          <a:prstGeom prst="rect">
            <a:avLst/>
          </a:prstGeom>
          <a:noFill/>
          <a:ln/>
        </p:spPr>
        <p:txBody>
          <a:bodyPr wrap="square" lIns="25400" tIns="25400" rIns="25400" bIns="25400" rtlCol="0" anchor="ctr">
            <a:normAutofit/>
          </a:bodyPr>
          <a:lstStyle/>
          <a:p>
            <a:pPr algn="ctr" indent="0" marL="0">
              <a:buNone/>
            </a:pPr>
            <a:r>
              <a:rPr lang="en-US" sz="750" b="1" dirty="0">
                <a:solidFill>
                  <a:srgbClr val="C5BDA6"/>
                </a:solidFill>
                <a:latin typeface="Georgia" pitchFamily="34" charset="0"/>
                <a:ea typeface="Georgia" pitchFamily="34" charset="-122"/>
                <a:cs typeface="Georgia" pitchFamily="34" charset="-120"/>
              </a:rPr>
              <a:t>DV</a:t>
            </a:r>
            <a:endParaRPr lang="en-US" sz="750" dirty="0"/>
          </a:p>
        </p:txBody>
      </p:sp>
      <p:sp>
        <p:nvSpPr>
          <p:cNvPr id="84" name="Shape 78"/>
          <p:cNvSpPr/>
          <p:nvPr/>
        </p:nvSpPr>
        <p:spPr>
          <a:xfrm>
            <a:off x="5414963" y="4738688"/>
            <a:ext cx="114300" cy="114300"/>
          </a:xfrm>
          <a:prstGeom prst="ellipse">
            <a:avLst/>
          </a:prstGeom>
          <a:solidFill>
            <a:srgbClr val="8A1F2A"/>
          </a:solidFill>
          <a:ln w="19050">
            <a:solidFill>
              <a:srgbClr val="16151D"/>
            </a:solidFill>
            <a:prstDash val="solid"/>
          </a:ln>
        </p:spPr>
      </p:sp>
      <p:sp>
        <p:nvSpPr>
          <p:cNvPr id="85" name="Text 79"/>
          <p:cNvSpPr/>
          <p:nvPr/>
        </p:nvSpPr>
        <p:spPr>
          <a:xfrm>
            <a:off x="5614988" y="4617244"/>
            <a:ext cx="1017836" cy="242888"/>
          </a:xfrm>
          <a:prstGeom prst="rect">
            <a:avLst/>
          </a:prstGeom>
          <a:noFill/>
          <a:ln/>
        </p:spPr>
        <p:txBody>
          <a:bodyPr wrap="square" lIns="0" tIns="0" rIns="0" bIns="0" rtlCol="0" anchor="t">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Dragomir Holm</a:t>
            </a:r>
            <a:endParaRPr lang="en-US" sz="1050" dirty="0"/>
          </a:p>
        </p:txBody>
      </p:sp>
      <p:sp>
        <p:nvSpPr>
          <p:cNvPr id="86" name="Shape 80"/>
          <p:cNvSpPr/>
          <p:nvPr/>
        </p:nvSpPr>
        <p:spPr>
          <a:xfrm>
            <a:off x="7967216" y="4953000"/>
            <a:ext cx="2401565" cy="9525"/>
          </a:xfrm>
          <a:prstGeom prst="rect">
            <a:avLst/>
          </a:prstGeom>
          <a:solidFill>
            <a:srgbClr val="2A2933"/>
          </a:solidFill>
          <a:ln/>
        </p:spPr>
      </p:sp>
      <p:sp>
        <p:nvSpPr>
          <p:cNvPr id="87" name="Text 81"/>
          <p:cNvSpPr/>
          <p:nvPr/>
        </p:nvSpPr>
        <p:spPr>
          <a:xfrm>
            <a:off x="8119616" y="4591050"/>
            <a:ext cx="2172965" cy="285750"/>
          </a:xfrm>
          <a:prstGeom prst="rect">
            <a:avLst/>
          </a:prstGeom>
          <a:noFill/>
          <a:ln/>
        </p:spPr>
        <p:txBody>
          <a:bodyPr wrap="square" lIns="25400" tIns="25400" rIns="25400" bIns="25400" rtlCol="0" anchor="ctr">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Dragomir Vale</a:t>
            </a:r>
            <a:endParaRPr lang="en-US" sz="1050" dirty="0"/>
          </a:p>
        </p:txBody>
      </p:sp>
      <p:sp>
        <p:nvSpPr>
          <p:cNvPr id="88" name="Shape 82"/>
          <p:cNvSpPr/>
          <p:nvPr/>
        </p:nvSpPr>
        <p:spPr>
          <a:xfrm>
            <a:off x="10368781" y="4953000"/>
            <a:ext cx="1283345" cy="9525"/>
          </a:xfrm>
          <a:prstGeom prst="rect">
            <a:avLst/>
          </a:prstGeom>
          <a:solidFill>
            <a:srgbClr val="2A2933"/>
          </a:solidFill>
          <a:ln/>
        </p:spPr>
      </p:sp>
      <p:sp>
        <p:nvSpPr>
          <p:cNvPr id="89" name="Text 83"/>
          <p:cNvSpPr/>
          <p:nvPr/>
        </p:nvSpPr>
        <p:spPr>
          <a:xfrm>
            <a:off x="10521181" y="4591050"/>
            <a:ext cx="1054745" cy="285750"/>
          </a:xfrm>
          <a:prstGeom prst="rect">
            <a:avLst/>
          </a:prstGeom>
          <a:noFill/>
          <a:ln/>
        </p:spPr>
        <p:txBody>
          <a:bodyPr wrap="square" lIns="25400" tIns="25400" rIns="25400" bIns="25400" rtlCol="0" anchor="ctr">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Crow</a:t>
            </a:r>
            <a:endParaRPr lang="en-US" sz="1050" dirty="0"/>
          </a:p>
        </p:txBody>
      </p:sp>
      <p:sp>
        <p:nvSpPr>
          <p:cNvPr id="90" name="Shape 84"/>
          <p:cNvSpPr/>
          <p:nvPr/>
        </p:nvSpPr>
        <p:spPr>
          <a:xfrm>
            <a:off x="11652126" y="4953000"/>
            <a:ext cx="1725737" cy="9525"/>
          </a:xfrm>
          <a:prstGeom prst="rect">
            <a:avLst/>
          </a:prstGeom>
          <a:solidFill>
            <a:srgbClr val="2A2933"/>
          </a:solidFill>
          <a:ln/>
        </p:spPr>
      </p:sp>
      <p:sp>
        <p:nvSpPr>
          <p:cNvPr id="91" name="Text 85"/>
          <p:cNvSpPr/>
          <p:nvPr/>
        </p:nvSpPr>
        <p:spPr>
          <a:xfrm>
            <a:off x="11728326" y="4591050"/>
            <a:ext cx="1497137" cy="285750"/>
          </a:xfrm>
          <a:prstGeom prst="rect">
            <a:avLst/>
          </a:prstGeom>
          <a:noFill/>
          <a:ln/>
        </p:spPr>
        <p:txBody>
          <a:bodyPr wrap="square" lIns="25400" tIns="25400" rIns="25400" bIns="25400" rtlCol="0" anchor="ctr">
            <a:normAutofit/>
          </a:bodyPr>
          <a:lstStyle/>
          <a:p>
            <a:pPr algn="r" indent="0" marL="0">
              <a:buNone/>
            </a:pPr>
            <a:r>
              <a:rPr lang="en-US" sz="1050" dirty="0">
                <a:solidFill>
                  <a:srgbClr val="ECE6D6"/>
                </a:solidFill>
                <a:latin typeface="Courier New" pitchFamily="34" charset="0"/>
                <a:ea typeface="Courier New" pitchFamily="34" charset="-122"/>
                <a:cs typeface="Courier New" pitchFamily="34" charset="-120"/>
              </a:rPr>
              <a:t>12</a:t>
            </a:r>
            <a:endParaRPr lang="en-US" sz="1050" dirty="0"/>
          </a:p>
        </p:txBody>
      </p:sp>
      <p:sp>
        <p:nvSpPr>
          <p:cNvPr id="92" name="Shape 86"/>
          <p:cNvSpPr/>
          <p:nvPr/>
        </p:nvSpPr>
        <p:spPr>
          <a:xfrm>
            <a:off x="13377863" y="4953000"/>
            <a:ext cx="2009775" cy="9525"/>
          </a:xfrm>
          <a:prstGeom prst="rect">
            <a:avLst/>
          </a:prstGeom>
          <a:solidFill>
            <a:srgbClr val="2A2933"/>
          </a:solidFill>
          <a:ln/>
        </p:spPr>
      </p:sp>
      <p:sp>
        <p:nvSpPr>
          <p:cNvPr id="93" name="Shape 87"/>
          <p:cNvSpPr/>
          <p:nvPr/>
        </p:nvSpPr>
        <p:spPr>
          <a:xfrm>
            <a:off x="13530263" y="4613895"/>
            <a:ext cx="597471" cy="217140"/>
          </a:xfrm>
          <a:prstGeom prst="roundRect">
            <a:avLst>
              <a:gd name="adj" fmla="val 50000"/>
            </a:avLst>
          </a:prstGeom>
          <a:solidFill>
            <a:srgbClr val="8A1F2A">
              <a:alpha val="18000"/>
            </a:srgbClr>
          </a:solidFill>
          <a:ln/>
        </p:spPr>
      </p:sp>
      <p:sp>
        <p:nvSpPr>
          <p:cNvPr id="94" name="Shape 88"/>
          <p:cNvSpPr/>
          <p:nvPr/>
        </p:nvSpPr>
        <p:spPr>
          <a:xfrm>
            <a:off x="13625513" y="4693890"/>
            <a:ext cx="57150" cy="57150"/>
          </a:xfrm>
          <a:prstGeom prst="ellipse">
            <a:avLst/>
          </a:prstGeom>
          <a:solidFill>
            <a:srgbClr val="8A1F2A"/>
          </a:solidFill>
          <a:ln/>
        </p:spPr>
      </p:sp>
      <p:sp>
        <p:nvSpPr>
          <p:cNvPr id="95" name="Text 89"/>
          <p:cNvSpPr/>
          <p:nvPr/>
        </p:nvSpPr>
        <p:spPr>
          <a:xfrm>
            <a:off x="13739813" y="4647233"/>
            <a:ext cx="368871"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8A1F2A"/>
                </a:solidFill>
                <a:latin typeface="Courier New" pitchFamily="34" charset="0"/>
                <a:ea typeface="Courier New" pitchFamily="34" charset="-122"/>
                <a:cs typeface="Courier New" pitchFamily="34" charset="-120"/>
              </a:rPr>
              <a:t>DEAD</a:t>
            </a:r>
            <a:endParaRPr lang="en-US" sz="900" dirty="0"/>
          </a:p>
        </p:txBody>
      </p:sp>
      <p:sp>
        <p:nvSpPr>
          <p:cNvPr id="96" name="Shape 90"/>
          <p:cNvSpPr/>
          <p:nvPr/>
        </p:nvSpPr>
        <p:spPr>
          <a:xfrm>
            <a:off x="5119688" y="4962525"/>
            <a:ext cx="10267950" cy="481012"/>
          </a:xfrm>
          <a:prstGeom prst="rect">
            <a:avLst/>
          </a:prstGeom>
          <a:solidFill>
            <a:srgbClr val="100F15"/>
          </a:solidFill>
          <a:ln/>
        </p:spPr>
      </p:sp>
      <p:sp>
        <p:nvSpPr>
          <p:cNvPr id="97" name="Shape 91"/>
          <p:cNvSpPr/>
          <p:nvPr/>
        </p:nvSpPr>
        <p:spPr>
          <a:xfrm>
            <a:off x="5272088" y="5081588"/>
            <a:ext cx="247650" cy="247650"/>
          </a:xfrm>
          <a:prstGeom prst="ellipse">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98" name="Text 92"/>
          <p:cNvSpPr/>
          <p:nvPr/>
        </p:nvSpPr>
        <p:spPr>
          <a:xfrm>
            <a:off x="5243513" y="5091113"/>
            <a:ext cx="304800" cy="266700"/>
          </a:xfrm>
          <a:prstGeom prst="rect">
            <a:avLst/>
          </a:prstGeom>
          <a:noFill/>
          <a:ln/>
        </p:spPr>
        <p:txBody>
          <a:bodyPr wrap="square" lIns="25400" tIns="25400" rIns="25400" bIns="25400" rtlCol="0" anchor="ctr">
            <a:normAutofit/>
          </a:bodyPr>
          <a:lstStyle/>
          <a:p>
            <a:pPr algn="ctr" indent="0" marL="0">
              <a:buNone/>
            </a:pPr>
            <a:r>
              <a:rPr lang="en-US" sz="750" b="1" dirty="0">
                <a:solidFill>
                  <a:srgbClr val="C5BDA6"/>
                </a:solidFill>
                <a:latin typeface="Georgia" pitchFamily="34" charset="0"/>
                <a:ea typeface="Georgia" pitchFamily="34" charset="-122"/>
                <a:cs typeface="Georgia" pitchFamily="34" charset="-120"/>
              </a:rPr>
              <a:t>SF</a:t>
            </a:r>
            <a:endParaRPr lang="en-US" sz="750" dirty="0"/>
          </a:p>
        </p:txBody>
      </p:sp>
      <p:sp>
        <p:nvSpPr>
          <p:cNvPr id="99" name="Shape 93"/>
          <p:cNvSpPr/>
          <p:nvPr/>
        </p:nvSpPr>
        <p:spPr>
          <a:xfrm>
            <a:off x="5414963" y="5224463"/>
            <a:ext cx="114300" cy="114300"/>
          </a:xfrm>
          <a:prstGeom prst="ellipse">
            <a:avLst/>
          </a:prstGeom>
          <a:solidFill>
            <a:srgbClr val="5B7A4E"/>
          </a:solidFill>
          <a:ln w="19050">
            <a:solidFill>
              <a:srgbClr val="16151D"/>
            </a:solidFill>
            <a:prstDash val="solid"/>
          </a:ln>
        </p:spPr>
      </p:sp>
      <p:sp>
        <p:nvSpPr>
          <p:cNvPr id="100" name="Text 94"/>
          <p:cNvSpPr/>
          <p:nvPr/>
        </p:nvSpPr>
        <p:spPr>
          <a:xfrm>
            <a:off x="5614988" y="5103019"/>
            <a:ext cx="989707" cy="242888"/>
          </a:xfrm>
          <a:prstGeom prst="rect">
            <a:avLst/>
          </a:prstGeom>
          <a:noFill/>
          <a:ln/>
        </p:spPr>
        <p:txBody>
          <a:bodyPr wrap="square" lIns="0" tIns="0" rIns="0" bIns="0" rtlCol="0" anchor="t">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Sieglinde Holm</a:t>
            </a:r>
            <a:endParaRPr lang="en-US" sz="1050" dirty="0"/>
          </a:p>
        </p:txBody>
      </p:sp>
      <p:sp>
        <p:nvSpPr>
          <p:cNvPr id="101" name="Text 95"/>
          <p:cNvSpPr/>
          <p:nvPr/>
        </p:nvSpPr>
        <p:spPr>
          <a:xfrm>
            <a:off x="8119616" y="5076825"/>
            <a:ext cx="2172965" cy="290513"/>
          </a:xfrm>
          <a:prstGeom prst="rect">
            <a:avLst/>
          </a:prstGeom>
          <a:noFill/>
          <a:ln/>
        </p:spPr>
        <p:txBody>
          <a:bodyPr wrap="square" lIns="25400" tIns="25400" rIns="25400" bIns="25400" rtlCol="0" anchor="ctr">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Sieglinde Frost</a:t>
            </a:r>
            <a:endParaRPr lang="en-US" sz="1050" dirty="0"/>
          </a:p>
        </p:txBody>
      </p:sp>
      <p:sp>
        <p:nvSpPr>
          <p:cNvPr id="102" name="Text 96"/>
          <p:cNvSpPr/>
          <p:nvPr/>
        </p:nvSpPr>
        <p:spPr>
          <a:xfrm>
            <a:off x="10521181" y="5076825"/>
            <a:ext cx="1054745" cy="290513"/>
          </a:xfrm>
          <a:prstGeom prst="rect">
            <a:avLst/>
          </a:prstGeom>
          <a:noFill/>
          <a:ln/>
        </p:spPr>
        <p:txBody>
          <a:bodyPr wrap="square" lIns="25400" tIns="25400" rIns="25400" bIns="25400" rtlCol="0" anchor="ctr">
            <a:normAutofit/>
          </a:bodyPr>
          <a:lstStyle/>
          <a:p>
            <a:pPr algn="l" indent="0" marL="0">
              <a:buNone/>
            </a:pPr>
            <a:r>
              <a:rPr lang="en-US" sz="1050" dirty="0">
                <a:solidFill>
                  <a:srgbClr val="ECE6D6"/>
                </a:solidFill>
                <a:latin typeface="Georgia" pitchFamily="34" charset="0"/>
                <a:ea typeface="Georgia" pitchFamily="34" charset="-122"/>
                <a:cs typeface="Georgia" pitchFamily="34" charset="-120"/>
              </a:rPr>
              <a:t>Storm</a:t>
            </a:r>
            <a:endParaRPr lang="en-US" sz="1050" dirty="0"/>
          </a:p>
        </p:txBody>
      </p:sp>
      <p:sp>
        <p:nvSpPr>
          <p:cNvPr id="103" name="Text 97"/>
          <p:cNvSpPr/>
          <p:nvPr/>
        </p:nvSpPr>
        <p:spPr>
          <a:xfrm>
            <a:off x="11728326" y="5076825"/>
            <a:ext cx="1497137" cy="290513"/>
          </a:xfrm>
          <a:prstGeom prst="rect">
            <a:avLst/>
          </a:prstGeom>
          <a:noFill/>
          <a:ln/>
        </p:spPr>
        <p:txBody>
          <a:bodyPr wrap="square" lIns="25400" tIns="25400" rIns="25400" bIns="25400" rtlCol="0" anchor="ctr">
            <a:normAutofit/>
          </a:bodyPr>
          <a:lstStyle/>
          <a:p>
            <a:pPr algn="r" indent="0" marL="0">
              <a:buNone/>
            </a:pPr>
            <a:r>
              <a:rPr lang="en-US" sz="1050" dirty="0">
                <a:solidFill>
                  <a:srgbClr val="ECE6D6"/>
                </a:solidFill>
                <a:latin typeface="Courier New" pitchFamily="34" charset="0"/>
                <a:ea typeface="Courier New" pitchFamily="34" charset="-122"/>
                <a:cs typeface="Courier New" pitchFamily="34" charset="-120"/>
              </a:rPr>
              <a:t>94</a:t>
            </a:r>
            <a:endParaRPr lang="en-US" sz="1050" dirty="0"/>
          </a:p>
        </p:txBody>
      </p:sp>
      <p:sp>
        <p:nvSpPr>
          <p:cNvPr id="104" name="Shape 98"/>
          <p:cNvSpPr/>
          <p:nvPr/>
        </p:nvSpPr>
        <p:spPr>
          <a:xfrm>
            <a:off x="13530263" y="5099670"/>
            <a:ext cx="670620" cy="217140"/>
          </a:xfrm>
          <a:prstGeom prst="roundRect">
            <a:avLst>
              <a:gd name="adj" fmla="val 50000"/>
            </a:avLst>
          </a:prstGeom>
          <a:solidFill>
            <a:srgbClr val="5B7A4E">
              <a:alpha val="16000"/>
            </a:srgbClr>
          </a:solidFill>
          <a:ln/>
        </p:spPr>
      </p:sp>
      <p:sp>
        <p:nvSpPr>
          <p:cNvPr id="105" name="Shape 99"/>
          <p:cNvSpPr/>
          <p:nvPr/>
        </p:nvSpPr>
        <p:spPr>
          <a:xfrm>
            <a:off x="13625513" y="5179665"/>
            <a:ext cx="57150" cy="57150"/>
          </a:xfrm>
          <a:prstGeom prst="ellipse">
            <a:avLst/>
          </a:prstGeom>
          <a:solidFill>
            <a:srgbClr val="5B7A4E"/>
          </a:solidFill>
          <a:ln/>
        </p:spPr>
      </p:sp>
      <p:sp>
        <p:nvSpPr>
          <p:cNvPr id="106" name="Text 100"/>
          <p:cNvSpPr/>
          <p:nvPr/>
        </p:nvSpPr>
        <p:spPr>
          <a:xfrm>
            <a:off x="13739813" y="5133008"/>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3216838"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LARP · MASTER CABINET</a:t>
            </a:r>
            <a:endParaRPr lang="en-US" sz="1275" dirty="0"/>
          </a:p>
        </p:txBody>
      </p:sp>
      <p:sp>
        <p:nvSpPr>
          <p:cNvPr id="4" name="Text 2"/>
          <p:cNvSpPr/>
          <p:nvPr/>
        </p:nvSpPr>
        <p:spPr>
          <a:xfrm>
            <a:off x="533400" y="766763"/>
            <a:ext cx="3216838"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Text Manager</a:t>
            </a:r>
            <a:endParaRPr lang="en-US" sz="3450" dirty="0"/>
          </a:p>
        </p:txBody>
      </p:sp>
      <p:sp>
        <p:nvSpPr>
          <p:cNvPr id="5" name="Shape 3"/>
          <p:cNvSpPr/>
          <p:nvPr/>
        </p:nvSpPr>
        <p:spPr>
          <a:xfrm>
            <a:off x="15966728" y="438150"/>
            <a:ext cx="1787872" cy="381000"/>
          </a:xfrm>
          <a:prstGeom prst="roundRect">
            <a:avLst>
              <a:gd name="adj" fmla="val 50000"/>
            </a:avLst>
          </a:prstGeom>
          <a:solidFill>
            <a:srgbClr val="F2ECDC"/>
          </a:solidFill>
          <a:ln w="9525">
            <a:solidFill>
              <a:srgbClr val="C2B79C"/>
            </a:solidFill>
            <a:prstDash val="solid"/>
          </a:ln>
        </p:spPr>
      </p:sp>
      <p:sp>
        <p:nvSpPr>
          <p:cNvPr id="6" name="Shape 4"/>
          <p:cNvSpPr/>
          <p:nvPr/>
        </p:nvSpPr>
        <p:spPr>
          <a:xfrm>
            <a:off x="16081028" y="533400"/>
            <a:ext cx="190500" cy="190500"/>
          </a:xfrm>
          <a:prstGeom prst="ellipse">
            <a:avLst/>
          </a:prstGeom>
          <a:solidFill>
            <a:srgbClr val="E7DFCC"/>
          </a:solidFill>
          <a:ln w="9525">
            <a:solidFill>
              <a:srgbClr val="FFFFFF">
                <a:alpha val="18000"/>
              </a:srgbClr>
            </a:solidFill>
            <a:prstDash val="solid"/>
          </a:ln>
        </p:spPr>
      </p:sp>
      <p:sp>
        <p:nvSpPr>
          <p:cNvPr id="7" name="Text 5"/>
          <p:cNvSpPr/>
          <p:nvPr/>
        </p:nvSpPr>
        <p:spPr>
          <a:xfrm>
            <a:off x="16366778" y="533400"/>
            <a:ext cx="1302097" cy="228600"/>
          </a:xfrm>
          <a:prstGeom prst="rect">
            <a:avLst/>
          </a:prstGeom>
          <a:noFill/>
          <a:ln/>
        </p:spPr>
        <p:txBody>
          <a:bodyPr wrap="none" lIns="0" tIns="0" rIns="0" bIns="0" rtlCol="0" anchor="t">
            <a:normAutofit/>
          </a:bodyPr>
          <a:lstStyle/>
          <a:p>
            <a:pPr algn="l" indent="0" marL="0">
              <a:buNone/>
            </a:pPr>
            <a:r>
              <a:rPr lang="en-US" sz="1125" spc="68" kern="0" dirty="0">
                <a:solidFill>
                  <a:srgbClr val="423A2C"/>
                </a:solidFill>
                <a:latin typeface="Courier New" pitchFamily="34" charset="0"/>
                <a:ea typeface="Courier New" pitchFamily="34" charset="-122"/>
                <a:cs typeface="Courier New" pitchFamily="34" charset="-120"/>
              </a:rPr>
              <a:t>Light · light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E7DFCC"/>
          </a:solidFill>
          <a:ln/>
        </p:spPr>
      </p:sp>
      <p:sp>
        <p:nvSpPr>
          <p:cNvPr id="10" name="Shape 8"/>
          <p:cNvSpPr/>
          <p:nvPr/>
        </p:nvSpPr>
        <p:spPr>
          <a:xfrm>
            <a:off x="542925" y="1462088"/>
            <a:ext cx="2219325" cy="8320088"/>
          </a:xfrm>
          <a:prstGeom prst="rect">
            <a:avLst/>
          </a:prstGeom>
          <a:solidFill>
            <a:srgbClr val="DED5BF"/>
          </a:solidFill>
          <a:ln/>
        </p:spPr>
      </p:sp>
      <p:sp>
        <p:nvSpPr>
          <p:cNvPr id="11" name="Shape 9"/>
          <p:cNvSpPr/>
          <p:nvPr/>
        </p:nvSpPr>
        <p:spPr>
          <a:xfrm>
            <a:off x="2752725" y="1462088"/>
            <a:ext cx="9525" cy="8320088"/>
          </a:xfrm>
          <a:prstGeom prst="rect">
            <a:avLst/>
          </a:prstGeom>
          <a:solidFill>
            <a:srgbClr val="D2C8B0"/>
          </a:solidFill>
          <a:ln/>
        </p:spPr>
      </p:sp>
      <p:sp>
        <p:nvSpPr>
          <p:cNvPr id="12" name="Shape 10"/>
          <p:cNvSpPr/>
          <p:nvPr/>
        </p:nvSpPr>
        <p:spPr>
          <a:xfrm>
            <a:off x="542925" y="2071688"/>
            <a:ext cx="2209800" cy="9525"/>
          </a:xfrm>
          <a:prstGeom prst="rect">
            <a:avLst/>
          </a:prstGeom>
          <a:solidFill>
            <a:srgbClr val="D2C8B0"/>
          </a:solidFill>
          <a:ln/>
        </p:spPr>
      </p:sp>
      <p:sp>
        <p:nvSpPr>
          <p:cNvPr id="13" name="Text 11"/>
          <p:cNvSpPr/>
          <p:nvPr/>
        </p:nvSpPr>
        <p:spPr>
          <a:xfrm>
            <a:off x="733425" y="1671638"/>
            <a:ext cx="277564"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7C1418"/>
                </a:solidFill>
                <a:latin typeface="Georgia" pitchFamily="34" charset="0"/>
                <a:ea typeface="Georgia" pitchFamily="34" charset="-122"/>
                <a:cs typeface="Georgia" pitchFamily="34" charset="-120"/>
              </a:rPr>
              <a:t>ᛏ</a:t>
            </a:r>
            <a:endParaRPr lang="en-US" sz="1350" dirty="0"/>
          </a:p>
        </p:txBody>
      </p:sp>
      <p:sp>
        <p:nvSpPr>
          <p:cNvPr id="14" name="Text 12"/>
          <p:cNvSpPr/>
          <p:nvPr/>
        </p:nvSpPr>
        <p:spPr>
          <a:xfrm>
            <a:off x="1030039" y="1700213"/>
            <a:ext cx="799430" cy="20955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1C1812"/>
                </a:solidFill>
                <a:latin typeface="Georgia" pitchFamily="34" charset="0"/>
                <a:ea typeface="Georgia" pitchFamily="34" charset="-122"/>
                <a:cs typeface="Georgia" pitchFamily="34" charset="-120"/>
              </a:rPr>
              <a:t>CABINET</a:t>
            </a:r>
            <a:endParaRPr lang="en-US" sz="1200"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6" name="Text 13"/>
          <p:cNvSpPr/>
          <p:nvPr/>
        </p:nvSpPr>
        <p:spPr>
          <a:xfrm>
            <a:off x="1057275" y="2290763"/>
            <a:ext cx="524694" cy="257175"/>
          </a:xfrm>
          <a:prstGeom prst="rect">
            <a:avLst/>
          </a:prstGeom>
          <a:noFill/>
          <a:ln/>
        </p:spPr>
        <p:txBody>
          <a:bodyPr wrap="square" lIns="0" tIns="0" rIns="0" bIns="0" rtlCol="0" anchor="t">
            <a:normAutofit/>
          </a:bodyPr>
          <a:lstStyle/>
          <a:p>
            <a:pPr algn="l" indent="0" marL="0">
              <a:buNone/>
            </a:pPr>
            <a:r>
              <a:rPr lang="en-US" sz="1125" dirty="0">
                <a:solidFill>
                  <a:srgbClr val="756B57"/>
                </a:solidFill>
                <a:latin typeface="Georgia" pitchFamily="34" charset="0"/>
                <a:ea typeface="Georgia" pitchFamily="34" charset="-122"/>
                <a:cs typeface="Georgia" pitchFamily="34" charset="-120"/>
              </a:rPr>
              <a:t>Cohort</a:t>
            </a:r>
            <a:endParaRPr lang="en-US" sz="1125"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18" name="Text 14"/>
          <p:cNvSpPr/>
          <p:nvPr/>
        </p:nvSpPr>
        <p:spPr>
          <a:xfrm>
            <a:off x="1057275" y="2719388"/>
            <a:ext cx="705148" cy="257175"/>
          </a:xfrm>
          <a:prstGeom prst="rect">
            <a:avLst/>
          </a:prstGeom>
          <a:noFill/>
          <a:ln/>
        </p:spPr>
        <p:txBody>
          <a:bodyPr wrap="square" lIns="0" tIns="0" rIns="0" bIns="0" rtlCol="0" anchor="t">
            <a:normAutofit/>
          </a:bodyPr>
          <a:lstStyle/>
          <a:p>
            <a:pPr algn="l" indent="0" marL="0">
              <a:buNone/>
            </a:pPr>
            <a:r>
              <a:rPr lang="en-US" sz="1125" dirty="0">
                <a:solidFill>
                  <a:srgbClr val="756B57"/>
                </a:solidFill>
                <a:latin typeface="Georgia" pitchFamily="34" charset="0"/>
                <a:ea typeface="Georgia" pitchFamily="34" charset="-122"/>
                <a:cs typeface="Georgia" pitchFamily="34" charset="-120"/>
              </a:rPr>
              <a:t>Character</a:t>
            </a:r>
            <a:endParaRPr lang="en-US" sz="1125" dirty="0"/>
          </a:p>
        </p:txBody>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0" name="Text 15"/>
          <p:cNvSpPr/>
          <p:nvPr/>
        </p:nvSpPr>
        <p:spPr>
          <a:xfrm>
            <a:off x="1057275" y="3148013"/>
            <a:ext cx="1069628" cy="257175"/>
          </a:xfrm>
          <a:prstGeom prst="rect">
            <a:avLst/>
          </a:prstGeom>
          <a:noFill/>
          <a:ln/>
        </p:spPr>
        <p:txBody>
          <a:bodyPr wrap="square" lIns="0" tIns="0" rIns="0" bIns="0" rtlCol="0" anchor="t">
            <a:normAutofit/>
          </a:bodyPr>
          <a:lstStyle/>
          <a:p>
            <a:pPr algn="l" indent="0" marL="0">
              <a:buNone/>
            </a:pPr>
            <a:r>
              <a:rPr lang="en-US" sz="1125" dirty="0">
                <a:solidFill>
                  <a:srgbClr val="756B57"/>
                </a:solidFill>
                <a:latin typeface="Georgia" pitchFamily="34" charset="0"/>
                <a:ea typeface="Georgia" pitchFamily="34" charset="-122"/>
                <a:cs typeface="Georgia" pitchFamily="34" charset="-120"/>
              </a:rPr>
              <a:t>Player Manager</a:t>
            </a:r>
            <a:endParaRPr lang="en-US" sz="1125" dirty="0"/>
          </a:p>
        </p:txBody>
      </p:sp>
      <p:sp>
        <p:nvSpPr>
          <p:cNvPr id="21" name="Shape 16"/>
          <p:cNvSpPr/>
          <p:nvPr/>
        </p:nvSpPr>
        <p:spPr>
          <a:xfrm>
            <a:off x="657225" y="3481388"/>
            <a:ext cx="1981200" cy="409575"/>
          </a:xfrm>
          <a:prstGeom prst="roundRect">
            <a:avLst>
              <a:gd name="adj" fmla="val 6977"/>
            </a:avLst>
          </a:prstGeom>
          <a:solidFill>
            <a:srgbClr val="F8F3E6"/>
          </a:solidFill>
          <a:ln/>
        </p:spPr>
      </p:sp>
      <p:sp>
        <p:nvSpPr>
          <p:cNvPr id="22" name="Shape 17"/>
          <p:cNvSpPr/>
          <p:nvPr/>
        </p:nvSpPr>
        <p:spPr>
          <a:xfrm>
            <a:off x="657225" y="3481388"/>
            <a:ext cx="19050" cy="409575"/>
          </a:xfrm>
          <a:prstGeom prst="rect">
            <a:avLst/>
          </a:prstGeom>
          <a:solidFill>
            <a:srgbClr val="7C1418"/>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4" name="Text 18"/>
          <p:cNvSpPr/>
          <p:nvPr/>
        </p:nvSpPr>
        <p:spPr>
          <a:xfrm>
            <a:off x="1057275" y="3576638"/>
            <a:ext cx="951235" cy="257175"/>
          </a:xfrm>
          <a:prstGeom prst="rect">
            <a:avLst/>
          </a:prstGeom>
          <a:noFill/>
          <a:ln/>
        </p:spPr>
        <p:txBody>
          <a:bodyPr wrap="square" lIns="0" tIns="0" rIns="0" bIns="0" rtlCol="0" anchor="t">
            <a:normAutofit/>
          </a:bodyPr>
          <a:lstStyle/>
          <a:p>
            <a:pPr algn="l" indent="0" marL="0">
              <a:buNone/>
            </a:pPr>
            <a:r>
              <a:rPr lang="en-US" sz="1125" dirty="0">
                <a:solidFill>
                  <a:srgbClr val="1C1812"/>
                </a:solidFill>
                <a:latin typeface="Georgia" pitchFamily="34" charset="0"/>
                <a:ea typeface="Georgia" pitchFamily="34" charset="-122"/>
                <a:cs typeface="Georgia" pitchFamily="34" charset="-120"/>
              </a:rPr>
              <a:t>Text Manager</a:t>
            </a:r>
            <a:endParaRPr lang="en-US" sz="1125" dirty="0"/>
          </a:p>
        </p:txBody>
      </p:sp>
      <p:sp>
        <p:nvSpPr>
          <p:cNvPr id="25" name="Shape 19"/>
          <p:cNvSpPr/>
          <p:nvPr/>
        </p:nvSpPr>
        <p:spPr>
          <a:xfrm>
            <a:off x="542925" y="9144000"/>
            <a:ext cx="2209800" cy="9525"/>
          </a:xfrm>
          <a:prstGeom prst="rect">
            <a:avLst/>
          </a:prstGeom>
          <a:solidFill>
            <a:srgbClr val="D2C8B0"/>
          </a:solidFill>
          <a:ln/>
        </p:spPr>
      </p:sp>
      <p:sp>
        <p:nvSpPr>
          <p:cNvPr id="26" name="Shape 20"/>
          <p:cNvSpPr/>
          <p:nvPr/>
        </p:nvSpPr>
        <p:spPr>
          <a:xfrm>
            <a:off x="695325" y="9305925"/>
            <a:ext cx="323850" cy="323850"/>
          </a:xfrm>
          <a:prstGeom prst="ellipse">
            <a:avLst/>
          </a:prstGeom>
          <a:solidFill>
            <a:srgbClr val="F8F3E6"/>
          </a:solidFill>
          <a:ln w="9525">
            <a:solidFill>
              <a:srgbClr val="C2B79C"/>
            </a:solidFill>
            <a:prstDash val="solid"/>
          </a:ln>
          <a:effectLst>
            <a:outerShdw sx="100000" sy="100000" kx="0" ky="0" algn="bl" rotWithShape="0" blurRad="19050" dist="9525" dir="5400000">
              <a:srgbClr val="000000">
                <a:alpha val="35000"/>
              </a:srgbClr>
            </a:outerShdw>
          </a:effectLst>
        </p:spPr>
      </p:sp>
      <p:sp>
        <p:nvSpPr>
          <p:cNvPr id="27" name="Text 21"/>
          <p:cNvSpPr/>
          <p:nvPr/>
        </p:nvSpPr>
        <p:spPr>
          <a:xfrm>
            <a:off x="666750" y="931545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423A2C"/>
                </a:solidFill>
                <a:latin typeface="Georgia" pitchFamily="34" charset="0"/>
                <a:ea typeface="Georgia" pitchFamily="34" charset="-122"/>
                <a:cs typeface="Georgia" pitchFamily="34" charset="-120"/>
              </a:rPr>
              <a:t>IV</a:t>
            </a:r>
            <a:endParaRPr lang="en-US" sz="975" dirty="0"/>
          </a:p>
        </p:txBody>
      </p:sp>
      <p:sp>
        <p:nvSpPr>
          <p:cNvPr id="28" name="Shape 22"/>
          <p:cNvSpPr/>
          <p:nvPr/>
        </p:nvSpPr>
        <p:spPr>
          <a:xfrm>
            <a:off x="911423" y="9522023"/>
            <a:ext cx="117277" cy="117277"/>
          </a:xfrm>
          <a:prstGeom prst="ellipse">
            <a:avLst/>
          </a:prstGeom>
          <a:solidFill>
            <a:srgbClr val="B5601F"/>
          </a:solidFill>
          <a:ln w="19050">
            <a:solidFill>
              <a:srgbClr val="F2ECDC"/>
            </a:solidFill>
            <a:prstDash val="solid"/>
          </a:ln>
        </p:spPr>
      </p:sp>
      <p:sp>
        <p:nvSpPr>
          <p:cNvPr id="29" name="Text 23"/>
          <p:cNvSpPr/>
          <p:nvPr/>
        </p:nvSpPr>
        <p:spPr>
          <a:xfrm>
            <a:off x="1133475" y="9322594"/>
            <a:ext cx="1144935" cy="190500"/>
          </a:xfrm>
          <a:prstGeom prst="rect">
            <a:avLst/>
          </a:prstGeom>
          <a:noFill/>
          <a:ln/>
        </p:spPr>
        <p:txBody>
          <a:bodyPr wrap="square" lIns="25400" tIns="25400" rIns="25400" bIns="25400" rtlCol="0" anchor="t">
            <a:normAutofit/>
          </a:bodyPr>
          <a:lstStyle/>
          <a:p>
            <a:pPr algn="l" indent="0" marL="0">
              <a:buNone/>
            </a:pPr>
            <a:r>
              <a:rPr lang="en-US" sz="1050" b="1" dirty="0">
                <a:solidFill>
                  <a:srgbClr val="1C1812"/>
                </a:solidFill>
                <a:latin typeface="Georgia" pitchFamily="34" charset="0"/>
                <a:ea typeface="Georgia" pitchFamily="34" charset="-122"/>
                <a:cs typeface="Georgia" pitchFamily="34" charset="-120"/>
              </a:rPr>
              <a:t>Ivar Holm</a:t>
            </a:r>
            <a:endParaRPr lang="en-US" sz="1050" dirty="0"/>
          </a:p>
        </p:txBody>
      </p:sp>
      <p:sp>
        <p:nvSpPr>
          <p:cNvPr id="30" name="Text 24"/>
          <p:cNvSpPr/>
          <p:nvPr/>
        </p:nvSpPr>
        <p:spPr>
          <a:xfrm>
            <a:off x="1133475" y="9474994"/>
            <a:ext cx="1144935" cy="176212"/>
          </a:xfrm>
          <a:prstGeom prst="rect">
            <a:avLst/>
          </a:prstGeom>
          <a:noFill/>
          <a:ln/>
        </p:spPr>
        <p:txBody>
          <a:bodyPr wrap="square" lIns="25400" tIns="25400" rIns="25400" bIns="25400" rtlCol="0" anchor="t">
            <a:normAutofit/>
          </a:bodyPr>
          <a:lstStyle/>
          <a:p>
            <a:pPr algn="l" indent="0" marL="0">
              <a:buNone/>
            </a:pPr>
            <a:r>
              <a:rPr lang="en-US" sz="825" dirty="0">
                <a:solidFill>
                  <a:srgbClr val="756B57"/>
                </a:solidFill>
                <a:latin typeface="Courier New" pitchFamily="34" charset="0"/>
                <a:ea typeface="Courier New" pitchFamily="34" charset="-122"/>
                <a:cs typeface="Courier New" pitchFamily="34" charset="-120"/>
              </a:rPr>
              <a:t>Player · Cohort B</a:t>
            </a:r>
            <a:endParaRPr lang="en-US" sz="825" dirty="0"/>
          </a:p>
        </p:txBody>
      </p:sp>
      <p:sp>
        <p:nvSpPr>
          <p:cNvPr id="31" name="Shape 25"/>
          <p:cNvSpPr/>
          <p:nvPr/>
        </p:nvSpPr>
        <p:spPr>
          <a:xfrm>
            <a:off x="2762250" y="1462088"/>
            <a:ext cx="14982825" cy="504825"/>
          </a:xfrm>
          <a:prstGeom prst="rect">
            <a:avLst/>
          </a:prstGeom>
          <a:solidFill>
            <a:srgbClr val="E7DFCC"/>
          </a:solidFill>
          <a:ln/>
        </p:spPr>
      </p:sp>
      <p:sp>
        <p:nvSpPr>
          <p:cNvPr id="32" name="Shape 26"/>
          <p:cNvSpPr/>
          <p:nvPr/>
        </p:nvSpPr>
        <p:spPr>
          <a:xfrm>
            <a:off x="2762250" y="1957388"/>
            <a:ext cx="14982825" cy="9525"/>
          </a:xfrm>
          <a:prstGeom prst="rect">
            <a:avLst/>
          </a:prstGeom>
          <a:solidFill>
            <a:srgbClr val="D2C8B0"/>
          </a:solidFill>
          <a:ln/>
        </p:spPr>
      </p:sp>
      <p:sp>
        <p:nvSpPr>
          <p:cNvPr id="33" name="Text 27"/>
          <p:cNvSpPr/>
          <p:nvPr/>
        </p:nvSpPr>
        <p:spPr>
          <a:xfrm>
            <a:off x="2971800" y="1640681"/>
            <a:ext cx="1165920"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56B57"/>
                </a:solidFill>
                <a:latin typeface="Courier New" pitchFamily="34" charset="0"/>
                <a:ea typeface="Courier New" pitchFamily="34" charset="-122"/>
                <a:cs typeface="Courier New" pitchFamily="34" charset="-120"/>
              </a:rPr>
              <a:t>LARP · MASTER</a:t>
            </a:r>
            <a:endParaRPr lang="en-US" sz="825" dirty="0"/>
          </a:p>
        </p:txBody>
      </p:sp>
      <p:sp>
        <p:nvSpPr>
          <p:cNvPr id="34" name="Text 28"/>
          <p:cNvSpPr/>
          <p:nvPr/>
        </p:nvSpPr>
        <p:spPr>
          <a:xfrm>
            <a:off x="16579974" y="1640681"/>
            <a:ext cx="1031751"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7C1418"/>
                </a:solidFill>
                <a:latin typeface="Courier New" pitchFamily="34" charset="0"/>
                <a:ea typeface="Courier New" pitchFamily="34" charset="-122"/>
                <a:cs typeface="Courier New" pitchFamily="34" charset="-120"/>
              </a:rPr>
              <a:t>Text Manager</a:t>
            </a:r>
            <a:endParaRPr lang="en-US" sz="825" dirty="0"/>
          </a:p>
        </p:txBody>
      </p:sp>
      <p:sp>
        <p:nvSpPr>
          <p:cNvPr id="35" name="Shape 29"/>
          <p:cNvSpPr/>
          <p:nvPr/>
        </p:nvSpPr>
        <p:spPr>
          <a:xfrm>
            <a:off x="2762250" y="1966912"/>
            <a:ext cx="14982825" cy="7815263"/>
          </a:xfrm>
          <a:prstGeom prst="rect">
            <a:avLst/>
          </a:prstGeom>
          <a:gradFill rotWithShape="1">
            <a:gsLst>
              <a:gs pos="0">
                <a:srgbClr val="FFFFFF">
                  <a:alpha val="2000"/>
                </a:srgbClr>
              </a:gs>
              <a:gs pos="100000">
                <a:srgbClr val="FFFFFF">
                  <a:alpha val="0"/>
                </a:srgbClr>
              </a:gs>
            </a:gsLst>
            <a:lin ang="5400000" scaled="0"/>
          </a:gradFill>
          <a:ln/>
        </p:spPr>
      </p:sp>
      <p:sp>
        <p:nvSpPr>
          <p:cNvPr id="36" name="Text 30"/>
          <p:cNvSpPr/>
          <p:nvPr/>
        </p:nvSpPr>
        <p:spPr>
          <a:xfrm>
            <a:off x="5110163" y="2271713"/>
            <a:ext cx="2309061" cy="185738"/>
          </a:xfrm>
          <a:prstGeom prst="rect">
            <a:avLst/>
          </a:prstGeom>
          <a:noFill/>
          <a:ln/>
        </p:spPr>
        <p:txBody>
          <a:bodyPr wrap="square" lIns="25400" tIns="25400" rIns="25400" bIns="25400" rtlCol="0" anchor="t">
            <a:normAutofit/>
          </a:bodyPr>
          <a:lstStyle/>
          <a:p>
            <a:pPr algn="l" indent="0" marL="0">
              <a:buNone/>
            </a:pPr>
            <a:r>
              <a:rPr lang="en-US" sz="900" spc="216" kern="0" dirty="0">
                <a:solidFill>
                  <a:srgbClr val="7C1418"/>
                </a:solidFill>
                <a:latin typeface="Courier New" pitchFamily="34" charset="0"/>
                <a:ea typeface="Courier New" pitchFamily="34" charset="-122"/>
                <a:cs typeface="Courier New" pitchFamily="34" charset="-120"/>
              </a:rPr>
              <a:t>MASTER · LORE</a:t>
            </a:r>
            <a:endParaRPr lang="en-US" sz="900" dirty="0"/>
          </a:p>
        </p:txBody>
      </p:sp>
      <p:sp>
        <p:nvSpPr>
          <p:cNvPr id="37" name="Text 31"/>
          <p:cNvSpPr/>
          <p:nvPr/>
        </p:nvSpPr>
        <p:spPr>
          <a:xfrm>
            <a:off x="5110163" y="2495550"/>
            <a:ext cx="2309061"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C1812"/>
                </a:solidFill>
                <a:latin typeface="Georgia" pitchFamily="34" charset="0"/>
                <a:ea typeface="Georgia" pitchFamily="34" charset="-122"/>
                <a:cs typeface="Georgia" pitchFamily="34" charset="-120"/>
              </a:rPr>
              <a:t>Text Manager</a:t>
            </a:r>
            <a:endParaRPr lang="en-US" sz="2700" dirty="0"/>
          </a:p>
        </p:txBody>
      </p:sp>
      <p:sp>
        <p:nvSpPr>
          <p:cNvPr id="38" name="Shape 32"/>
          <p:cNvSpPr/>
          <p:nvPr/>
        </p:nvSpPr>
        <p:spPr>
          <a:xfrm>
            <a:off x="14120589" y="2524125"/>
            <a:ext cx="1276573" cy="361950"/>
          </a:xfrm>
          <a:prstGeom prst="roundRect">
            <a:avLst>
              <a:gd name="adj" fmla="val 7895"/>
            </a:avLst>
          </a:prstGeom>
          <a:solidFill>
            <a:srgbClr val="7C1418"/>
          </a:solidFill>
          <a:ln w="9525">
            <a:solidFill>
              <a:srgbClr val="7C1418"/>
            </a:solidFill>
            <a:prstDash val="solid"/>
          </a:ln>
          <a:effectLst>
            <a:outerShdw sx="100000" sy="100000" kx="0" ky="0" algn="bl" rotWithShape="0" blurRad="19050" dist="9525" dir="5400000">
              <a:srgbClr val="000000">
                <a:alpha val="35000"/>
              </a:srgbClr>
            </a:outerShdw>
          </a:effectLst>
        </p:spPr>
      </p:sp>
      <p:pic>
        <p:nvPicPr>
          <p:cNvPr id="3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301564" y="2628900"/>
            <a:ext cx="152400" cy="152400"/>
          </a:xfrm>
          <a:prstGeom prst="rect">
            <a:avLst/>
          </a:prstGeom>
        </p:spPr>
      </p:pic>
      <p:sp>
        <p:nvSpPr>
          <p:cNvPr id="40" name="Text 33"/>
          <p:cNvSpPr/>
          <p:nvPr/>
        </p:nvSpPr>
        <p:spPr>
          <a:xfrm>
            <a:off x="14492064" y="2628900"/>
            <a:ext cx="762223"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F6F1E4"/>
                </a:solidFill>
                <a:latin typeface="Georgia" pitchFamily="34" charset="0"/>
                <a:ea typeface="Georgia" pitchFamily="34" charset="-122"/>
                <a:cs typeface="Georgia" pitchFamily="34" charset="-120"/>
              </a:rPr>
              <a:t>New Text</a:t>
            </a:r>
            <a:endParaRPr lang="en-US" sz="1200" dirty="0"/>
          </a:p>
        </p:txBody>
      </p:sp>
      <p:sp>
        <p:nvSpPr>
          <p:cNvPr id="41" name="Shape 34"/>
          <p:cNvSpPr/>
          <p:nvPr/>
        </p:nvSpPr>
        <p:spPr>
          <a:xfrm>
            <a:off x="5110163" y="3114675"/>
            <a:ext cx="10287000" cy="733425"/>
          </a:xfrm>
          <a:prstGeom prst="roundRect">
            <a:avLst>
              <a:gd name="adj" fmla="val 6494"/>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42" name="Text 35"/>
          <p:cNvSpPr/>
          <p:nvPr/>
        </p:nvSpPr>
        <p:spPr>
          <a:xfrm>
            <a:off x="5310188" y="3362325"/>
            <a:ext cx="400050"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756B57"/>
                </a:solidFill>
                <a:latin typeface="Georgia" pitchFamily="34" charset="0"/>
                <a:ea typeface="Georgia" pitchFamily="34" charset="-122"/>
                <a:cs typeface="Georgia" pitchFamily="34" charset="-120"/>
              </a:rPr>
              <a:t>I</a:t>
            </a:r>
            <a:endParaRPr lang="en-US" sz="1650" dirty="0"/>
          </a:p>
        </p:txBody>
      </p:sp>
      <p:sp>
        <p:nvSpPr>
          <p:cNvPr id="43" name="Text 36"/>
          <p:cNvSpPr/>
          <p:nvPr/>
        </p:nvSpPr>
        <p:spPr>
          <a:xfrm>
            <a:off x="5786438" y="3276600"/>
            <a:ext cx="8558808" cy="242888"/>
          </a:xfrm>
          <a:prstGeom prst="rect">
            <a:avLst/>
          </a:prstGeom>
          <a:noFill/>
          <a:ln/>
        </p:spPr>
        <p:txBody>
          <a:bodyPr wrap="square" lIns="25400" tIns="25400" rIns="25400" bIns="25400" rtlCol="0" anchor="t">
            <a:normAutofit/>
          </a:bodyPr>
          <a:lstStyle/>
          <a:p>
            <a:pPr algn="l" indent="0" marL="0">
              <a:buNone/>
            </a:pPr>
            <a:r>
              <a:rPr lang="en-US" sz="1425" b="1" dirty="0">
                <a:solidFill>
                  <a:srgbClr val="1C1812"/>
                </a:solidFill>
                <a:latin typeface="Georgia" pitchFamily="34" charset="0"/>
                <a:ea typeface="Georgia" pitchFamily="34" charset="-122"/>
                <a:cs typeface="Georgia" pitchFamily="34" charset="-120"/>
              </a:rPr>
              <a:t>The Crossing</a:t>
            </a:r>
            <a:endParaRPr lang="en-US" sz="1425" dirty="0"/>
          </a:p>
        </p:txBody>
      </p:sp>
      <p:sp>
        <p:nvSpPr>
          <p:cNvPr id="44" name="Text 37"/>
          <p:cNvSpPr/>
          <p:nvPr/>
        </p:nvSpPr>
        <p:spPr>
          <a:xfrm>
            <a:off x="5786438" y="3481388"/>
            <a:ext cx="8558808" cy="242888"/>
          </a:xfrm>
          <a:prstGeom prst="rect">
            <a:avLst/>
          </a:prstGeom>
          <a:noFill/>
          <a:ln/>
        </p:spPr>
        <p:txBody>
          <a:bodyPr wrap="square" lIns="25400" tIns="25400" rIns="25400" bIns="25400" rtlCol="0" anchor="t">
            <a:normAutofit/>
          </a:bodyPr>
          <a:lstStyle/>
          <a:p>
            <a:pPr algn="l" indent="0" marL="0">
              <a:buNone/>
            </a:pPr>
            <a:r>
              <a:rPr lang="en-US" sz="1050" dirty="0">
                <a:solidFill>
                  <a:srgbClr val="756B57"/>
                </a:solidFill>
                <a:latin typeface="Georgia" pitchFamily="34" charset="0"/>
                <a:ea typeface="Georgia" pitchFamily="34" charset="-122"/>
                <a:cs typeface="Georgia" pitchFamily="34" charset="-120"/>
              </a:rPr>
              <a:t>Clause of the Rite</a:t>
            </a:r>
            <a:endParaRPr lang="en-US" sz="1050" dirty="0"/>
          </a:p>
        </p:txBody>
      </p:sp>
      <p:sp>
        <p:nvSpPr>
          <p:cNvPr id="45" name="Shape 38"/>
          <p:cNvSpPr/>
          <p:nvPr/>
        </p:nvSpPr>
        <p:spPr>
          <a:xfrm>
            <a:off x="13719572" y="3372817"/>
            <a:ext cx="963216" cy="217140"/>
          </a:xfrm>
          <a:prstGeom prst="roundRect">
            <a:avLst>
              <a:gd name="adj" fmla="val 50000"/>
            </a:avLst>
          </a:prstGeom>
          <a:solidFill>
            <a:srgbClr val="5B7A4E">
              <a:alpha val="16000"/>
            </a:srgbClr>
          </a:solidFill>
          <a:ln/>
        </p:spPr>
      </p:sp>
      <p:sp>
        <p:nvSpPr>
          <p:cNvPr id="46" name="Shape 39"/>
          <p:cNvSpPr/>
          <p:nvPr/>
        </p:nvSpPr>
        <p:spPr>
          <a:xfrm>
            <a:off x="13814822" y="3452813"/>
            <a:ext cx="57150" cy="57150"/>
          </a:xfrm>
          <a:prstGeom prst="ellipse">
            <a:avLst/>
          </a:prstGeom>
          <a:solidFill>
            <a:srgbClr val="5B7A4E"/>
          </a:solidFill>
          <a:ln/>
        </p:spPr>
      </p:sp>
      <p:sp>
        <p:nvSpPr>
          <p:cNvPr id="47" name="Text 40"/>
          <p:cNvSpPr/>
          <p:nvPr/>
        </p:nvSpPr>
        <p:spPr>
          <a:xfrm>
            <a:off x="13929122" y="3406155"/>
            <a:ext cx="734616"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PUBLISHED</a:t>
            </a:r>
            <a:endParaRPr lang="en-US" sz="900" dirty="0"/>
          </a:p>
        </p:txBody>
      </p:sp>
      <p:pic>
        <p:nvPicPr>
          <p:cNvPr id="4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939963" y="3405188"/>
            <a:ext cx="152400" cy="152400"/>
          </a:xfrm>
          <a:prstGeom prst="rect">
            <a:avLst/>
          </a:prstGeom>
        </p:spPr>
      </p:pic>
      <p:sp>
        <p:nvSpPr>
          <p:cNvPr id="49" name="Shape 41"/>
          <p:cNvSpPr/>
          <p:nvPr/>
        </p:nvSpPr>
        <p:spPr>
          <a:xfrm>
            <a:off x="5110163" y="3962400"/>
            <a:ext cx="10287000" cy="733425"/>
          </a:xfrm>
          <a:prstGeom prst="roundRect">
            <a:avLst>
              <a:gd name="adj" fmla="val 6494"/>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50" name="Text 42"/>
          <p:cNvSpPr/>
          <p:nvPr/>
        </p:nvSpPr>
        <p:spPr>
          <a:xfrm>
            <a:off x="5310188" y="4210050"/>
            <a:ext cx="400050"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756B57"/>
                </a:solidFill>
                <a:latin typeface="Georgia" pitchFamily="34" charset="0"/>
                <a:ea typeface="Georgia" pitchFamily="34" charset="-122"/>
                <a:cs typeface="Georgia" pitchFamily="34" charset="-120"/>
              </a:rPr>
              <a:t>II</a:t>
            </a:r>
            <a:endParaRPr lang="en-US" sz="1650" dirty="0"/>
          </a:p>
        </p:txBody>
      </p:sp>
      <p:sp>
        <p:nvSpPr>
          <p:cNvPr id="51" name="Text 43"/>
          <p:cNvSpPr/>
          <p:nvPr/>
        </p:nvSpPr>
        <p:spPr>
          <a:xfrm>
            <a:off x="5786438" y="4124325"/>
            <a:ext cx="8558808" cy="242888"/>
          </a:xfrm>
          <a:prstGeom prst="rect">
            <a:avLst/>
          </a:prstGeom>
          <a:noFill/>
          <a:ln/>
        </p:spPr>
        <p:txBody>
          <a:bodyPr wrap="square" lIns="25400" tIns="25400" rIns="25400" bIns="25400" rtlCol="0" anchor="t">
            <a:normAutofit/>
          </a:bodyPr>
          <a:lstStyle/>
          <a:p>
            <a:pPr algn="l" indent="0" marL="0">
              <a:buNone/>
            </a:pPr>
            <a:r>
              <a:rPr lang="en-US" sz="1425" b="1" dirty="0">
                <a:solidFill>
                  <a:srgbClr val="1C1812"/>
                </a:solidFill>
                <a:latin typeface="Georgia" pitchFamily="34" charset="0"/>
                <a:ea typeface="Georgia" pitchFamily="34" charset="-122"/>
                <a:cs typeface="Georgia" pitchFamily="34" charset="-120"/>
              </a:rPr>
              <a:t>The Iron Oath</a:t>
            </a:r>
            <a:endParaRPr lang="en-US" sz="1425" dirty="0"/>
          </a:p>
        </p:txBody>
      </p:sp>
      <p:sp>
        <p:nvSpPr>
          <p:cNvPr id="52" name="Text 44"/>
          <p:cNvSpPr/>
          <p:nvPr/>
        </p:nvSpPr>
        <p:spPr>
          <a:xfrm>
            <a:off x="5786438" y="4329113"/>
            <a:ext cx="8558808" cy="242888"/>
          </a:xfrm>
          <a:prstGeom prst="rect">
            <a:avLst/>
          </a:prstGeom>
          <a:noFill/>
          <a:ln/>
        </p:spPr>
        <p:txBody>
          <a:bodyPr wrap="square" lIns="25400" tIns="25400" rIns="25400" bIns="25400" rtlCol="0" anchor="t">
            <a:normAutofit/>
          </a:bodyPr>
          <a:lstStyle/>
          <a:p>
            <a:pPr algn="l" indent="0" marL="0">
              <a:buNone/>
            </a:pPr>
            <a:r>
              <a:rPr lang="en-US" sz="1050" dirty="0">
                <a:solidFill>
                  <a:srgbClr val="756B57"/>
                </a:solidFill>
                <a:latin typeface="Georgia" pitchFamily="34" charset="0"/>
                <a:ea typeface="Georgia" pitchFamily="34" charset="-122"/>
                <a:cs typeface="Georgia" pitchFamily="34" charset="-120"/>
              </a:rPr>
              <a:t>Clause of the Rite</a:t>
            </a:r>
            <a:endParaRPr lang="en-US" sz="1050" dirty="0"/>
          </a:p>
        </p:txBody>
      </p:sp>
      <p:sp>
        <p:nvSpPr>
          <p:cNvPr id="53" name="Shape 45"/>
          <p:cNvSpPr/>
          <p:nvPr/>
        </p:nvSpPr>
        <p:spPr>
          <a:xfrm>
            <a:off x="13719572" y="4220542"/>
            <a:ext cx="963216" cy="217140"/>
          </a:xfrm>
          <a:prstGeom prst="roundRect">
            <a:avLst>
              <a:gd name="adj" fmla="val 50000"/>
            </a:avLst>
          </a:prstGeom>
          <a:solidFill>
            <a:srgbClr val="5B7A4E">
              <a:alpha val="16000"/>
            </a:srgbClr>
          </a:solidFill>
          <a:ln/>
        </p:spPr>
      </p:sp>
      <p:sp>
        <p:nvSpPr>
          <p:cNvPr id="54" name="Shape 46"/>
          <p:cNvSpPr/>
          <p:nvPr/>
        </p:nvSpPr>
        <p:spPr>
          <a:xfrm>
            <a:off x="13814822" y="4300538"/>
            <a:ext cx="57150" cy="57150"/>
          </a:xfrm>
          <a:prstGeom prst="ellipse">
            <a:avLst/>
          </a:prstGeom>
          <a:solidFill>
            <a:srgbClr val="5B7A4E"/>
          </a:solidFill>
          <a:ln/>
        </p:spPr>
      </p:sp>
      <p:sp>
        <p:nvSpPr>
          <p:cNvPr id="55" name="Text 47"/>
          <p:cNvSpPr/>
          <p:nvPr/>
        </p:nvSpPr>
        <p:spPr>
          <a:xfrm>
            <a:off x="13929122" y="4253880"/>
            <a:ext cx="734616"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PUBLISHED</a:t>
            </a:r>
            <a:endParaRPr lang="en-US" sz="900" dirty="0"/>
          </a:p>
        </p:txBody>
      </p:sp>
      <p:pic>
        <p:nvPicPr>
          <p:cNvPr id="5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939963" y="4252913"/>
            <a:ext cx="152400" cy="152400"/>
          </a:xfrm>
          <a:prstGeom prst="rect">
            <a:avLst/>
          </a:prstGeom>
        </p:spPr>
      </p:pic>
      <p:sp>
        <p:nvSpPr>
          <p:cNvPr id="57" name="Shape 48"/>
          <p:cNvSpPr/>
          <p:nvPr/>
        </p:nvSpPr>
        <p:spPr>
          <a:xfrm>
            <a:off x="5110163" y="4810125"/>
            <a:ext cx="10287000" cy="733425"/>
          </a:xfrm>
          <a:prstGeom prst="roundRect">
            <a:avLst>
              <a:gd name="adj" fmla="val 6494"/>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58" name="Text 49"/>
          <p:cNvSpPr/>
          <p:nvPr/>
        </p:nvSpPr>
        <p:spPr>
          <a:xfrm>
            <a:off x="5310188" y="5057775"/>
            <a:ext cx="400050"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756B57"/>
                </a:solidFill>
                <a:latin typeface="Georgia" pitchFamily="34" charset="0"/>
                <a:ea typeface="Georgia" pitchFamily="34" charset="-122"/>
                <a:cs typeface="Georgia" pitchFamily="34" charset="-120"/>
              </a:rPr>
              <a:t>III</a:t>
            </a:r>
            <a:endParaRPr lang="en-US" sz="1650" dirty="0"/>
          </a:p>
        </p:txBody>
      </p:sp>
      <p:sp>
        <p:nvSpPr>
          <p:cNvPr id="59" name="Text 50"/>
          <p:cNvSpPr/>
          <p:nvPr/>
        </p:nvSpPr>
        <p:spPr>
          <a:xfrm>
            <a:off x="5786438" y="4972050"/>
            <a:ext cx="8880664" cy="242888"/>
          </a:xfrm>
          <a:prstGeom prst="rect">
            <a:avLst/>
          </a:prstGeom>
          <a:noFill/>
          <a:ln/>
        </p:spPr>
        <p:txBody>
          <a:bodyPr wrap="square" lIns="25400" tIns="25400" rIns="25400" bIns="25400" rtlCol="0" anchor="t">
            <a:normAutofit/>
          </a:bodyPr>
          <a:lstStyle/>
          <a:p>
            <a:pPr algn="l" indent="0" marL="0">
              <a:buNone/>
            </a:pPr>
            <a:r>
              <a:rPr lang="en-US" sz="1425" b="1" dirty="0">
                <a:solidFill>
                  <a:srgbClr val="1C1812"/>
                </a:solidFill>
                <a:latin typeface="Georgia" pitchFamily="34" charset="0"/>
                <a:ea typeface="Georgia" pitchFamily="34" charset="-122"/>
                <a:cs typeface="Georgia" pitchFamily="34" charset="-120"/>
              </a:rPr>
              <a:t>House Standing</a:t>
            </a:r>
            <a:endParaRPr lang="en-US" sz="1425" dirty="0"/>
          </a:p>
        </p:txBody>
      </p:sp>
      <p:sp>
        <p:nvSpPr>
          <p:cNvPr id="60" name="Text 51"/>
          <p:cNvSpPr/>
          <p:nvPr/>
        </p:nvSpPr>
        <p:spPr>
          <a:xfrm>
            <a:off x="5786438" y="5176838"/>
            <a:ext cx="8880664" cy="242888"/>
          </a:xfrm>
          <a:prstGeom prst="rect">
            <a:avLst/>
          </a:prstGeom>
          <a:noFill/>
          <a:ln/>
        </p:spPr>
        <p:txBody>
          <a:bodyPr wrap="square" lIns="25400" tIns="25400" rIns="25400" bIns="25400" rtlCol="0" anchor="t">
            <a:normAutofit/>
          </a:bodyPr>
          <a:lstStyle/>
          <a:p>
            <a:pPr algn="l" indent="0" marL="0">
              <a:buNone/>
            </a:pPr>
            <a:r>
              <a:rPr lang="en-US" sz="1050" dirty="0">
                <a:solidFill>
                  <a:srgbClr val="756B57"/>
                </a:solidFill>
                <a:latin typeface="Georgia" pitchFamily="34" charset="0"/>
                <a:ea typeface="Georgia" pitchFamily="34" charset="-122"/>
                <a:cs typeface="Georgia" pitchFamily="34" charset="-120"/>
              </a:rPr>
              <a:t>Clause of the Rite</a:t>
            </a:r>
            <a:endParaRPr lang="en-US" sz="1050" dirty="0"/>
          </a:p>
        </p:txBody>
      </p:sp>
      <p:sp>
        <p:nvSpPr>
          <p:cNvPr id="61" name="Shape 52"/>
          <p:cNvSpPr/>
          <p:nvPr/>
        </p:nvSpPr>
        <p:spPr>
          <a:xfrm>
            <a:off x="14012168" y="5068267"/>
            <a:ext cx="670620" cy="217140"/>
          </a:xfrm>
          <a:prstGeom prst="roundRect">
            <a:avLst>
              <a:gd name="adj" fmla="val 50000"/>
            </a:avLst>
          </a:prstGeom>
          <a:solidFill>
            <a:srgbClr val="F8F3E6"/>
          </a:solidFill>
          <a:ln/>
        </p:spPr>
      </p:sp>
      <p:sp>
        <p:nvSpPr>
          <p:cNvPr id="62" name="Shape 53"/>
          <p:cNvSpPr/>
          <p:nvPr/>
        </p:nvSpPr>
        <p:spPr>
          <a:xfrm>
            <a:off x="14107418" y="5148263"/>
            <a:ext cx="57150" cy="57150"/>
          </a:xfrm>
          <a:prstGeom prst="ellipse">
            <a:avLst/>
          </a:prstGeom>
          <a:solidFill>
            <a:srgbClr val="423A2C"/>
          </a:solidFill>
          <a:ln/>
        </p:spPr>
      </p:sp>
      <p:sp>
        <p:nvSpPr>
          <p:cNvPr id="63" name="Text 54"/>
          <p:cNvSpPr/>
          <p:nvPr/>
        </p:nvSpPr>
        <p:spPr>
          <a:xfrm>
            <a:off x="14221718" y="5101605"/>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423A2C"/>
                </a:solidFill>
                <a:latin typeface="Courier New" pitchFamily="34" charset="0"/>
                <a:ea typeface="Courier New" pitchFamily="34" charset="-122"/>
                <a:cs typeface="Courier New" pitchFamily="34" charset="-120"/>
              </a:rPr>
              <a:t>DRAFT</a:t>
            </a:r>
            <a:endParaRPr lang="en-US" sz="900" dirty="0"/>
          </a:p>
        </p:txBody>
      </p:sp>
      <p:pic>
        <p:nvPicPr>
          <p:cNvPr id="6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4939963" y="5100638"/>
            <a:ext cx="152400" cy="152400"/>
          </a:xfrm>
          <a:prstGeom prst="rect">
            <a:avLst/>
          </a:prstGeom>
        </p:spPr>
      </p:pic>
      <p:sp>
        <p:nvSpPr>
          <p:cNvPr id="65" name="Shape 55"/>
          <p:cNvSpPr/>
          <p:nvPr/>
        </p:nvSpPr>
        <p:spPr>
          <a:xfrm>
            <a:off x="5110163" y="5657850"/>
            <a:ext cx="10287000" cy="733425"/>
          </a:xfrm>
          <a:prstGeom prst="roundRect">
            <a:avLst>
              <a:gd name="adj" fmla="val 6494"/>
            </a:avLst>
          </a:prstGeom>
          <a:solidFill>
            <a:srgbClr val="F2ECDC"/>
          </a:solidFill>
          <a:ln w="9525">
            <a:solidFill>
              <a:srgbClr val="D2C8B0"/>
            </a:solidFill>
            <a:prstDash val="solid"/>
          </a:ln>
          <a:effectLst>
            <a:outerShdw sx="100000" sy="100000" kx="0" ky="0" algn="bl" rotWithShape="0" blurRad="133350" dist="38100" dir="5400000">
              <a:srgbClr val="000000">
                <a:alpha val="40000"/>
              </a:srgbClr>
            </a:outerShdw>
          </a:effectLst>
        </p:spPr>
      </p:sp>
      <p:sp>
        <p:nvSpPr>
          <p:cNvPr id="66" name="Text 56"/>
          <p:cNvSpPr/>
          <p:nvPr/>
        </p:nvSpPr>
        <p:spPr>
          <a:xfrm>
            <a:off x="5310188" y="5905500"/>
            <a:ext cx="400050"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756B57"/>
                </a:solidFill>
                <a:latin typeface="Georgia" pitchFamily="34" charset="0"/>
                <a:ea typeface="Georgia" pitchFamily="34" charset="-122"/>
                <a:cs typeface="Georgia" pitchFamily="34" charset="-120"/>
              </a:rPr>
              <a:t>IV</a:t>
            </a:r>
            <a:endParaRPr lang="en-US" sz="1650" dirty="0"/>
          </a:p>
        </p:txBody>
      </p:sp>
      <p:sp>
        <p:nvSpPr>
          <p:cNvPr id="67" name="Text 57"/>
          <p:cNvSpPr/>
          <p:nvPr/>
        </p:nvSpPr>
        <p:spPr>
          <a:xfrm>
            <a:off x="5786438" y="5819775"/>
            <a:ext cx="8880664" cy="242888"/>
          </a:xfrm>
          <a:prstGeom prst="rect">
            <a:avLst/>
          </a:prstGeom>
          <a:noFill/>
          <a:ln/>
        </p:spPr>
        <p:txBody>
          <a:bodyPr wrap="square" lIns="25400" tIns="25400" rIns="25400" bIns="25400" rtlCol="0" anchor="t">
            <a:normAutofit/>
          </a:bodyPr>
          <a:lstStyle/>
          <a:p>
            <a:pPr algn="l" indent="0" marL="0">
              <a:buNone/>
            </a:pPr>
            <a:r>
              <a:rPr lang="en-US" sz="1425" b="1" dirty="0">
                <a:solidFill>
                  <a:srgbClr val="1C1812"/>
                </a:solidFill>
                <a:latin typeface="Georgia" pitchFamily="34" charset="0"/>
                <a:ea typeface="Georgia" pitchFamily="34" charset="-122"/>
                <a:cs typeface="Georgia" pitchFamily="34" charset="-120"/>
              </a:rPr>
              <a:t>The Drowning Rite</a:t>
            </a:r>
            <a:endParaRPr lang="en-US" sz="1425" dirty="0"/>
          </a:p>
        </p:txBody>
      </p:sp>
      <p:sp>
        <p:nvSpPr>
          <p:cNvPr id="68" name="Text 58"/>
          <p:cNvSpPr/>
          <p:nvPr/>
        </p:nvSpPr>
        <p:spPr>
          <a:xfrm>
            <a:off x="5786438" y="6024563"/>
            <a:ext cx="8880664" cy="242888"/>
          </a:xfrm>
          <a:prstGeom prst="rect">
            <a:avLst/>
          </a:prstGeom>
          <a:noFill/>
          <a:ln/>
        </p:spPr>
        <p:txBody>
          <a:bodyPr wrap="square" lIns="25400" tIns="25400" rIns="25400" bIns="25400" rtlCol="0" anchor="t">
            <a:normAutofit/>
          </a:bodyPr>
          <a:lstStyle/>
          <a:p>
            <a:pPr algn="l" indent="0" marL="0">
              <a:buNone/>
            </a:pPr>
            <a:r>
              <a:rPr lang="en-US" sz="1050" dirty="0">
                <a:solidFill>
                  <a:srgbClr val="756B57"/>
                </a:solidFill>
                <a:latin typeface="Georgia" pitchFamily="34" charset="0"/>
                <a:ea typeface="Georgia" pitchFamily="34" charset="-122"/>
                <a:cs typeface="Georgia" pitchFamily="34" charset="-120"/>
              </a:rPr>
              <a:t>Clause of the Rite</a:t>
            </a:r>
            <a:endParaRPr lang="en-US" sz="1050" dirty="0"/>
          </a:p>
        </p:txBody>
      </p:sp>
      <p:sp>
        <p:nvSpPr>
          <p:cNvPr id="69" name="Shape 59"/>
          <p:cNvSpPr/>
          <p:nvPr/>
        </p:nvSpPr>
        <p:spPr>
          <a:xfrm>
            <a:off x="14012168" y="5915992"/>
            <a:ext cx="670620" cy="217140"/>
          </a:xfrm>
          <a:prstGeom prst="roundRect">
            <a:avLst>
              <a:gd name="adj" fmla="val 50000"/>
            </a:avLst>
          </a:prstGeom>
          <a:solidFill>
            <a:srgbClr val="F8F3E6"/>
          </a:solidFill>
          <a:ln/>
        </p:spPr>
      </p:sp>
      <p:sp>
        <p:nvSpPr>
          <p:cNvPr id="70" name="Shape 60"/>
          <p:cNvSpPr/>
          <p:nvPr/>
        </p:nvSpPr>
        <p:spPr>
          <a:xfrm>
            <a:off x="14107418" y="5995988"/>
            <a:ext cx="57150" cy="57150"/>
          </a:xfrm>
          <a:prstGeom prst="ellipse">
            <a:avLst/>
          </a:prstGeom>
          <a:solidFill>
            <a:srgbClr val="423A2C"/>
          </a:solidFill>
          <a:ln/>
        </p:spPr>
      </p:sp>
      <p:sp>
        <p:nvSpPr>
          <p:cNvPr id="71" name="Text 61"/>
          <p:cNvSpPr/>
          <p:nvPr/>
        </p:nvSpPr>
        <p:spPr>
          <a:xfrm>
            <a:off x="14221718" y="5949330"/>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423A2C"/>
                </a:solidFill>
                <a:latin typeface="Courier New" pitchFamily="34" charset="0"/>
                <a:ea typeface="Courier New" pitchFamily="34" charset="-122"/>
                <a:cs typeface="Courier New" pitchFamily="34" charset="-120"/>
              </a:rPr>
              <a:t>DRAFT</a:t>
            </a:r>
            <a:endParaRPr lang="en-US" sz="900" dirty="0"/>
          </a:p>
        </p:txBody>
      </p:sp>
      <p:pic>
        <p:nvPicPr>
          <p:cNvPr id="72"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939963" y="5948363"/>
            <a:ext cx="152400" cy="152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2432172"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TTRPG · PLAYER</a:t>
            </a:r>
            <a:endParaRPr lang="en-US" sz="1275" dirty="0"/>
          </a:p>
        </p:txBody>
      </p:sp>
      <p:sp>
        <p:nvSpPr>
          <p:cNvPr id="4" name="Text 2"/>
          <p:cNvSpPr/>
          <p:nvPr/>
        </p:nvSpPr>
        <p:spPr>
          <a:xfrm>
            <a:off x="533400" y="766763"/>
            <a:ext cx="2432172"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Player Card</a:t>
            </a:r>
            <a:endParaRPr lang="en-US" sz="3450" dirty="0"/>
          </a:p>
        </p:txBody>
      </p:sp>
      <p:sp>
        <p:nvSpPr>
          <p:cNvPr id="5" name="Shape 3"/>
          <p:cNvSpPr/>
          <p:nvPr/>
        </p:nvSpPr>
        <p:spPr>
          <a:xfrm>
            <a:off x="15212318" y="438150"/>
            <a:ext cx="2542282" cy="381000"/>
          </a:xfrm>
          <a:prstGeom prst="roundRect">
            <a:avLst>
              <a:gd name="adj" fmla="val 50000"/>
            </a:avLst>
          </a:prstGeom>
          <a:solidFill>
            <a:srgbClr val="161025"/>
          </a:solidFill>
          <a:ln w="9525">
            <a:solidFill>
              <a:srgbClr val="33274D"/>
            </a:solidFill>
            <a:prstDash val="solid"/>
          </a:ln>
        </p:spPr>
      </p:sp>
      <p:sp>
        <p:nvSpPr>
          <p:cNvPr id="6" name="Shape 4"/>
          <p:cNvSpPr/>
          <p:nvPr/>
        </p:nvSpPr>
        <p:spPr>
          <a:xfrm>
            <a:off x="15326618" y="533400"/>
            <a:ext cx="190500" cy="190500"/>
          </a:xfrm>
          <a:prstGeom prst="ellipse">
            <a:avLst/>
          </a:prstGeom>
          <a:solidFill>
            <a:srgbClr val="0B0813"/>
          </a:solidFill>
          <a:ln w="9525">
            <a:solidFill>
              <a:srgbClr val="FFFFFF">
                <a:alpha val="18000"/>
              </a:srgbClr>
            </a:solidFill>
            <a:prstDash val="solid"/>
          </a:ln>
        </p:spPr>
      </p:sp>
      <p:sp>
        <p:nvSpPr>
          <p:cNvPr id="7" name="Text 5"/>
          <p:cNvSpPr/>
          <p:nvPr/>
        </p:nvSpPr>
        <p:spPr>
          <a:xfrm>
            <a:off x="15612368" y="533400"/>
            <a:ext cx="2056507" cy="228600"/>
          </a:xfrm>
          <a:prstGeom prst="rect">
            <a:avLst/>
          </a:prstGeom>
          <a:noFill/>
          <a:ln/>
        </p:spPr>
        <p:txBody>
          <a:bodyPr wrap="none" lIns="0" tIns="0" rIns="0" bIns="0" rtlCol="0" anchor="t">
            <a:normAutofit/>
          </a:bodyPr>
          <a:lstStyle/>
          <a:p>
            <a:pPr algn="l" indent="0" marL="0">
              <a:buNone/>
            </a:pPr>
            <a:r>
              <a:rPr lang="en-US" sz="1125" spc="68" kern="0" dirty="0">
                <a:solidFill>
                  <a:srgbClr val="BCAFD3"/>
                </a:solidFill>
                <a:latin typeface="Courier New" pitchFamily="34" charset="0"/>
                <a:ea typeface="Courier New" pitchFamily="34" charset="-122"/>
                <a:cs typeface="Courier New" pitchFamily="34" charset="-120"/>
              </a:rPr>
              <a:t>Violet · ttrpg-violet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B0813"/>
          </a:solidFill>
          <a:ln/>
        </p:spPr>
      </p:sp>
      <p:sp>
        <p:nvSpPr>
          <p:cNvPr id="10" name="Shape 8"/>
          <p:cNvSpPr/>
          <p:nvPr/>
        </p:nvSpPr>
        <p:spPr>
          <a:xfrm>
            <a:off x="542925" y="1462088"/>
            <a:ext cx="2066925" cy="8320088"/>
          </a:xfrm>
          <a:prstGeom prst="rect">
            <a:avLst/>
          </a:prstGeom>
          <a:solidFill>
            <a:srgbClr val="100B1B"/>
          </a:solidFill>
          <a:ln/>
        </p:spPr>
      </p:sp>
      <p:sp>
        <p:nvSpPr>
          <p:cNvPr id="11" name="Shape 9"/>
          <p:cNvSpPr/>
          <p:nvPr/>
        </p:nvSpPr>
        <p:spPr>
          <a:xfrm>
            <a:off x="2600325" y="1462088"/>
            <a:ext cx="9525" cy="8320088"/>
          </a:xfrm>
          <a:prstGeom prst="rect">
            <a:avLst/>
          </a:prstGeom>
          <a:solidFill>
            <a:srgbClr val="261C3B"/>
          </a:solidFill>
          <a:ln/>
        </p:spPr>
      </p:sp>
      <p:sp>
        <p:nvSpPr>
          <p:cNvPr id="12" name="Shape 10"/>
          <p:cNvSpPr/>
          <p:nvPr/>
        </p:nvSpPr>
        <p:spPr>
          <a:xfrm>
            <a:off x="542925" y="2071688"/>
            <a:ext cx="2057400" cy="9525"/>
          </a:xfrm>
          <a:prstGeom prst="rect">
            <a:avLst/>
          </a:prstGeom>
          <a:solidFill>
            <a:srgbClr val="261C3B"/>
          </a:solidFill>
          <a:ln/>
        </p:spPr>
      </p:sp>
      <p:sp>
        <p:nvSpPr>
          <p:cNvPr id="13" name="Text 11"/>
          <p:cNvSpPr/>
          <p:nvPr/>
        </p:nvSpPr>
        <p:spPr>
          <a:xfrm>
            <a:off x="733425" y="1671638"/>
            <a:ext cx="265137"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B49CE6"/>
                </a:solidFill>
                <a:latin typeface="Georgia" pitchFamily="34" charset="0"/>
                <a:ea typeface="Georgia" pitchFamily="34" charset="-122"/>
                <a:cs typeface="Georgia" pitchFamily="34" charset="-120"/>
              </a:rPr>
              <a:t>ᛜ</a:t>
            </a:r>
            <a:endParaRPr lang="en-US" sz="1350" dirty="0"/>
          </a:p>
        </p:txBody>
      </p:sp>
      <p:sp>
        <p:nvSpPr>
          <p:cNvPr id="14" name="Text 12"/>
          <p:cNvSpPr/>
          <p:nvPr/>
        </p:nvSpPr>
        <p:spPr>
          <a:xfrm>
            <a:off x="1017612" y="1702594"/>
            <a:ext cx="930399" cy="204787"/>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E6DEF2"/>
                </a:solidFill>
                <a:latin typeface="Georgia" pitchFamily="34" charset="0"/>
                <a:ea typeface="Georgia" pitchFamily="34" charset="-122"/>
                <a:cs typeface="Georgia" pitchFamily="34" charset="-120"/>
              </a:rPr>
              <a:t>THE TABLE</a:t>
            </a:r>
            <a:endParaRPr lang="en-US" sz="1125" dirty="0"/>
          </a:p>
        </p:txBody>
      </p:sp>
      <p:sp>
        <p:nvSpPr>
          <p:cNvPr id="15" name="Shape 13"/>
          <p:cNvSpPr/>
          <p:nvPr/>
        </p:nvSpPr>
        <p:spPr>
          <a:xfrm>
            <a:off x="657225" y="2195513"/>
            <a:ext cx="1828800" cy="409575"/>
          </a:xfrm>
          <a:prstGeom prst="roundRect">
            <a:avLst>
              <a:gd name="adj" fmla="val 6977"/>
            </a:avLst>
          </a:prstGeom>
          <a:solidFill>
            <a:srgbClr val="1E1630"/>
          </a:solidFill>
          <a:ln/>
        </p:spPr>
      </p:sp>
      <p:sp>
        <p:nvSpPr>
          <p:cNvPr id="16" name="Shape 14"/>
          <p:cNvSpPr/>
          <p:nvPr/>
        </p:nvSpPr>
        <p:spPr>
          <a:xfrm>
            <a:off x="657225" y="2195513"/>
            <a:ext cx="19050" cy="409575"/>
          </a:xfrm>
          <a:prstGeom prst="rect">
            <a:avLst/>
          </a:prstGeom>
          <a:solidFill>
            <a:srgbClr val="6B4FB0"/>
          </a:solidFill>
          <a:ln/>
        </p:spPr>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8" name="Text 15"/>
          <p:cNvSpPr/>
          <p:nvPr/>
        </p:nvSpPr>
        <p:spPr>
          <a:xfrm>
            <a:off x="1057275" y="2290763"/>
            <a:ext cx="818927" cy="257175"/>
          </a:xfrm>
          <a:prstGeom prst="rect">
            <a:avLst/>
          </a:prstGeom>
          <a:noFill/>
          <a:ln/>
        </p:spPr>
        <p:txBody>
          <a:bodyPr wrap="square" lIns="0" tIns="0" rIns="0" bIns="0" rtlCol="0" anchor="t">
            <a:normAutofit/>
          </a:bodyPr>
          <a:lstStyle/>
          <a:p>
            <a:pPr algn="l" indent="0" marL="0">
              <a:buNone/>
            </a:pPr>
            <a:r>
              <a:rPr lang="en-US" sz="1125" dirty="0">
                <a:solidFill>
                  <a:srgbClr val="E6DEF2"/>
                </a:solidFill>
                <a:latin typeface="Georgia" pitchFamily="34" charset="0"/>
                <a:ea typeface="Georgia" pitchFamily="34" charset="-122"/>
                <a:cs typeface="Georgia" pitchFamily="34" charset="-120"/>
              </a:rPr>
              <a:t>Player Card</a:t>
            </a:r>
            <a:endParaRPr lang="en-US" sz="1125" dirty="0"/>
          </a:p>
        </p:txBody>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20" name="Text 16"/>
          <p:cNvSpPr/>
          <p:nvPr/>
        </p:nvSpPr>
        <p:spPr>
          <a:xfrm>
            <a:off x="1057275" y="2719388"/>
            <a:ext cx="369243"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Dice</a:t>
            </a:r>
            <a:endParaRPr lang="en-US" sz="1125"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2" name="Text 17"/>
          <p:cNvSpPr/>
          <p:nvPr/>
        </p:nvSpPr>
        <p:spPr>
          <a:xfrm>
            <a:off x="1057275" y="3148013"/>
            <a:ext cx="539874"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Graphs</a:t>
            </a:r>
            <a:endParaRPr lang="en-US" sz="1125"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4" name="Text 18"/>
          <p:cNvSpPr/>
          <p:nvPr/>
        </p:nvSpPr>
        <p:spPr>
          <a:xfrm>
            <a:off x="1057275" y="3576638"/>
            <a:ext cx="488826"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Tables</a:t>
            </a:r>
            <a:endParaRPr lang="en-US" sz="1125" dirty="0"/>
          </a:p>
        </p:txBody>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0575" y="4033837"/>
            <a:ext cx="161925" cy="161925"/>
          </a:xfrm>
          <a:prstGeom prst="rect">
            <a:avLst/>
          </a:prstGeom>
        </p:spPr>
      </p:pic>
      <p:sp>
        <p:nvSpPr>
          <p:cNvPr id="26" name="Text 19"/>
          <p:cNvSpPr/>
          <p:nvPr/>
        </p:nvSpPr>
        <p:spPr>
          <a:xfrm>
            <a:off x="1057275" y="4005262"/>
            <a:ext cx="703734"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Chronicle</a:t>
            </a:r>
            <a:endParaRPr lang="en-US" sz="1125" dirty="0"/>
          </a:p>
        </p:txBody>
      </p:sp>
      <p:sp>
        <p:nvSpPr>
          <p:cNvPr id="27" name="Shape 20"/>
          <p:cNvSpPr/>
          <p:nvPr/>
        </p:nvSpPr>
        <p:spPr>
          <a:xfrm>
            <a:off x="2609850" y="1462088"/>
            <a:ext cx="15135225" cy="504825"/>
          </a:xfrm>
          <a:prstGeom prst="rect">
            <a:avLst/>
          </a:prstGeom>
          <a:solidFill>
            <a:srgbClr val="0B0813"/>
          </a:solidFill>
          <a:ln/>
        </p:spPr>
      </p:sp>
      <p:sp>
        <p:nvSpPr>
          <p:cNvPr id="28" name="Shape 21"/>
          <p:cNvSpPr/>
          <p:nvPr/>
        </p:nvSpPr>
        <p:spPr>
          <a:xfrm>
            <a:off x="2609850" y="1957388"/>
            <a:ext cx="15135225" cy="9525"/>
          </a:xfrm>
          <a:prstGeom prst="rect">
            <a:avLst/>
          </a:prstGeom>
          <a:solidFill>
            <a:srgbClr val="261C3B"/>
          </a:solidFill>
          <a:ln/>
        </p:spPr>
      </p:sp>
      <p:sp>
        <p:nvSpPr>
          <p:cNvPr id="29" name="Text 22"/>
          <p:cNvSpPr/>
          <p:nvPr/>
        </p:nvSpPr>
        <p:spPr>
          <a:xfrm>
            <a:off x="2819400" y="1640681"/>
            <a:ext cx="1751871"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847699"/>
                </a:solidFill>
                <a:latin typeface="Courier New" pitchFamily="34" charset="0"/>
                <a:ea typeface="Courier New" pitchFamily="34" charset="-122"/>
                <a:cs typeface="Courier New" pitchFamily="34" charset="-120"/>
              </a:rPr>
              <a:t>TTRPG · SESSION XII</a:t>
            </a:r>
            <a:endParaRPr lang="en-US" sz="825" dirty="0"/>
          </a:p>
        </p:txBody>
      </p:sp>
      <p:sp>
        <p:nvSpPr>
          <p:cNvPr id="30" name="Text 23"/>
          <p:cNvSpPr/>
          <p:nvPr/>
        </p:nvSpPr>
        <p:spPr>
          <a:xfrm>
            <a:off x="16659597" y="1640681"/>
            <a:ext cx="952128"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B49CE6"/>
                </a:solidFill>
                <a:latin typeface="Courier New" pitchFamily="34" charset="0"/>
                <a:ea typeface="Courier New" pitchFamily="34" charset="-122"/>
                <a:cs typeface="Courier New" pitchFamily="34" charset="-120"/>
              </a:rPr>
              <a:t>Player Card</a:t>
            </a:r>
            <a:endParaRPr lang="en-US" sz="825" dirty="0"/>
          </a:p>
        </p:txBody>
      </p:sp>
      <p:sp>
        <p:nvSpPr>
          <p:cNvPr id="31" name="Shape 24"/>
          <p:cNvSpPr/>
          <p:nvPr/>
        </p:nvSpPr>
        <p:spPr>
          <a:xfrm>
            <a:off x="2609850" y="1966912"/>
            <a:ext cx="15135225" cy="7815263"/>
          </a:xfrm>
          <a:prstGeom prst="rect">
            <a:avLst/>
          </a:prstGeom>
          <a:gradFill rotWithShape="1">
            <a:gsLst>
              <a:gs pos="0">
                <a:srgbClr val="FFFFFF">
                  <a:alpha val="2000"/>
                </a:srgbClr>
              </a:gs>
              <a:gs pos="100000">
                <a:srgbClr val="FFFFFF">
                  <a:alpha val="0"/>
                </a:srgbClr>
              </a:gs>
            </a:gsLst>
            <a:lin ang="5400000" scaled="0"/>
          </a:gradFill>
          <a:ln/>
        </p:spPr>
      </p:sp>
      <p:sp>
        <p:nvSpPr>
          <p:cNvPr id="32" name="Shape 25"/>
          <p:cNvSpPr/>
          <p:nvPr/>
        </p:nvSpPr>
        <p:spPr>
          <a:xfrm>
            <a:off x="5033963" y="2271713"/>
            <a:ext cx="952500" cy="952500"/>
          </a:xfrm>
          <a:prstGeom prst="roundRect">
            <a:avLst>
              <a:gd name="adj" fmla="val 3000"/>
            </a:avLst>
          </a:prstGeom>
          <a:solidFill>
            <a:srgbClr val="1E1630"/>
          </a:solidFill>
          <a:ln w="19050">
            <a:solidFill>
              <a:srgbClr val="6B4FB0"/>
            </a:solidFill>
            <a:prstDash val="solid"/>
          </a:ln>
          <a:effectLst>
            <a:outerShdw sx="100000" sy="100000" kx="0" ky="0" algn="bl" rotWithShape="0" blurRad="19050" dist="9525" dir="5400000">
              <a:srgbClr val="000000">
                <a:alpha val="35000"/>
              </a:srgbClr>
            </a:outerShdw>
          </a:effectLst>
        </p:spPr>
      </p:sp>
      <p:sp>
        <p:nvSpPr>
          <p:cNvPr id="33" name="Text 26"/>
          <p:cNvSpPr/>
          <p:nvPr/>
        </p:nvSpPr>
        <p:spPr>
          <a:xfrm>
            <a:off x="5014912" y="2290763"/>
            <a:ext cx="990600" cy="952500"/>
          </a:xfrm>
          <a:prstGeom prst="rect">
            <a:avLst/>
          </a:prstGeom>
          <a:noFill/>
          <a:ln/>
        </p:spPr>
        <p:txBody>
          <a:bodyPr wrap="square" lIns="25400" tIns="25400" rIns="25400" bIns="25400" rtlCol="0" anchor="ctr">
            <a:normAutofit/>
          </a:bodyPr>
          <a:lstStyle/>
          <a:p>
            <a:pPr algn="ctr" indent="0" marL="0">
              <a:buNone/>
            </a:pPr>
            <a:r>
              <a:rPr lang="en-US" sz="2850" b="1" dirty="0">
                <a:solidFill>
                  <a:srgbClr val="BCAFD3"/>
                </a:solidFill>
                <a:latin typeface="Georgia" pitchFamily="34" charset="0"/>
                <a:ea typeface="Georgia" pitchFamily="34" charset="-122"/>
                <a:cs typeface="Georgia" pitchFamily="34" charset="-120"/>
              </a:rPr>
              <a:t>KN</a:t>
            </a:r>
            <a:endParaRPr lang="en-US" sz="2850" dirty="0"/>
          </a:p>
        </p:txBody>
      </p:sp>
      <p:sp>
        <p:nvSpPr>
          <p:cNvPr id="34" name="Shape 27"/>
          <p:cNvSpPr/>
          <p:nvPr/>
        </p:nvSpPr>
        <p:spPr>
          <a:xfrm>
            <a:off x="5720209" y="2957959"/>
            <a:ext cx="275779" cy="275779"/>
          </a:xfrm>
          <a:prstGeom prst="ellipse">
            <a:avLst/>
          </a:prstGeom>
          <a:solidFill>
            <a:srgbClr val="5B7A4E"/>
          </a:solidFill>
          <a:ln w="19050">
            <a:solidFill>
              <a:srgbClr val="161025"/>
            </a:solidFill>
            <a:prstDash val="solid"/>
          </a:ln>
        </p:spPr>
      </p:sp>
      <p:sp>
        <p:nvSpPr>
          <p:cNvPr id="35" name="Text 28"/>
          <p:cNvSpPr/>
          <p:nvPr/>
        </p:nvSpPr>
        <p:spPr>
          <a:xfrm>
            <a:off x="6157913" y="2301255"/>
            <a:ext cx="10079355"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E6DEF2"/>
                </a:solidFill>
                <a:latin typeface="Georgia" pitchFamily="34" charset="0"/>
                <a:ea typeface="Georgia" pitchFamily="34" charset="-122"/>
                <a:cs typeface="Georgia" pitchFamily="34" charset="-120"/>
              </a:rPr>
              <a:t>Kára Nightveil</a:t>
            </a:r>
            <a:endParaRPr lang="en-US" sz="2700" dirty="0"/>
          </a:p>
        </p:txBody>
      </p:sp>
      <p:sp>
        <p:nvSpPr>
          <p:cNvPr id="36" name="Text 29"/>
          <p:cNvSpPr/>
          <p:nvPr/>
        </p:nvSpPr>
        <p:spPr>
          <a:xfrm>
            <a:off x="6157913" y="2691780"/>
            <a:ext cx="10079355" cy="209550"/>
          </a:xfrm>
          <a:prstGeom prst="rect">
            <a:avLst/>
          </a:prstGeom>
          <a:noFill/>
          <a:ln/>
        </p:spPr>
        <p:txBody>
          <a:bodyPr wrap="square" lIns="25400" tIns="25400" rIns="25400" bIns="25400" rtlCol="0" anchor="t">
            <a:normAutofit/>
          </a:bodyPr>
          <a:lstStyle/>
          <a:p>
            <a:pPr algn="l" indent="0" marL="0">
              <a:buNone/>
            </a:pPr>
            <a:r>
              <a:rPr lang="en-US" sz="1200" i="1" dirty="0">
                <a:solidFill>
                  <a:srgbClr val="847699"/>
                </a:solidFill>
                <a:latin typeface="Georgia" pitchFamily="34" charset="0"/>
                <a:ea typeface="Georgia" pitchFamily="34" charset="-122"/>
                <a:cs typeface="Georgia" pitchFamily="34" charset="-120"/>
              </a:rPr>
              <a:t>Reader of the drowned · House Ash</a:t>
            </a:r>
            <a:endParaRPr lang="en-US" sz="1200" dirty="0"/>
          </a:p>
        </p:txBody>
      </p:sp>
      <p:sp>
        <p:nvSpPr>
          <p:cNvPr id="37" name="Shape 30"/>
          <p:cNvSpPr/>
          <p:nvPr/>
        </p:nvSpPr>
        <p:spPr>
          <a:xfrm>
            <a:off x="6157913" y="2977530"/>
            <a:ext cx="816918" cy="217140"/>
          </a:xfrm>
          <a:prstGeom prst="roundRect">
            <a:avLst>
              <a:gd name="adj" fmla="val 50000"/>
            </a:avLst>
          </a:prstGeom>
          <a:solidFill>
            <a:srgbClr val="6B4FB0">
              <a:alpha val="20000"/>
            </a:srgbClr>
          </a:solidFill>
          <a:ln/>
        </p:spPr>
      </p:sp>
      <p:sp>
        <p:nvSpPr>
          <p:cNvPr id="38" name="Shape 31"/>
          <p:cNvSpPr/>
          <p:nvPr/>
        </p:nvSpPr>
        <p:spPr>
          <a:xfrm>
            <a:off x="6253163" y="3057525"/>
            <a:ext cx="57150" cy="57150"/>
          </a:xfrm>
          <a:prstGeom prst="ellipse">
            <a:avLst/>
          </a:prstGeom>
          <a:solidFill>
            <a:srgbClr val="B49CE6"/>
          </a:solidFill>
          <a:ln/>
        </p:spPr>
      </p:sp>
      <p:sp>
        <p:nvSpPr>
          <p:cNvPr id="39" name="Text 32"/>
          <p:cNvSpPr/>
          <p:nvPr/>
        </p:nvSpPr>
        <p:spPr>
          <a:xfrm>
            <a:off x="6367463" y="3006105"/>
            <a:ext cx="588318"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B49CE6"/>
                </a:solidFill>
                <a:latin typeface="Courier New" pitchFamily="34" charset="0"/>
                <a:ea typeface="Courier New" pitchFamily="34" charset="-122"/>
                <a:cs typeface="Courier New" pitchFamily="34" charset="-120"/>
              </a:rPr>
              <a:t>LEVEL 6</a:t>
            </a:r>
            <a:endParaRPr lang="en-US" sz="900" dirty="0"/>
          </a:p>
        </p:txBody>
      </p:sp>
      <p:sp>
        <p:nvSpPr>
          <p:cNvPr id="40" name="Shape 33"/>
          <p:cNvSpPr/>
          <p:nvPr/>
        </p:nvSpPr>
        <p:spPr>
          <a:xfrm>
            <a:off x="7051030" y="2977530"/>
            <a:ext cx="995214" cy="217140"/>
          </a:xfrm>
          <a:prstGeom prst="roundRect">
            <a:avLst>
              <a:gd name="adj" fmla="val 50000"/>
            </a:avLst>
          </a:prstGeom>
          <a:ln w="9525">
            <a:solidFill>
              <a:srgbClr val="C99A5B"/>
            </a:solidFill>
            <a:prstDash val="solid"/>
          </a:ln>
        </p:spPr>
      </p:sp>
      <p:sp>
        <p:nvSpPr>
          <p:cNvPr id="41" name="Text 34"/>
          <p:cNvSpPr/>
          <p:nvPr/>
        </p:nvSpPr>
        <p:spPr>
          <a:xfrm>
            <a:off x="7146280" y="3006105"/>
            <a:ext cx="880914"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E0BA80"/>
                </a:solidFill>
                <a:latin typeface="Courier New" pitchFamily="34" charset="0"/>
                <a:ea typeface="Courier New" pitchFamily="34" charset="-122"/>
                <a:cs typeface="Courier New" pitchFamily="34" charset="-120"/>
              </a:rPr>
              <a:t>NECROMANCER</a:t>
            </a:r>
            <a:endParaRPr lang="en-US" sz="900" dirty="0"/>
          </a:p>
        </p:txBody>
      </p:sp>
      <p:sp>
        <p:nvSpPr>
          <p:cNvPr id="42" name="Shape 35"/>
          <p:cNvSpPr/>
          <p:nvPr/>
        </p:nvSpPr>
        <p:spPr>
          <a:xfrm>
            <a:off x="8122444" y="2977530"/>
            <a:ext cx="670620" cy="217140"/>
          </a:xfrm>
          <a:prstGeom prst="roundRect">
            <a:avLst>
              <a:gd name="adj" fmla="val 50000"/>
            </a:avLst>
          </a:prstGeom>
          <a:solidFill>
            <a:srgbClr val="5B7A4E">
              <a:alpha val="16000"/>
            </a:srgbClr>
          </a:solidFill>
          <a:ln/>
        </p:spPr>
      </p:sp>
      <p:sp>
        <p:nvSpPr>
          <p:cNvPr id="43" name="Shape 36"/>
          <p:cNvSpPr/>
          <p:nvPr/>
        </p:nvSpPr>
        <p:spPr>
          <a:xfrm>
            <a:off x="8217694" y="3057525"/>
            <a:ext cx="57150" cy="57150"/>
          </a:xfrm>
          <a:prstGeom prst="ellipse">
            <a:avLst/>
          </a:prstGeom>
          <a:solidFill>
            <a:srgbClr val="5B7A4E"/>
          </a:solidFill>
          <a:ln/>
        </p:spPr>
      </p:sp>
      <p:sp>
        <p:nvSpPr>
          <p:cNvPr id="44" name="Text 37"/>
          <p:cNvSpPr/>
          <p:nvPr/>
        </p:nvSpPr>
        <p:spPr>
          <a:xfrm>
            <a:off x="8331994" y="3006105"/>
            <a:ext cx="442020"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45" name="Shape 38"/>
          <p:cNvSpPr/>
          <p:nvPr/>
        </p:nvSpPr>
        <p:spPr>
          <a:xfrm>
            <a:off x="5033963" y="3471863"/>
            <a:ext cx="5889575" cy="3072705"/>
          </a:xfrm>
          <a:prstGeom prst="roundRect">
            <a:avLst>
              <a:gd name="adj" fmla="val 1550"/>
            </a:avLst>
          </a:prstGeom>
          <a:solidFill>
            <a:srgbClr val="161025"/>
          </a:solidFill>
          <a:ln w="9525">
            <a:solidFill>
              <a:srgbClr val="261C3B"/>
            </a:solidFill>
            <a:prstDash val="solid"/>
          </a:ln>
          <a:effectLst>
            <a:outerShdw sx="100000" sy="100000" kx="0" ky="0" algn="bl" rotWithShape="0" blurRad="133350" dist="38100" dir="5400000">
              <a:srgbClr val="000000">
                <a:alpha val="40000"/>
              </a:srgbClr>
            </a:outerShdw>
          </a:effectLst>
        </p:spPr>
      </p:sp>
      <p:sp>
        <p:nvSpPr>
          <p:cNvPr id="46" name="Text 39"/>
          <p:cNvSpPr/>
          <p:nvPr/>
        </p:nvSpPr>
        <p:spPr>
          <a:xfrm>
            <a:off x="5233988" y="3633788"/>
            <a:ext cx="2876729"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B49CE6"/>
                </a:solidFill>
                <a:latin typeface="Courier New" pitchFamily="34" charset="0"/>
                <a:ea typeface="Courier New" pitchFamily="34" charset="-122"/>
                <a:cs typeface="Courier New" pitchFamily="34" charset="-120"/>
              </a:rPr>
              <a:t>THE BONES OF THE CHARACTER</a:t>
            </a:r>
            <a:endParaRPr lang="en-US" sz="900" dirty="0"/>
          </a:p>
        </p:txBody>
      </p:sp>
      <p:sp>
        <p:nvSpPr>
          <p:cNvPr id="47" name="Text 40"/>
          <p:cNvSpPr/>
          <p:nvPr/>
        </p:nvSpPr>
        <p:spPr>
          <a:xfrm>
            <a:off x="5233988" y="3838575"/>
            <a:ext cx="2876729"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E6DEF2"/>
                </a:solidFill>
                <a:latin typeface="Georgia" pitchFamily="34" charset="0"/>
                <a:ea typeface="Georgia" pitchFamily="34" charset="-122"/>
                <a:cs typeface="Georgia" pitchFamily="34" charset="-120"/>
              </a:rPr>
              <a:t>Attributes</a:t>
            </a:r>
            <a:endParaRPr lang="en-US" sz="1650" dirty="0"/>
          </a:p>
        </p:txBody>
      </p:sp>
      <p:sp>
        <p:nvSpPr>
          <p:cNvPr id="48" name="Shape 41"/>
          <p:cNvSpPr/>
          <p:nvPr/>
        </p:nvSpPr>
        <p:spPr>
          <a:xfrm>
            <a:off x="5233988" y="4291013"/>
            <a:ext cx="1753642" cy="969615"/>
          </a:xfrm>
          <a:prstGeom prst="roundRect">
            <a:avLst>
              <a:gd name="adj" fmla="val 2947"/>
            </a:avLst>
          </a:prstGeom>
          <a:solidFill>
            <a:srgbClr val="100B1B"/>
          </a:solidFill>
          <a:ln w="9525">
            <a:solidFill>
              <a:srgbClr val="261C3B"/>
            </a:solidFill>
            <a:prstDash val="solid"/>
          </a:ln>
        </p:spPr>
      </p:sp>
      <p:sp>
        <p:nvSpPr>
          <p:cNvPr id="49" name="Text 42"/>
          <p:cNvSpPr/>
          <p:nvPr/>
        </p:nvSpPr>
        <p:spPr>
          <a:xfrm>
            <a:off x="5303468" y="4414838"/>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47699"/>
                </a:solidFill>
                <a:latin typeface="Courier New" pitchFamily="34" charset="0"/>
                <a:ea typeface="Courier New" pitchFamily="34" charset="-122"/>
                <a:cs typeface="Courier New" pitchFamily="34" charset="-120"/>
              </a:rPr>
              <a:t>STR</a:t>
            </a:r>
            <a:endParaRPr lang="en-US" sz="900" dirty="0"/>
          </a:p>
        </p:txBody>
      </p:sp>
      <p:sp>
        <p:nvSpPr>
          <p:cNvPr id="50" name="Text 43"/>
          <p:cNvSpPr/>
          <p:nvPr/>
        </p:nvSpPr>
        <p:spPr>
          <a:xfrm>
            <a:off x="5303468" y="4581525"/>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6DEF2"/>
                </a:solidFill>
                <a:latin typeface="Georgia" pitchFamily="34" charset="0"/>
                <a:ea typeface="Georgia" pitchFamily="34" charset="-122"/>
                <a:cs typeface="Georgia" pitchFamily="34" charset="-120"/>
              </a:rPr>
              <a:t>9</a:t>
            </a:r>
            <a:endParaRPr lang="en-US" sz="2700" dirty="0"/>
          </a:p>
        </p:txBody>
      </p:sp>
      <p:sp>
        <p:nvSpPr>
          <p:cNvPr id="51" name="Text 44"/>
          <p:cNvSpPr/>
          <p:nvPr/>
        </p:nvSpPr>
        <p:spPr>
          <a:xfrm>
            <a:off x="5303468" y="4960590"/>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8A1F2A"/>
                </a:solidFill>
                <a:latin typeface="Courier New" pitchFamily="34" charset="0"/>
                <a:ea typeface="Courier New" pitchFamily="34" charset="-122"/>
                <a:cs typeface="Courier New" pitchFamily="34" charset="-120"/>
              </a:rPr>
              <a:t>-1</a:t>
            </a:r>
            <a:endParaRPr lang="en-US" sz="1050" dirty="0"/>
          </a:p>
        </p:txBody>
      </p:sp>
      <p:sp>
        <p:nvSpPr>
          <p:cNvPr id="52" name="Shape 45"/>
          <p:cNvSpPr/>
          <p:nvPr/>
        </p:nvSpPr>
        <p:spPr>
          <a:xfrm>
            <a:off x="7101929" y="4291013"/>
            <a:ext cx="1753642" cy="969615"/>
          </a:xfrm>
          <a:prstGeom prst="roundRect">
            <a:avLst>
              <a:gd name="adj" fmla="val 2947"/>
            </a:avLst>
          </a:prstGeom>
          <a:solidFill>
            <a:srgbClr val="100B1B"/>
          </a:solidFill>
          <a:ln w="9525">
            <a:solidFill>
              <a:srgbClr val="261C3B"/>
            </a:solidFill>
            <a:prstDash val="solid"/>
          </a:ln>
        </p:spPr>
      </p:sp>
      <p:sp>
        <p:nvSpPr>
          <p:cNvPr id="53" name="Text 46"/>
          <p:cNvSpPr/>
          <p:nvPr/>
        </p:nvSpPr>
        <p:spPr>
          <a:xfrm>
            <a:off x="7171410" y="4414838"/>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47699"/>
                </a:solidFill>
                <a:latin typeface="Courier New" pitchFamily="34" charset="0"/>
                <a:ea typeface="Courier New" pitchFamily="34" charset="-122"/>
                <a:cs typeface="Courier New" pitchFamily="34" charset="-120"/>
              </a:rPr>
              <a:t>DEX</a:t>
            </a:r>
            <a:endParaRPr lang="en-US" sz="900" dirty="0"/>
          </a:p>
        </p:txBody>
      </p:sp>
      <p:sp>
        <p:nvSpPr>
          <p:cNvPr id="54" name="Text 47"/>
          <p:cNvSpPr/>
          <p:nvPr/>
        </p:nvSpPr>
        <p:spPr>
          <a:xfrm>
            <a:off x="7171410" y="4581525"/>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6DEF2"/>
                </a:solidFill>
                <a:latin typeface="Georgia" pitchFamily="34" charset="0"/>
                <a:ea typeface="Georgia" pitchFamily="34" charset="-122"/>
                <a:cs typeface="Georgia" pitchFamily="34" charset="-120"/>
              </a:rPr>
              <a:t>14</a:t>
            </a:r>
            <a:endParaRPr lang="en-US" sz="2700" dirty="0"/>
          </a:p>
        </p:txBody>
      </p:sp>
      <p:sp>
        <p:nvSpPr>
          <p:cNvPr id="55" name="Text 48"/>
          <p:cNvSpPr/>
          <p:nvPr/>
        </p:nvSpPr>
        <p:spPr>
          <a:xfrm>
            <a:off x="7171410" y="4960590"/>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+2</a:t>
            </a:r>
            <a:endParaRPr lang="en-US" sz="1050" dirty="0"/>
          </a:p>
        </p:txBody>
      </p:sp>
      <p:sp>
        <p:nvSpPr>
          <p:cNvPr id="56" name="Shape 49"/>
          <p:cNvSpPr/>
          <p:nvPr/>
        </p:nvSpPr>
        <p:spPr>
          <a:xfrm>
            <a:off x="8969871" y="4291013"/>
            <a:ext cx="1753642" cy="969615"/>
          </a:xfrm>
          <a:prstGeom prst="roundRect">
            <a:avLst>
              <a:gd name="adj" fmla="val 2947"/>
            </a:avLst>
          </a:prstGeom>
          <a:solidFill>
            <a:srgbClr val="100B1B"/>
          </a:solidFill>
          <a:ln w="9525">
            <a:solidFill>
              <a:srgbClr val="261C3B"/>
            </a:solidFill>
            <a:prstDash val="solid"/>
          </a:ln>
        </p:spPr>
      </p:sp>
      <p:sp>
        <p:nvSpPr>
          <p:cNvPr id="57" name="Text 50"/>
          <p:cNvSpPr/>
          <p:nvPr/>
        </p:nvSpPr>
        <p:spPr>
          <a:xfrm>
            <a:off x="9039352" y="4414838"/>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47699"/>
                </a:solidFill>
                <a:latin typeface="Courier New" pitchFamily="34" charset="0"/>
                <a:ea typeface="Courier New" pitchFamily="34" charset="-122"/>
                <a:cs typeface="Courier New" pitchFamily="34" charset="-120"/>
              </a:rPr>
              <a:t>CON</a:t>
            </a:r>
            <a:endParaRPr lang="en-US" sz="900" dirty="0"/>
          </a:p>
        </p:txBody>
      </p:sp>
      <p:sp>
        <p:nvSpPr>
          <p:cNvPr id="58" name="Text 51"/>
          <p:cNvSpPr/>
          <p:nvPr/>
        </p:nvSpPr>
        <p:spPr>
          <a:xfrm>
            <a:off x="9039352" y="4581525"/>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6DEF2"/>
                </a:solidFill>
                <a:latin typeface="Georgia" pitchFamily="34" charset="0"/>
                <a:ea typeface="Georgia" pitchFamily="34" charset="-122"/>
                <a:cs typeface="Georgia" pitchFamily="34" charset="-120"/>
              </a:rPr>
              <a:t>12</a:t>
            </a:r>
            <a:endParaRPr lang="en-US" sz="2700" dirty="0"/>
          </a:p>
        </p:txBody>
      </p:sp>
      <p:sp>
        <p:nvSpPr>
          <p:cNvPr id="59" name="Text 52"/>
          <p:cNvSpPr/>
          <p:nvPr/>
        </p:nvSpPr>
        <p:spPr>
          <a:xfrm>
            <a:off x="9039352" y="4960590"/>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+1</a:t>
            </a:r>
            <a:endParaRPr lang="en-US" sz="1050" dirty="0"/>
          </a:p>
        </p:txBody>
      </p:sp>
      <p:sp>
        <p:nvSpPr>
          <p:cNvPr id="60" name="Shape 53"/>
          <p:cNvSpPr/>
          <p:nvPr/>
        </p:nvSpPr>
        <p:spPr>
          <a:xfrm>
            <a:off x="5233988" y="5374928"/>
            <a:ext cx="1753642" cy="969615"/>
          </a:xfrm>
          <a:prstGeom prst="roundRect">
            <a:avLst>
              <a:gd name="adj" fmla="val 2947"/>
            </a:avLst>
          </a:prstGeom>
          <a:solidFill>
            <a:srgbClr val="100B1B"/>
          </a:solidFill>
          <a:ln w="9525">
            <a:solidFill>
              <a:srgbClr val="261C3B"/>
            </a:solidFill>
            <a:prstDash val="solid"/>
          </a:ln>
        </p:spPr>
      </p:sp>
      <p:sp>
        <p:nvSpPr>
          <p:cNvPr id="61" name="Text 54"/>
          <p:cNvSpPr/>
          <p:nvPr/>
        </p:nvSpPr>
        <p:spPr>
          <a:xfrm>
            <a:off x="5303468" y="5498753"/>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47699"/>
                </a:solidFill>
                <a:latin typeface="Courier New" pitchFamily="34" charset="0"/>
                <a:ea typeface="Courier New" pitchFamily="34" charset="-122"/>
                <a:cs typeface="Courier New" pitchFamily="34" charset="-120"/>
              </a:rPr>
              <a:t>INT</a:t>
            </a:r>
            <a:endParaRPr lang="en-US" sz="900" dirty="0"/>
          </a:p>
        </p:txBody>
      </p:sp>
      <p:sp>
        <p:nvSpPr>
          <p:cNvPr id="62" name="Text 55"/>
          <p:cNvSpPr/>
          <p:nvPr/>
        </p:nvSpPr>
        <p:spPr>
          <a:xfrm>
            <a:off x="5303468" y="5665440"/>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6DEF2"/>
                </a:solidFill>
                <a:latin typeface="Georgia" pitchFamily="34" charset="0"/>
                <a:ea typeface="Georgia" pitchFamily="34" charset="-122"/>
                <a:cs typeface="Georgia" pitchFamily="34" charset="-120"/>
              </a:rPr>
              <a:t>17</a:t>
            </a:r>
            <a:endParaRPr lang="en-US" sz="2700" dirty="0"/>
          </a:p>
        </p:txBody>
      </p:sp>
      <p:sp>
        <p:nvSpPr>
          <p:cNvPr id="63" name="Text 56"/>
          <p:cNvSpPr/>
          <p:nvPr/>
        </p:nvSpPr>
        <p:spPr>
          <a:xfrm>
            <a:off x="5303468" y="6044505"/>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+3</a:t>
            </a:r>
            <a:endParaRPr lang="en-US" sz="1050" dirty="0"/>
          </a:p>
        </p:txBody>
      </p:sp>
      <p:sp>
        <p:nvSpPr>
          <p:cNvPr id="64" name="Shape 57"/>
          <p:cNvSpPr/>
          <p:nvPr/>
        </p:nvSpPr>
        <p:spPr>
          <a:xfrm>
            <a:off x="7101929" y="5374928"/>
            <a:ext cx="1753642" cy="969615"/>
          </a:xfrm>
          <a:prstGeom prst="roundRect">
            <a:avLst>
              <a:gd name="adj" fmla="val 2947"/>
            </a:avLst>
          </a:prstGeom>
          <a:solidFill>
            <a:srgbClr val="100B1B"/>
          </a:solidFill>
          <a:ln w="9525">
            <a:solidFill>
              <a:srgbClr val="261C3B"/>
            </a:solidFill>
            <a:prstDash val="solid"/>
          </a:ln>
        </p:spPr>
      </p:sp>
      <p:sp>
        <p:nvSpPr>
          <p:cNvPr id="65" name="Text 58"/>
          <p:cNvSpPr/>
          <p:nvPr/>
        </p:nvSpPr>
        <p:spPr>
          <a:xfrm>
            <a:off x="7171410" y="5498753"/>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47699"/>
                </a:solidFill>
                <a:latin typeface="Courier New" pitchFamily="34" charset="0"/>
                <a:ea typeface="Courier New" pitchFamily="34" charset="-122"/>
                <a:cs typeface="Courier New" pitchFamily="34" charset="-120"/>
              </a:rPr>
              <a:t>WIS</a:t>
            </a:r>
            <a:endParaRPr lang="en-US" sz="900" dirty="0"/>
          </a:p>
        </p:txBody>
      </p:sp>
      <p:sp>
        <p:nvSpPr>
          <p:cNvPr id="66" name="Text 59"/>
          <p:cNvSpPr/>
          <p:nvPr/>
        </p:nvSpPr>
        <p:spPr>
          <a:xfrm>
            <a:off x="7171410" y="5665440"/>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6DEF2"/>
                </a:solidFill>
                <a:latin typeface="Georgia" pitchFamily="34" charset="0"/>
                <a:ea typeface="Georgia" pitchFamily="34" charset="-122"/>
                <a:cs typeface="Georgia" pitchFamily="34" charset="-120"/>
              </a:rPr>
              <a:t>16</a:t>
            </a:r>
            <a:endParaRPr lang="en-US" sz="2700" dirty="0"/>
          </a:p>
        </p:txBody>
      </p:sp>
      <p:sp>
        <p:nvSpPr>
          <p:cNvPr id="67" name="Text 60"/>
          <p:cNvSpPr/>
          <p:nvPr/>
        </p:nvSpPr>
        <p:spPr>
          <a:xfrm>
            <a:off x="7171410" y="6044505"/>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+3</a:t>
            </a:r>
            <a:endParaRPr lang="en-US" sz="1050" dirty="0"/>
          </a:p>
        </p:txBody>
      </p:sp>
      <p:sp>
        <p:nvSpPr>
          <p:cNvPr id="68" name="Shape 61"/>
          <p:cNvSpPr/>
          <p:nvPr/>
        </p:nvSpPr>
        <p:spPr>
          <a:xfrm>
            <a:off x="8969871" y="5374928"/>
            <a:ext cx="1753642" cy="969615"/>
          </a:xfrm>
          <a:prstGeom prst="roundRect">
            <a:avLst>
              <a:gd name="adj" fmla="val 2947"/>
            </a:avLst>
          </a:prstGeom>
          <a:solidFill>
            <a:srgbClr val="100B1B"/>
          </a:solidFill>
          <a:ln w="9525">
            <a:solidFill>
              <a:srgbClr val="261C3B"/>
            </a:solidFill>
            <a:prstDash val="solid"/>
          </a:ln>
        </p:spPr>
      </p:sp>
      <p:sp>
        <p:nvSpPr>
          <p:cNvPr id="69" name="Text 62"/>
          <p:cNvSpPr/>
          <p:nvPr/>
        </p:nvSpPr>
        <p:spPr>
          <a:xfrm>
            <a:off x="9039352" y="5498753"/>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47699"/>
                </a:solidFill>
                <a:latin typeface="Courier New" pitchFamily="34" charset="0"/>
                <a:ea typeface="Courier New" pitchFamily="34" charset="-122"/>
                <a:cs typeface="Courier New" pitchFamily="34" charset="-120"/>
              </a:rPr>
              <a:t>CHA</a:t>
            </a:r>
            <a:endParaRPr lang="en-US" sz="900" dirty="0"/>
          </a:p>
        </p:txBody>
      </p:sp>
      <p:sp>
        <p:nvSpPr>
          <p:cNvPr id="70" name="Text 63"/>
          <p:cNvSpPr/>
          <p:nvPr/>
        </p:nvSpPr>
        <p:spPr>
          <a:xfrm>
            <a:off x="9039352" y="5665440"/>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6DEF2"/>
                </a:solidFill>
                <a:latin typeface="Georgia" pitchFamily="34" charset="0"/>
                <a:ea typeface="Georgia" pitchFamily="34" charset="-122"/>
                <a:cs typeface="Georgia" pitchFamily="34" charset="-120"/>
              </a:rPr>
              <a:t>11</a:t>
            </a:r>
            <a:endParaRPr lang="en-US" sz="2700" dirty="0"/>
          </a:p>
        </p:txBody>
      </p:sp>
      <p:sp>
        <p:nvSpPr>
          <p:cNvPr id="71" name="Text 64"/>
          <p:cNvSpPr/>
          <p:nvPr/>
        </p:nvSpPr>
        <p:spPr>
          <a:xfrm>
            <a:off x="9039352" y="6044505"/>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+0</a:t>
            </a:r>
            <a:endParaRPr lang="en-US" sz="1050" dirty="0"/>
          </a:p>
        </p:txBody>
      </p:sp>
      <p:sp>
        <p:nvSpPr>
          <p:cNvPr id="72" name="Shape 65"/>
          <p:cNvSpPr/>
          <p:nvPr/>
        </p:nvSpPr>
        <p:spPr>
          <a:xfrm>
            <a:off x="5033963" y="6735068"/>
            <a:ext cx="5889575" cy="1095375"/>
          </a:xfrm>
          <a:prstGeom prst="roundRect">
            <a:avLst>
              <a:gd name="adj" fmla="val 4348"/>
            </a:avLst>
          </a:prstGeom>
          <a:solidFill>
            <a:srgbClr val="161025"/>
          </a:solidFill>
          <a:ln w="9525">
            <a:solidFill>
              <a:srgbClr val="261C3B"/>
            </a:solidFill>
            <a:prstDash val="solid"/>
          </a:ln>
          <a:effectLst>
            <a:outerShdw sx="100000" sy="100000" kx="0" ky="0" algn="bl" rotWithShape="0" blurRad="133350" dist="38100" dir="5400000">
              <a:srgbClr val="000000">
                <a:alpha val="40000"/>
              </a:srgbClr>
            </a:outerShdw>
          </a:effectLst>
        </p:spPr>
      </p:sp>
      <p:sp>
        <p:nvSpPr>
          <p:cNvPr id="73" name="Text 66"/>
          <p:cNvSpPr/>
          <p:nvPr/>
        </p:nvSpPr>
        <p:spPr>
          <a:xfrm>
            <a:off x="5233988" y="6896993"/>
            <a:ext cx="605730"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E6DEF2"/>
                </a:solidFill>
                <a:latin typeface="Georgia" pitchFamily="34" charset="0"/>
                <a:ea typeface="Georgia" pitchFamily="34" charset="-122"/>
                <a:cs typeface="Georgia" pitchFamily="34" charset="-120"/>
              </a:rPr>
              <a:t>Vitals</a:t>
            </a:r>
            <a:endParaRPr lang="en-US" sz="1650" dirty="0"/>
          </a:p>
        </p:txBody>
      </p:sp>
      <p:sp>
        <p:nvSpPr>
          <p:cNvPr id="74" name="Text 67"/>
          <p:cNvSpPr/>
          <p:nvPr/>
        </p:nvSpPr>
        <p:spPr>
          <a:xfrm>
            <a:off x="5233988" y="7349430"/>
            <a:ext cx="809625" cy="185738"/>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47699"/>
                </a:solidFill>
                <a:latin typeface="Courier New" pitchFamily="34" charset="0"/>
                <a:ea typeface="Courier New" pitchFamily="34" charset="-122"/>
                <a:cs typeface="Courier New" pitchFamily="34" charset="-120"/>
              </a:rPr>
              <a:t>HIT POINTS</a:t>
            </a:r>
            <a:endParaRPr lang="en-US" sz="825" dirty="0"/>
          </a:p>
        </p:txBody>
      </p:sp>
      <p:sp>
        <p:nvSpPr>
          <p:cNvPr id="75" name="Text 68"/>
          <p:cNvSpPr/>
          <p:nvPr/>
        </p:nvSpPr>
        <p:spPr>
          <a:xfrm>
            <a:off x="6469410" y="7349430"/>
            <a:ext cx="556320" cy="185738"/>
          </a:xfrm>
          <a:prstGeom prst="rect">
            <a:avLst/>
          </a:prstGeom>
          <a:noFill/>
          <a:ln/>
        </p:spPr>
        <p:txBody>
          <a:bodyPr wrap="square" lIns="25400" tIns="25400" rIns="25400" bIns="25400" rtlCol="0" anchor="t">
            <a:normAutofit/>
          </a:bodyPr>
          <a:lstStyle/>
          <a:p>
            <a:pPr algn="l" indent="0" marL="0">
              <a:buNone/>
            </a:pPr>
            <a:r>
              <a:rPr lang="en-US" sz="900" dirty="0">
                <a:solidFill>
                  <a:srgbClr val="E6DEF2"/>
                </a:solidFill>
                <a:latin typeface="Courier New" pitchFamily="34" charset="0"/>
                <a:ea typeface="Courier New" pitchFamily="34" charset="-122"/>
                <a:cs typeface="Courier New" pitchFamily="34" charset="-120"/>
              </a:rPr>
              <a:t>21 / 24</a:t>
            </a:r>
            <a:endParaRPr lang="en-US" sz="900" dirty="0"/>
          </a:p>
        </p:txBody>
      </p:sp>
      <p:sp>
        <p:nvSpPr>
          <p:cNvPr id="76" name="Shape 69"/>
          <p:cNvSpPr/>
          <p:nvPr/>
        </p:nvSpPr>
        <p:spPr>
          <a:xfrm>
            <a:off x="5233988" y="7554218"/>
            <a:ext cx="1715542" cy="76200"/>
          </a:xfrm>
          <a:prstGeom prst="roundRect">
            <a:avLst>
              <a:gd name="adj" fmla="val 50000"/>
            </a:avLst>
          </a:prstGeom>
          <a:solidFill>
            <a:srgbClr val="100B1B"/>
          </a:solidFill>
          <a:ln/>
        </p:spPr>
      </p:sp>
      <p:sp>
        <p:nvSpPr>
          <p:cNvPr id="77" name="Shape 70"/>
          <p:cNvSpPr/>
          <p:nvPr/>
        </p:nvSpPr>
        <p:spPr>
          <a:xfrm>
            <a:off x="5233988" y="7554218"/>
            <a:ext cx="1501080" cy="76200"/>
          </a:xfrm>
          <a:prstGeom prst="rect">
            <a:avLst/>
          </a:prstGeom>
          <a:solidFill>
            <a:srgbClr val="6B4FB0"/>
          </a:solidFill>
          <a:ln/>
        </p:spPr>
      </p:sp>
      <p:sp>
        <p:nvSpPr>
          <p:cNvPr id="78" name="Text 71"/>
          <p:cNvSpPr/>
          <p:nvPr/>
        </p:nvSpPr>
        <p:spPr>
          <a:xfrm>
            <a:off x="7120979" y="7349430"/>
            <a:ext cx="369615" cy="185738"/>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47699"/>
                </a:solidFill>
                <a:latin typeface="Courier New" pitchFamily="34" charset="0"/>
                <a:ea typeface="Courier New" pitchFamily="34" charset="-122"/>
                <a:cs typeface="Courier New" pitchFamily="34" charset="-120"/>
              </a:rPr>
              <a:t>WILL</a:t>
            </a:r>
            <a:endParaRPr lang="en-US" sz="825" dirty="0"/>
          </a:p>
        </p:txBody>
      </p:sp>
      <p:sp>
        <p:nvSpPr>
          <p:cNvPr id="79" name="Text 72"/>
          <p:cNvSpPr/>
          <p:nvPr/>
        </p:nvSpPr>
        <p:spPr>
          <a:xfrm>
            <a:off x="8425011" y="7349430"/>
            <a:ext cx="487710" cy="185738"/>
          </a:xfrm>
          <a:prstGeom prst="rect">
            <a:avLst/>
          </a:prstGeom>
          <a:noFill/>
          <a:ln/>
        </p:spPr>
        <p:txBody>
          <a:bodyPr wrap="square" lIns="25400" tIns="25400" rIns="25400" bIns="25400" rtlCol="0" anchor="t">
            <a:normAutofit/>
          </a:bodyPr>
          <a:lstStyle/>
          <a:p>
            <a:pPr algn="l" indent="0" marL="0">
              <a:buNone/>
            </a:pPr>
            <a:r>
              <a:rPr lang="en-US" sz="900" dirty="0">
                <a:solidFill>
                  <a:srgbClr val="E6DEF2"/>
                </a:solidFill>
                <a:latin typeface="Courier New" pitchFamily="34" charset="0"/>
                <a:ea typeface="Courier New" pitchFamily="34" charset="-122"/>
                <a:cs typeface="Courier New" pitchFamily="34" charset="-120"/>
              </a:rPr>
              <a:t>9 / 10</a:t>
            </a:r>
            <a:endParaRPr lang="en-US" sz="900" dirty="0"/>
          </a:p>
        </p:txBody>
      </p:sp>
      <p:sp>
        <p:nvSpPr>
          <p:cNvPr id="80" name="Shape 73"/>
          <p:cNvSpPr/>
          <p:nvPr/>
        </p:nvSpPr>
        <p:spPr>
          <a:xfrm>
            <a:off x="7120979" y="7554218"/>
            <a:ext cx="1715542" cy="76200"/>
          </a:xfrm>
          <a:prstGeom prst="roundRect">
            <a:avLst>
              <a:gd name="adj" fmla="val 50000"/>
            </a:avLst>
          </a:prstGeom>
          <a:solidFill>
            <a:srgbClr val="100B1B"/>
          </a:solidFill>
          <a:ln/>
        </p:spPr>
      </p:sp>
      <p:sp>
        <p:nvSpPr>
          <p:cNvPr id="81" name="Shape 74"/>
          <p:cNvSpPr/>
          <p:nvPr/>
        </p:nvSpPr>
        <p:spPr>
          <a:xfrm>
            <a:off x="7120979" y="7554218"/>
            <a:ext cx="1543943" cy="76200"/>
          </a:xfrm>
          <a:prstGeom prst="rect">
            <a:avLst/>
          </a:prstGeom>
          <a:solidFill>
            <a:srgbClr val="6B4FB0"/>
          </a:solidFill>
          <a:ln/>
        </p:spPr>
      </p:sp>
      <p:sp>
        <p:nvSpPr>
          <p:cNvPr id="82" name="Text 75"/>
          <p:cNvSpPr/>
          <p:nvPr/>
        </p:nvSpPr>
        <p:spPr>
          <a:xfrm>
            <a:off x="9007971" y="7349430"/>
            <a:ext cx="442913" cy="185738"/>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47699"/>
                </a:solidFill>
                <a:latin typeface="Courier New" pitchFamily="34" charset="0"/>
                <a:ea typeface="Courier New" pitchFamily="34" charset="-122"/>
                <a:cs typeface="Courier New" pitchFamily="34" charset="-120"/>
              </a:rPr>
              <a:t>DREAD</a:t>
            </a:r>
            <a:endParaRPr lang="en-US" sz="825" dirty="0"/>
          </a:p>
        </p:txBody>
      </p:sp>
      <p:sp>
        <p:nvSpPr>
          <p:cNvPr id="83" name="Text 76"/>
          <p:cNvSpPr/>
          <p:nvPr/>
        </p:nvSpPr>
        <p:spPr>
          <a:xfrm>
            <a:off x="10312003" y="7349430"/>
            <a:ext cx="487710" cy="185738"/>
          </a:xfrm>
          <a:prstGeom prst="rect">
            <a:avLst/>
          </a:prstGeom>
          <a:noFill/>
          <a:ln/>
        </p:spPr>
        <p:txBody>
          <a:bodyPr wrap="square" lIns="25400" tIns="25400" rIns="25400" bIns="25400" rtlCol="0" anchor="t">
            <a:normAutofit/>
          </a:bodyPr>
          <a:lstStyle/>
          <a:p>
            <a:pPr algn="l" indent="0" marL="0">
              <a:buNone/>
            </a:pPr>
            <a:r>
              <a:rPr lang="en-US" sz="900" dirty="0">
                <a:solidFill>
                  <a:srgbClr val="E6DEF2"/>
                </a:solidFill>
                <a:latin typeface="Courier New" pitchFamily="34" charset="0"/>
                <a:ea typeface="Courier New" pitchFamily="34" charset="-122"/>
                <a:cs typeface="Courier New" pitchFamily="34" charset="-120"/>
              </a:rPr>
              <a:t>4 / 10</a:t>
            </a:r>
            <a:endParaRPr lang="en-US" sz="900" dirty="0"/>
          </a:p>
        </p:txBody>
      </p:sp>
      <p:sp>
        <p:nvSpPr>
          <p:cNvPr id="84" name="Shape 77"/>
          <p:cNvSpPr/>
          <p:nvPr/>
        </p:nvSpPr>
        <p:spPr>
          <a:xfrm>
            <a:off x="9007971" y="7554218"/>
            <a:ext cx="1715542" cy="76200"/>
          </a:xfrm>
          <a:prstGeom prst="roundRect">
            <a:avLst>
              <a:gd name="adj" fmla="val 50000"/>
            </a:avLst>
          </a:prstGeom>
          <a:solidFill>
            <a:srgbClr val="100B1B"/>
          </a:solidFill>
          <a:ln/>
        </p:spPr>
      </p:sp>
      <p:sp>
        <p:nvSpPr>
          <p:cNvPr id="85" name="Shape 78"/>
          <p:cNvSpPr/>
          <p:nvPr/>
        </p:nvSpPr>
        <p:spPr>
          <a:xfrm>
            <a:off x="9007971" y="7554218"/>
            <a:ext cx="686172" cy="76200"/>
          </a:xfrm>
          <a:prstGeom prst="rect">
            <a:avLst/>
          </a:prstGeom>
          <a:solidFill>
            <a:srgbClr val="8A1F2A"/>
          </a:solidFill>
          <a:ln/>
        </p:spPr>
      </p:sp>
      <p:sp>
        <p:nvSpPr>
          <p:cNvPr id="86" name="Shape 79"/>
          <p:cNvSpPr/>
          <p:nvPr/>
        </p:nvSpPr>
        <p:spPr>
          <a:xfrm>
            <a:off x="11114038" y="3471863"/>
            <a:ext cx="4206850" cy="2524125"/>
          </a:xfrm>
          <a:prstGeom prst="roundRect">
            <a:avLst>
              <a:gd name="adj" fmla="val 1887"/>
            </a:avLst>
          </a:prstGeom>
          <a:solidFill>
            <a:srgbClr val="161025"/>
          </a:solidFill>
          <a:ln w="9525">
            <a:solidFill>
              <a:srgbClr val="261C3B"/>
            </a:solidFill>
            <a:prstDash val="solid"/>
          </a:ln>
          <a:effectLst>
            <a:outerShdw sx="100000" sy="100000" kx="0" ky="0" algn="bl" rotWithShape="0" blurRad="133350" dist="38100" dir="5400000">
              <a:srgbClr val="000000">
                <a:alpha val="40000"/>
              </a:srgbClr>
            </a:outerShdw>
          </a:effectLst>
        </p:spPr>
      </p:sp>
      <p:sp>
        <p:nvSpPr>
          <p:cNvPr id="87" name="Text 80"/>
          <p:cNvSpPr/>
          <p:nvPr/>
        </p:nvSpPr>
        <p:spPr>
          <a:xfrm>
            <a:off x="11314063" y="3633788"/>
            <a:ext cx="1398828"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B49CE6"/>
                </a:solidFill>
                <a:latin typeface="Courier New" pitchFamily="34" charset="0"/>
                <a:ea typeface="Courier New" pitchFamily="34" charset="-122"/>
                <a:cs typeface="Courier New" pitchFamily="34" charset="-120"/>
              </a:rPr>
              <a:t>KNOWN</a:t>
            </a:r>
            <a:endParaRPr lang="en-US" sz="900" dirty="0"/>
          </a:p>
        </p:txBody>
      </p:sp>
      <p:sp>
        <p:nvSpPr>
          <p:cNvPr id="88" name="Text 81"/>
          <p:cNvSpPr/>
          <p:nvPr/>
        </p:nvSpPr>
        <p:spPr>
          <a:xfrm>
            <a:off x="11314063" y="3838575"/>
            <a:ext cx="1398828"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E6DEF2"/>
                </a:solidFill>
                <a:latin typeface="Georgia" pitchFamily="34" charset="0"/>
                <a:ea typeface="Georgia" pitchFamily="34" charset="-122"/>
                <a:cs typeface="Georgia" pitchFamily="34" charset="-120"/>
              </a:rPr>
              <a:t>Spells &amp; Rites</a:t>
            </a:r>
            <a:endParaRPr lang="en-US" sz="1650" dirty="0"/>
          </a:p>
        </p:txBody>
      </p:sp>
      <p:sp>
        <p:nvSpPr>
          <p:cNvPr id="89" name="Shape 82"/>
          <p:cNvSpPr/>
          <p:nvPr/>
        </p:nvSpPr>
        <p:spPr>
          <a:xfrm>
            <a:off x="11314063" y="4586288"/>
            <a:ext cx="3806800" cy="9525"/>
          </a:xfrm>
          <a:prstGeom prst="rect">
            <a:avLst/>
          </a:prstGeom>
          <a:solidFill>
            <a:srgbClr val="261C3B"/>
          </a:solidFill>
          <a:ln/>
        </p:spPr>
      </p:sp>
      <p:sp>
        <p:nvSpPr>
          <p:cNvPr id="90" name="Text 83"/>
          <p:cNvSpPr/>
          <p:nvPr/>
        </p:nvSpPr>
        <p:spPr>
          <a:xfrm>
            <a:off x="11314063" y="4291013"/>
            <a:ext cx="1562866" cy="257175"/>
          </a:xfrm>
          <a:prstGeom prst="rect">
            <a:avLst/>
          </a:prstGeom>
          <a:noFill/>
          <a:ln/>
        </p:spPr>
        <p:txBody>
          <a:bodyPr wrap="square" lIns="25400" tIns="25400" rIns="25400" bIns="25400" rtlCol="0" anchor="t">
            <a:normAutofit/>
          </a:bodyPr>
          <a:lstStyle/>
          <a:p>
            <a:pPr algn="l" indent="0" marL="0">
              <a:buNone/>
            </a:pPr>
            <a:r>
              <a:rPr lang="en-US" sz="1125" dirty="0">
                <a:solidFill>
                  <a:srgbClr val="E6DEF2"/>
                </a:solidFill>
                <a:latin typeface="Georgia" pitchFamily="34" charset="0"/>
                <a:ea typeface="Georgia" pitchFamily="34" charset="-122"/>
                <a:cs typeface="Georgia" pitchFamily="34" charset="-120"/>
              </a:rPr>
              <a:t>Summon the Drowned</a:t>
            </a:r>
            <a:endParaRPr lang="en-US" sz="1125" dirty="0"/>
          </a:p>
        </p:txBody>
      </p:sp>
      <p:sp>
        <p:nvSpPr>
          <p:cNvPr id="91" name="Text 84"/>
          <p:cNvSpPr/>
          <p:nvPr/>
        </p:nvSpPr>
        <p:spPr>
          <a:xfrm>
            <a:off x="14983644" y="4326731"/>
            <a:ext cx="213420" cy="185738"/>
          </a:xfrm>
          <a:prstGeom prst="rect">
            <a:avLst/>
          </a:prstGeom>
          <a:noFill/>
          <a:ln/>
        </p:spPr>
        <p:txBody>
          <a:bodyPr wrap="square" lIns="25400" tIns="25400" rIns="25400" bIns="25400" rtlCol="0" anchor="t">
            <a:normAutofit/>
          </a:bodyPr>
          <a:lstStyle/>
          <a:p>
            <a:pPr algn="l" indent="0" marL="0">
              <a:buNone/>
            </a:pPr>
            <a:r>
              <a:rPr lang="en-US" sz="900" dirty="0">
                <a:solidFill>
                  <a:srgbClr val="B49CE6"/>
                </a:solidFill>
                <a:latin typeface="Courier New" pitchFamily="34" charset="0"/>
                <a:ea typeface="Courier New" pitchFamily="34" charset="-122"/>
                <a:cs typeface="Courier New" pitchFamily="34" charset="-120"/>
              </a:rPr>
              <a:t>d8</a:t>
            </a:r>
            <a:endParaRPr lang="en-US" sz="900" dirty="0"/>
          </a:p>
        </p:txBody>
      </p:sp>
      <p:sp>
        <p:nvSpPr>
          <p:cNvPr id="92" name="Shape 85"/>
          <p:cNvSpPr/>
          <p:nvPr/>
        </p:nvSpPr>
        <p:spPr>
          <a:xfrm>
            <a:off x="11314063" y="4986338"/>
            <a:ext cx="3806800" cy="9525"/>
          </a:xfrm>
          <a:prstGeom prst="rect">
            <a:avLst/>
          </a:prstGeom>
          <a:solidFill>
            <a:srgbClr val="261C3B"/>
          </a:solidFill>
          <a:ln/>
        </p:spPr>
      </p:sp>
      <p:sp>
        <p:nvSpPr>
          <p:cNvPr id="93" name="Text 86"/>
          <p:cNvSpPr/>
          <p:nvPr/>
        </p:nvSpPr>
        <p:spPr>
          <a:xfrm>
            <a:off x="11314063" y="4691063"/>
            <a:ext cx="696144" cy="257175"/>
          </a:xfrm>
          <a:prstGeom prst="rect">
            <a:avLst/>
          </a:prstGeom>
          <a:noFill/>
          <a:ln/>
        </p:spPr>
        <p:txBody>
          <a:bodyPr wrap="square" lIns="25400" tIns="25400" rIns="25400" bIns="25400" rtlCol="0" anchor="t">
            <a:normAutofit/>
          </a:bodyPr>
          <a:lstStyle/>
          <a:p>
            <a:pPr algn="l" indent="0" marL="0">
              <a:buNone/>
            </a:pPr>
            <a:r>
              <a:rPr lang="en-US" sz="1125" dirty="0">
                <a:solidFill>
                  <a:srgbClr val="E6DEF2"/>
                </a:solidFill>
                <a:latin typeface="Georgia" pitchFamily="34" charset="0"/>
                <a:ea typeface="Georgia" pitchFamily="34" charset="-122"/>
                <a:cs typeface="Georgia" pitchFamily="34" charset="-120"/>
              </a:rPr>
              <a:t>Salt Ward</a:t>
            </a:r>
            <a:endParaRPr lang="en-US" sz="1125" dirty="0"/>
          </a:p>
        </p:txBody>
      </p:sp>
      <p:sp>
        <p:nvSpPr>
          <p:cNvPr id="94" name="Text 87"/>
          <p:cNvSpPr/>
          <p:nvPr/>
        </p:nvSpPr>
        <p:spPr>
          <a:xfrm>
            <a:off x="14983644" y="4726781"/>
            <a:ext cx="213420" cy="185738"/>
          </a:xfrm>
          <a:prstGeom prst="rect">
            <a:avLst/>
          </a:prstGeom>
          <a:noFill/>
          <a:ln/>
        </p:spPr>
        <p:txBody>
          <a:bodyPr wrap="square" lIns="25400" tIns="25400" rIns="25400" bIns="25400" rtlCol="0" anchor="t">
            <a:normAutofit/>
          </a:bodyPr>
          <a:lstStyle/>
          <a:p>
            <a:pPr algn="l" indent="0" marL="0">
              <a:buNone/>
            </a:pPr>
            <a:r>
              <a:rPr lang="en-US" sz="900" dirty="0">
                <a:solidFill>
                  <a:srgbClr val="B49CE6"/>
                </a:solidFill>
                <a:latin typeface="Courier New" pitchFamily="34" charset="0"/>
                <a:ea typeface="Courier New" pitchFamily="34" charset="-122"/>
                <a:cs typeface="Courier New" pitchFamily="34" charset="-120"/>
              </a:rPr>
              <a:t>d4</a:t>
            </a:r>
            <a:endParaRPr lang="en-US" sz="900" dirty="0"/>
          </a:p>
        </p:txBody>
      </p:sp>
      <p:sp>
        <p:nvSpPr>
          <p:cNvPr id="95" name="Shape 88"/>
          <p:cNvSpPr/>
          <p:nvPr/>
        </p:nvSpPr>
        <p:spPr>
          <a:xfrm>
            <a:off x="11314063" y="5386388"/>
            <a:ext cx="3806800" cy="9525"/>
          </a:xfrm>
          <a:prstGeom prst="rect">
            <a:avLst/>
          </a:prstGeom>
          <a:solidFill>
            <a:srgbClr val="261C3B"/>
          </a:solidFill>
          <a:ln/>
        </p:spPr>
      </p:sp>
      <p:sp>
        <p:nvSpPr>
          <p:cNvPr id="96" name="Text 89"/>
          <p:cNvSpPr/>
          <p:nvPr/>
        </p:nvSpPr>
        <p:spPr>
          <a:xfrm>
            <a:off x="11314063" y="5091113"/>
            <a:ext cx="1051247" cy="257175"/>
          </a:xfrm>
          <a:prstGeom prst="rect">
            <a:avLst/>
          </a:prstGeom>
          <a:noFill/>
          <a:ln/>
        </p:spPr>
        <p:txBody>
          <a:bodyPr wrap="square" lIns="25400" tIns="25400" rIns="25400" bIns="25400" rtlCol="0" anchor="t">
            <a:normAutofit/>
          </a:bodyPr>
          <a:lstStyle/>
          <a:p>
            <a:pPr algn="l" indent="0" marL="0">
              <a:buNone/>
            </a:pPr>
            <a:r>
              <a:rPr lang="en-US" sz="1125" dirty="0">
                <a:solidFill>
                  <a:srgbClr val="E6DEF2"/>
                </a:solidFill>
                <a:latin typeface="Georgia" pitchFamily="34" charset="0"/>
                <a:ea typeface="Georgia" pitchFamily="34" charset="-122"/>
                <a:cs typeface="Georgia" pitchFamily="34" charset="-120"/>
              </a:rPr>
              <a:t>Read the Bones</a:t>
            </a:r>
            <a:endParaRPr lang="en-US" sz="1125" dirty="0"/>
          </a:p>
        </p:txBody>
      </p:sp>
      <p:sp>
        <p:nvSpPr>
          <p:cNvPr id="97" name="Text 90"/>
          <p:cNvSpPr/>
          <p:nvPr/>
        </p:nvSpPr>
        <p:spPr>
          <a:xfrm>
            <a:off x="15052253" y="5126831"/>
            <a:ext cx="144810" cy="185738"/>
          </a:xfrm>
          <a:prstGeom prst="rect">
            <a:avLst/>
          </a:prstGeom>
          <a:noFill/>
          <a:ln/>
        </p:spPr>
        <p:txBody>
          <a:bodyPr wrap="square" lIns="25400" tIns="25400" rIns="25400" bIns="25400" rtlCol="0" anchor="t">
            <a:normAutofit/>
          </a:bodyPr>
          <a:lstStyle/>
          <a:p>
            <a:pPr algn="l" indent="0" marL="0">
              <a:buNone/>
            </a:pPr>
            <a:r>
              <a:rPr lang="en-US" sz="900" dirty="0">
                <a:solidFill>
                  <a:srgbClr val="B49CE6"/>
                </a:solidFill>
                <a:latin typeface="Courier New" pitchFamily="34" charset="0"/>
                <a:ea typeface="Courier New" pitchFamily="34" charset="-122"/>
                <a:cs typeface="Courier New" pitchFamily="34" charset="-120"/>
              </a:rPr>
              <a:t>—</a:t>
            </a:r>
            <a:endParaRPr lang="en-US" sz="900" dirty="0"/>
          </a:p>
        </p:txBody>
      </p:sp>
      <p:sp>
        <p:nvSpPr>
          <p:cNvPr id="98" name="Shape 91"/>
          <p:cNvSpPr/>
          <p:nvPr/>
        </p:nvSpPr>
        <p:spPr>
          <a:xfrm>
            <a:off x="11314063" y="5786438"/>
            <a:ext cx="3806800" cy="9525"/>
          </a:xfrm>
          <a:prstGeom prst="rect">
            <a:avLst/>
          </a:prstGeom>
          <a:solidFill>
            <a:srgbClr val="261C3B"/>
          </a:solidFill>
          <a:ln/>
        </p:spPr>
      </p:sp>
      <p:sp>
        <p:nvSpPr>
          <p:cNvPr id="99" name="Text 92"/>
          <p:cNvSpPr/>
          <p:nvPr/>
        </p:nvSpPr>
        <p:spPr>
          <a:xfrm>
            <a:off x="11314063" y="5491163"/>
            <a:ext cx="951309" cy="257175"/>
          </a:xfrm>
          <a:prstGeom prst="rect">
            <a:avLst/>
          </a:prstGeom>
          <a:noFill/>
          <a:ln/>
        </p:spPr>
        <p:txBody>
          <a:bodyPr wrap="square" lIns="25400" tIns="25400" rIns="25400" bIns="25400" rtlCol="0" anchor="t">
            <a:normAutofit/>
          </a:bodyPr>
          <a:lstStyle/>
          <a:p>
            <a:pPr algn="l" indent="0" marL="0">
              <a:buNone/>
            </a:pPr>
            <a:r>
              <a:rPr lang="en-US" sz="1125" dirty="0">
                <a:solidFill>
                  <a:srgbClr val="E6DEF2"/>
                </a:solidFill>
                <a:latin typeface="Georgia" pitchFamily="34" charset="0"/>
                <a:ea typeface="Georgia" pitchFamily="34" charset="-122"/>
                <a:cs typeface="Georgia" pitchFamily="34" charset="-120"/>
              </a:rPr>
              <a:t>Cold Whisper</a:t>
            </a:r>
            <a:endParaRPr lang="en-US" sz="1125" dirty="0"/>
          </a:p>
        </p:txBody>
      </p:sp>
      <p:sp>
        <p:nvSpPr>
          <p:cNvPr id="100" name="Text 93"/>
          <p:cNvSpPr/>
          <p:nvPr/>
        </p:nvSpPr>
        <p:spPr>
          <a:xfrm>
            <a:off x="14983644" y="5526881"/>
            <a:ext cx="213420" cy="185738"/>
          </a:xfrm>
          <a:prstGeom prst="rect">
            <a:avLst/>
          </a:prstGeom>
          <a:noFill/>
          <a:ln/>
        </p:spPr>
        <p:txBody>
          <a:bodyPr wrap="square" lIns="25400" tIns="25400" rIns="25400" bIns="25400" rtlCol="0" anchor="t">
            <a:normAutofit/>
          </a:bodyPr>
          <a:lstStyle/>
          <a:p>
            <a:pPr algn="l" indent="0" marL="0">
              <a:buNone/>
            </a:pPr>
            <a:r>
              <a:rPr lang="en-US" sz="900" dirty="0">
                <a:solidFill>
                  <a:srgbClr val="B49CE6"/>
                </a:solidFill>
                <a:latin typeface="Courier New" pitchFamily="34" charset="0"/>
                <a:ea typeface="Courier New" pitchFamily="34" charset="-122"/>
                <a:cs typeface="Courier New" pitchFamily="34" charset="-120"/>
              </a:rPr>
              <a:t>d6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4886035"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TTRPG · PLAYER</a:t>
            </a:r>
            <a:endParaRPr lang="en-US" sz="1275" dirty="0"/>
          </a:p>
        </p:txBody>
      </p:sp>
      <p:sp>
        <p:nvSpPr>
          <p:cNvPr id="4" name="Text 2"/>
          <p:cNvSpPr/>
          <p:nvPr/>
        </p:nvSpPr>
        <p:spPr>
          <a:xfrm>
            <a:off x="533400" y="766763"/>
            <a:ext cx="4886035"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Player Card (Blue Skin)</a:t>
            </a:r>
            <a:endParaRPr lang="en-US" sz="3450" dirty="0"/>
          </a:p>
        </p:txBody>
      </p:sp>
      <p:sp>
        <p:nvSpPr>
          <p:cNvPr id="5" name="Shape 3"/>
          <p:cNvSpPr/>
          <p:nvPr/>
        </p:nvSpPr>
        <p:spPr>
          <a:xfrm>
            <a:off x="15589523" y="438150"/>
            <a:ext cx="2165077" cy="381000"/>
          </a:xfrm>
          <a:prstGeom prst="roundRect">
            <a:avLst>
              <a:gd name="adj" fmla="val 50000"/>
            </a:avLst>
          </a:prstGeom>
          <a:solidFill>
            <a:srgbClr val="111824"/>
          </a:solidFill>
          <a:ln w="9525">
            <a:solidFill>
              <a:srgbClr val="243349"/>
            </a:solidFill>
            <a:prstDash val="solid"/>
          </a:ln>
        </p:spPr>
      </p:sp>
      <p:sp>
        <p:nvSpPr>
          <p:cNvPr id="6" name="Shape 4"/>
          <p:cNvSpPr/>
          <p:nvPr/>
        </p:nvSpPr>
        <p:spPr>
          <a:xfrm>
            <a:off x="15703823" y="533400"/>
            <a:ext cx="190500" cy="190500"/>
          </a:xfrm>
          <a:prstGeom prst="ellipse">
            <a:avLst/>
          </a:prstGeom>
          <a:solidFill>
            <a:srgbClr val="080C12"/>
          </a:solidFill>
          <a:ln w="9525">
            <a:solidFill>
              <a:srgbClr val="FFFFFF">
                <a:alpha val="18000"/>
              </a:srgbClr>
            </a:solidFill>
            <a:prstDash val="solid"/>
          </a:ln>
        </p:spPr>
      </p:sp>
      <p:sp>
        <p:nvSpPr>
          <p:cNvPr id="7" name="Text 5"/>
          <p:cNvSpPr/>
          <p:nvPr/>
        </p:nvSpPr>
        <p:spPr>
          <a:xfrm>
            <a:off x="15989573" y="533400"/>
            <a:ext cx="1679302" cy="228600"/>
          </a:xfrm>
          <a:prstGeom prst="rect">
            <a:avLst/>
          </a:prstGeom>
          <a:noFill/>
          <a:ln/>
        </p:spPr>
        <p:txBody>
          <a:bodyPr wrap="none" lIns="0" tIns="0" rIns="0" bIns="0" rtlCol="0" anchor="t">
            <a:normAutofit/>
          </a:bodyPr>
          <a:lstStyle/>
          <a:p>
            <a:pPr algn="l" indent="0" marL="0">
              <a:buNone/>
            </a:pPr>
            <a:r>
              <a:rPr lang="en-US" sz="1125" spc="68" kern="0" dirty="0">
                <a:solidFill>
                  <a:srgbClr val="A7BACE"/>
                </a:solidFill>
                <a:latin typeface="Courier New" pitchFamily="34" charset="0"/>
                <a:ea typeface="Courier New" pitchFamily="34" charset="-122"/>
                <a:cs typeface="Courier New" pitchFamily="34" charset="-120"/>
              </a:rPr>
              <a:t>Blue · ttrpg-blue</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80C12"/>
          </a:solidFill>
          <a:ln/>
        </p:spPr>
      </p:sp>
      <p:sp>
        <p:nvSpPr>
          <p:cNvPr id="10" name="Shape 8"/>
          <p:cNvSpPr/>
          <p:nvPr/>
        </p:nvSpPr>
        <p:spPr>
          <a:xfrm>
            <a:off x="542925" y="1462088"/>
            <a:ext cx="2066925" cy="8320088"/>
          </a:xfrm>
          <a:prstGeom prst="rect">
            <a:avLst/>
          </a:prstGeom>
          <a:solidFill>
            <a:srgbClr val="0C121B"/>
          </a:solidFill>
          <a:ln/>
        </p:spPr>
      </p:sp>
      <p:sp>
        <p:nvSpPr>
          <p:cNvPr id="11" name="Shape 9"/>
          <p:cNvSpPr/>
          <p:nvPr/>
        </p:nvSpPr>
        <p:spPr>
          <a:xfrm>
            <a:off x="2600325" y="1462088"/>
            <a:ext cx="9525" cy="8320088"/>
          </a:xfrm>
          <a:prstGeom prst="rect">
            <a:avLst/>
          </a:prstGeom>
          <a:solidFill>
            <a:srgbClr val="1B2738"/>
          </a:solidFill>
          <a:ln/>
        </p:spPr>
      </p:sp>
      <p:sp>
        <p:nvSpPr>
          <p:cNvPr id="12" name="Shape 10"/>
          <p:cNvSpPr/>
          <p:nvPr/>
        </p:nvSpPr>
        <p:spPr>
          <a:xfrm>
            <a:off x="542925" y="2071688"/>
            <a:ext cx="2057400" cy="9525"/>
          </a:xfrm>
          <a:prstGeom prst="rect">
            <a:avLst/>
          </a:prstGeom>
          <a:solidFill>
            <a:srgbClr val="1B2738"/>
          </a:solidFill>
          <a:ln/>
        </p:spPr>
      </p:sp>
      <p:sp>
        <p:nvSpPr>
          <p:cNvPr id="13" name="Text 11"/>
          <p:cNvSpPr/>
          <p:nvPr/>
        </p:nvSpPr>
        <p:spPr>
          <a:xfrm>
            <a:off x="733425" y="1671638"/>
            <a:ext cx="265137"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8BC2E6"/>
                </a:solidFill>
                <a:latin typeface="Georgia" pitchFamily="34" charset="0"/>
                <a:ea typeface="Georgia" pitchFamily="34" charset="-122"/>
                <a:cs typeface="Georgia" pitchFamily="34" charset="-120"/>
              </a:rPr>
              <a:t>ᛜ</a:t>
            </a:r>
            <a:endParaRPr lang="en-US" sz="1350" dirty="0"/>
          </a:p>
        </p:txBody>
      </p:sp>
      <p:sp>
        <p:nvSpPr>
          <p:cNvPr id="14" name="Text 12"/>
          <p:cNvSpPr/>
          <p:nvPr/>
        </p:nvSpPr>
        <p:spPr>
          <a:xfrm>
            <a:off x="1017612" y="1702594"/>
            <a:ext cx="930399" cy="204787"/>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DCE6F0"/>
                </a:solidFill>
                <a:latin typeface="Georgia" pitchFamily="34" charset="0"/>
                <a:ea typeface="Georgia" pitchFamily="34" charset="-122"/>
                <a:cs typeface="Georgia" pitchFamily="34" charset="-120"/>
              </a:rPr>
              <a:t>THE TABLE</a:t>
            </a:r>
            <a:endParaRPr lang="en-US" sz="1125" dirty="0"/>
          </a:p>
        </p:txBody>
      </p:sp>
      <p:sp>
        <p:nvSpPr>
          <p:cNvPr id="15" name="Shape 13"/>
          <p:cNvSpPr/>
          <p:nvPr/>
        </p:nvSpPr>
        <p:spPr>
          <a:xfrm>
            <a:off x="657225" y="2195513"/>
            <a:ext cx="1828800" cy="409575"/>
          </a:xfrm>
          <a:prstGeom prst="roundRect">
            <a:avLst>
              <a:gd name="adj" fmla="val 6977"/>
            </a:avLst>
          </a:prstGeom>
          <a:solidFill>
            <a:srgbClr val="16202F"/>
          </a:solidFill>
          <a:ln/>
        </p:spPr>
      </p:sp>
      <p:sp>
        <p:nvSpPr>
          <p:cNvPr id="16" name="Shape 14"/>
          <p:cNvSpPr/>
          <p:nvPr/>
        </p:nvSpPr>
        <p:spPr>
          <a:xfrm>
            <a:off x="657225" y="2195513"/>
            <a:ext cx="19050" cy="409575"/>
          </a:xfrm>
          <a:prstGeom prst="rect">
            <a:avLst/>
          </a:prstGeom>
          <a:solidFill>
            <a:srgbClr val="3E78A8"/>
          </a:solidFill>
          <a:ln/>
        </p:spPr>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8" name="Text 15"/>
          <p:cNvSpPr/>
          <p:nvPr/>
        </p:nvSpPr>
        <p:spPr>
          <a:xfrm>
            <a:off x="1057275" y="2290763"/>
            <a:ext cx="818927" cy="257175"/>
          </a:xfrm>
          <a:prstGeom prst="rect">
            <a:avLst/>
          </a:prstGeom>
          <a:noFill/>
          <a:ln/>
        </p:spPr>
        <p:txBody>
          <a:bodyPr wrap="square" lIns="0" tIns="0" rIns="0" bIns="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Player Card</a:t>
            </a:r>
            <a:endParaRPr lang="en-US" sz="1125" dirty="0"/>
          </a:p>
        </p:txBody>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20" name="Text 16"/>
          <p:cNvSpPr/>
          <p:nvPr/>
        </p:nvSpPr>
        <p:spPr>
          <a:xfrm>
            <a:off x="1057275" y="2719388"/>
            <a:ext cx="369243"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Dice</a:t>
            </a:r>
            <a:endParaRPr lang="en-US" sz="1125"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2" name="Text 17"/>
          <p:cNvSpPr/>
          <p:nvPr/>
        </p:nvSpPr>
        <p:spPr>
          <a:xfrm>
            <a:off x="1057275" y="3148013"/>
            <a:ext cx="539874"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Graphs</a:t>
            </a:r>
            <a:endParaRPr lang="en-US" sz="1125"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4" name="Text 18"/>
          <p:cNvSpPr/>
          <p:nvPr/>
        </p:nvSpPr>
        <p:spPr>
          <a:xfrm>
            <a:off x="1057275" y="3576638"/>
            <a:ext cx="488826"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Tables</a:t>
            </a:r>
            <a:endParaRPr lang="en-US" sz="1125" dirty="0"/>
          </a:p>
        </p:txBody>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0575" y="4033837"/>
            <a:ext cx="161925" cy="161925"/>
          </a:xfrm>
          <a:prstGeom prst="rect">
            <a:avLst/>
          </a:prstGeom>
        </p:spPr>
      </p:pic>
      <p:sp>
        <p:nvSpPr>
          <p:cNvPr id="26" name="Text 19"/>
          <p:cNvSpPr/>
          <p:nvPr/>
        </p:nvSpPr>
        <p:spPr>
          <a:xfrm>
            <a:off x="1057275" y="4005262"/>
            <a:ext cx="703734"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Chronicle</a:t>
            </a:r>
            <a:endParaRPr lang="en-US" sz="1125" dirty="0"/>
          </a:p>
        </p:txBody>
      </p:sp>
      <p:sp>
        <p:nvSpPr>
          <p:cNvPr id="27" name="Shape 20"/>
          <p:cNvSpPr/>
          <p:nvPr/>
        </p:nvSpPr>
        <p:spPr>
          <a:xfrm>
            <a:off x="2609850" y="1462088"/>
            <a:ext cx="15135225" cy="504825"/>
          </a:xfrm>
          <a:prstGeom prst="rect">
            <a:avLst/>
          </a:prstGeom>
          <a:solidFill>
            <a:srgbClr val="080C12"/>
          </a:solidFill>
          <a:ln/>
        </p:spPr>
      </p:sp>
      <p:sp>
        <p:nvSpPr>
          <p:cNvPr id="28" name="Shape 21"/>
          <p:cNvSpPr/>
          <p:nvPr/>
        </p:nvSpPr>
        <p:spPr>
          <a:xfrm>
            <a:off x="2609850" y="1957388"/>
            <a:ext cx="15135225" cy="9525"/>
          </a:xfrm>
          <a:prstGeom prst="rect">
            <a:avLst/>
          </a:prstGeom>
          <a:solidFill>
            <a:srgbClr val="1B2738"/>
          </a:solidFill>
          <a:ln/>
        </p:spPr>
      </p:sp>
      <p:sp>
        <p:nvSpPr>
          <p:cNvPr id="29" name="Text 22"/>
          <p:cNvSpPr/>
          <p:nvPr/>
        </p:nvSpPr>
        <p:spPr>
          <a:xfrm>
            <a:off x="2819400" y="1640681"/>
            <a:ext cx="1751871"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6C8199"/>
                </a:solidFill>
                <a:latin typeface="Courier New" pitchFamily="34" charset="0"/>
                <a:ea typeface="Courier New" pitchFamily="34" charset="-122"/>
                <a:cs typeface="Courier New" pitchFamily="34" charset="-120"/>
              </a:rPr>
              <a:t>TTRPG · SESSION XII</a:t>
            </a:r>
            <a:endParaRPr lang="en-US" sz="825" dirty="0"/>
          </a:p>
        </p:txBody>
      </p:sp>
      <p:sp>
        <p:nvSpPr>
          <p:cNvPr id="30" name="Text 23"/>
          <p:cNvSpPr/>
          <p:nvPr/>
        </p:nvSpPr>
        <p:spPr>
          <a:xfrm>
            <a:off x="16659597" y="1640681"/>
            <a:ext cx="952128"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8BC2E6"/>
                </a:solidFill>
                <a:latin typeface="Courier New" pitchFamily="34" charset="0"/>
                <a:ea typeface="Courier New" pitchFamily="34" charset="-122"/>
                <a:cs typeface="Courier New" pitchFamily="34" charset="-120"/>
              </a:rPr>
              <a:t>Player Card</a:t>
            </a:r>
            <a:endParaRPr lang="en-US" sz="825" dirty="0"/>
          </a:p>
        </p:txBody>
      </p:sp>
      <p:sp>
        <p:nvSpPr>
          <p:cNvPr id="31" name="Shape 24"/>
          <p:cNvSpPr/>
          <p:nvPr/>
        </p:nvSpPr>
        <p:spPr>
          <a:xfrm>
            <a:off x="2609850" y="1966912"/>
            <a:ext cx="15135225" cy="7815263"/>
          </a:xfrm>
          <a:prstGeom prst="rect">
            <a:avLst/>
          </a:prstGeom>
          <a:gradFill rotWithShape="1">
            <a:gsLst>
              <a:gs pos="0">
                <a:srgbClr val="FFFFFF">
                  <a:alpha val="2000"/>
                </a:srgbClr>
              </a:gs>
              <a:gs pos="100000">
                <a:srgbClr val="FFFFFF">
                  <a:alpha val="0"/>
                </a:srgbClr>
              </a:gs>
            </a:gsLst>
            <a:lin ang="5400000" scaled="0"/>
          </a:gradFill>
          <a:ln/>
        </p:spPr>
      </p:sp>
      <p:sp>
        <p:nvSpPr>
          <p:cNvPr id="32" name="Shape 25"/>
          <p:cNvSpPr/>
          <p:nvPr/>
        </p:nvSpPr>
        <p:spPr>
          <a:xfrm>
            <a:off x="5033963" y="2271713"/>
            <a:ext cx="952500" cy="952500"/>
          </a:xfrm>
          <a:prstGeom prst="roundRect">
            <a:avLst>
              <a:gd name="adj" fmla="val 3000"/>
            </a:avLst>
          </a:prstGeom>
          <a:solidFill>
            <a:srgbClr val="16202F"/>
          </a:solidFill>
          <a:ln w="19050">
            <a:solidFill>
              <a:srgbClr val="3E78A8"/>
            </a:solidFill>
            <a:prstDash val="solid"/>
          </a:ln>
          <a:effectLst>
            <a:outerShdw sx="100000" sy="100000" kx="0" ky="0" algn="bl" rotWithShape="0" blurRad="19050" dist="9525" dir="5400000">
              <a:srgbClr val="000000">
                <a:alpha val="35000"/>
              </a:srgbClr>
            </a:outerShdw>
          </a:effectLst>
        </p:spPr>
      </p:sp>
      <p:sp>
        <p:nvSpPr>
          <p:cNvPr id="33" name="Text 26"/>
          <p:cNvSpPr/>
          <p:nvPr/>
        </p:nvSpPr>
        <p:spPr>
          <a:xfrm>
            <a:off x="5014912" y="2290763"/>
            <a:ext cx="990600" cy="952500"/>
          </a:xfrm>
          <a:prstGeom prst="rect">
            <a:avLst/>
          </a:prstGeom>
          <a:noFill/>
          <a:ln/>
        </p:spPr>
        <p:txBody>
          <a:bodyPr wrap="square" lIns="25400" tIns="25400" rIns="25400" bIns="25400" rtlCol="0" anchor="ctr">
            <a:normAutofit/>
          </a:bodyPr>
          <a:lstStyle/>
          <a:p>
            <a:pPr algn="ctr" indent="0" marL="0">
              <a:buNone/>
            </a:pPr>
            <a:r>
              <a:rPr lang="en-US" sz="2850" b="1" dirty="0">
                <a:solidFill>
                  <a:srgbClr val="A7BACE"/>
                </a:solidFill>
                <a:latin typeface="Georgia" pitchFamily="34" charset="0"/>
                <a:ea typeface="Georgia" pitchFamily="34" charset="-122"/>
                <a:cs typeface="Georgia" pitchFamily="34" charset="-120"/>
              </a:rPr>
              <a:t>KN</a:t>
            </a:r>
            <a:endParaRPr lang="en-US" sz="2850" dirty="0"/>
          </a:p>
        </p:txBody>
      </p:sp>
      <p:sp>
        <p:nvSpPr>
          <p:cNvPr id="34" name="Shape 27"/>
          <p:cNvSpPr/>
          <p:nvPr/>
        </p:nvSpPr>
        <p:spPr>
          <a:xfrm>
            <a:off x="5720209" y="2957959"/>
            <a:ext cx="275779" cy="275779"/>
          </a:xfrm>
          <a:prstGeom prst="ellipse">
            <a:avLst/>
          </a:prstGeom>
          <a:solidFill>
            <a:srgbClr val="5B7A4E"/>
          </a:solidFill>
          <a:ln w="19050">
            <a:solidFill>
              <a:srgbClr val="111824"/>
            </a:solidFill>
            <a:prstDash val="solid"/>
          </a:ln>
        </p:spPr>
      </p:sp>
      <p:sp>
        <p:nvSpPr>
          <p:cNvPr id="35" name="Text 28"/>
          <p:cNvSpPr/>
          <p:nvPr/>
        </p:nvSpPr>
        <p:spPr>
          <a:xfrm>
            <a:off x="6157913" y="2301255"/>
            <a:ext cx="10079355"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DCE6F0"/>
                </a:solidFill>
                <a:latin typeface="Georgia" pitchFamily="34" charset="0"/>
                <a:ea typeface="Georgia" pitchFamily="34" charset="-122"/>
                <a:cs typeface="Georgia" pitchFamily="34" charset="-120"/>
              </a:rPr>
              <a:t>Kára Nightveil</a:t>
            </a:r>
            <a:endParaRPr lang="en-US" sz="2700" dirty="0"/>
          </a:p>
        </p:txBody>
      </p:sp>
      <p:sp>
        <p:nvSpPr>
          <p:cNvPr id="36" name="Text 29"/>
          <p:cNvSpPr/>
          <p:nvPr/>
        </p:nvSpPr>
        <p:spPr>
          <a:xfrm>
            <a:off x="6157913" y="2691780"/>
            <a:ext cx="10079355" cy="209550"/>
          </a:xfrm>
          <a:prstGeom prst="rect">
            <a:avLst/>
          </a:prstGeom>
          <a:noFill/>
          <a:ln/>
        </p:spPr>
        <p:txBody>
          <a:bodyPr wrap="square" lIns="25400" tIns="25400" rIns="25400" bIns="25400" rtlCol="0" anchor="t">
            <a:normAutofit/>
          </a:bodyPr>
          <a:lstStyle/>
          <a:p>
            <a:pPr algn="l" indent="0" marL="0">
              <a:buNone/>
            </a:pPr>
            <a:r>
              <a:rPr lang="en-US" sz="1200" i="1" dirty="0">
                <a:solidFill>
                  <a:srgbClr val="6C8199"/>
                </a:solidFill>
                <a:latin typeface="Georgia" pitchFamily="34" charset="0"/>
                <a:ea typeface="Georgia" pitchFamily="34" charset="-122"/>
                <a:cs typeface="Georgia" pitchFamily="34" charset="-120"/>
              </a:rPr>
              <a:t>Reader of the drowned · House Ash</a:t>
            </a:r>
            <a:endParaRPr lang="en-US" sz="1200" dirty="0"/>
          </a:p>
        </p:txBody>
      </p:sp>
      <p:sp>
        <p:nvSpPr>
          <p:cNvPr id="37" name="Shape 30"/>
          <p:cNvSpPr/>
          <p:nvPr/>
        </p:nvSpPr>
        <p:spPr>
          <a:xfrm>
            <a:off x="6157913" y="2977530"/>
            <a:ext cx="816918" cy="217140"/>
          </a:xfrm>
          <a:prstGeom prst="roundRect">
            <a:avLst>
              <a:gd name="adj" fmla="val 50000"/>
            </a:avLst>
          </a:prstGeom>
          <a:solidFill>
            <a:srgbClr val="3E78A8">
              <a:alpha val="18000"/>
            </a:srgbClr>
          </a:solidFill>
          <a:ln/>
        </p:spPr>
      </p:sp>
      <p:sp>
        <p:nvSpPr>
          <p:cNvPr id="38" name="Shape 31"/>
          <p:cNvSpPr/>
          <p:nvPr/>
        </p:nvSpPr>
        <p:spPr>
          <a:xfrm>
            <a:off x="6253163" y="3057525"/>
            <a:ext cx="57150" cy="57150"/>
          </a:xfrm>
          <a:prstGeom prst="ellipse">
            <a:avLst/>
          </a:prstGeom>
          <a:solidFill>
            <a:srgbClr val="8BC2E6"/>
          </a:solidFill>
          <a:ln/>
        </p:spPr>
      </p:sp>
      <p:sp>
        <p:nvSpPr>
          <p:cNvPr id="39" name="Text 32"/>
          <p:cNvSpPr/>
          <p:nvPr/>
        </p:nvSpPr>
        <p:spPr>
          <a:xfrm>
            <a:off x="6367463" y="3006105"/>
            <a:ext cx="588318"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8BC2E6"/>
                </a:solidFill>
                <a:latin typeface="Courier New" pitchFamily="34" charset="0"/>
                <a:ea typeface="Courier New" pitchFamily="34" charset="-122"/>
                <a:cs typeface="Courier New" pitchFamily="34" charset="-120"/>
              </a:rPr>
              <a:t>LEVEL 6</a:t>
            </a:r>
            <a:endParaRPr lang="en-US" sz="900" dirty="0"/>
          </a:p>
        </p:txBody>
      </p:sp>
      <p:sp>
        <p:nvSpPr>
          <p:cNvPr id="40" name="Shape 33"/>
          <p:cNvSpPr/>
          <p:nvPr/>
        </p:nvSpPr>
        <p:spPr>
          <a:xfrm>
            <a:off x="7051030" y="2977530"/>
            <a:ext cx="995214" cy="217140"/>
          </a:xfrm>
          <a:prstGeom prst="roundRect">
            <a:avLst>
              <a:gd name="adj" fmla="val 50000"/>
            </a:avLst>
          </a:prstGeom>
          <a:ln w="9525">
            <a:solidFill>
              <a:srgbClr val="C99A5B"/>
            </a:solidFill>
            <a:prstDash val="solid"/>
          </a:ln>
        </p:spPr>
      </p:sp>
      <p:sp>
        <p:nvSpPr>
          <p:cNvPr id="41" name="Text 34"/>
          <p:cNvSpPr/>
          <p:nvPr/>
        </p:nvSpPr>
        <p:spPr>
          <a:xfrm>
            <a:off x="7146280" y="3006105"/>
            <a:ext cx="880914"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E0BA80"/>
                </a:solidFill>
                <a:latin typeface="Courier New" pitchFamily="34" charset="0"/>
                <a:ea typeface="Courier New" pitchFamily="34" charset="-122"/>
                <a:cs typeface="Courier New" pitchFamily="34" charset="-120"/>
              </a:rPr>
              <a:t>NECROMANCER</a:t>
            </a:r>
            <a:endParaRPr lang="en-US" sz="900" dirty="0"/>
          </a:p>
        </p:txBody>
      </p:sp>
      <p:sp>
        <p:nvSpPr>
          <p:cNvPr id="42" name="Shape 35"/>
          <p:cNvSpPr/>
          <p:nvPr/>
        </p:nvSpPr>
        <p:spPr>
          <a:xfrm>
            <a:off x="8122444" y="2977530"/>
            <a:ext cx="670620" cy="217140"/>
          </a:xfrm>
          <a:prstGeom prst="roundRect">
            <a:avLst>
              <a:gd name="adj" fmla="val 50000"/>
            </a:avLst>
          </a:prstGeom>
          <a:solidFill>
            <a:srgbClr val="5B7A4E">
              <a:alpha val="16000"/>
            </a:srgbClr>
          </a:solidFill>
          <a:ln/>
        </p:spPr>
      </p:sp>
      <p:sp>
        <p:nvSpPr>
          <p:cNvPr id="43" name="Shape 36"/>
          <p:cNvSpPr/>
          <p:nvPr/>
        </p:nvSpPr>
        <p:spPr>
          <a:xfrm>
            <a:off x="8217694" y="3057525"/>
            <a:ext cx="57150" cy="57150"/>
          </a:xfrm>
          <a:prstGeom prst="ellipse">
            <a:avLst/>
          </a:prstGeom>
          <a:solidFill>
            <a:srgbClr val="5B7A4E"/>
          </a:solidFill>
          <a:ln/>
        </p:spPr>
      </p:sp>
      <p:sp>
        <p:nvSpPr>
          <p:cNvPr id="44" name="Text 37"/>
          <p:cNvSpPr/>
          <p:nvPr/>
        </p:nvSpPr>
        <p:spPr>
          <a:xfrm>
            <a:off x="8331994" y="3006105"/>
            <a:ext cx="442020"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45" name="Shape 38"/>
          <p:cNvSpPr/>
          <p:nvPr/>
        </p:nvSpPr>
        <p:spPr>
          <a:xfrm>
            <a:off x="5033963" y="3471863"/>
            <a:ext cx="5889575" cy="3072705"/>
          </a:xfrm>
          <a:prstGeom prst="roundRect">
            <a:avLst>
              <a:gd name="adj" fmla="val 1550"/>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46" name="Text 39"/>
          <p:cNvSpPr/>
          <p:nvPr/>
        </p:nvSpPr>
        <p:spPr>
          <a:xfrm>
            <a:off x="5233988" y="3633788"/>
            <a:ext cx="2876729"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BC2E6"/>
                </a:solidFill>
                <a:latin typeface="Courier New" pitchFamily="34" charset="0"/>
                <a:ea typeface="Courier New" pitchFamily="34" charset="-122"/>
                <a:cs typeface="Courier New" pitchFamily="34" charset="-120"/>
              </a:rPr>
              <a:t>THE BONES OF THE CHARACTER</a:t>
            </a:r>
            <a:endParaRPr lang="en-US" sz="900" dirty="0"/>
          </a:p>
        </p:txBody>
      </p:sp>
      <p:sp>
        <p:nvSpPr>
          <p:cNvPr id="47" name="Text 40"/>
          <p:cNvSpPr/>
          <p:nvPr/>
        </p:nvSpPr>
        <p:spPr>
          <a:xfrm>
            <a:off x="5233988" y="3838575"/>
            <a:ext cx="2876729"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DCE6F0"/>
                </a:solidFill>
                <a:latin typeface="Georgia" pitchFamily="34" charset="0"/>
                <a:ea typeface="Georgia" pitchFamily="34" charset="-122"/>
                <a:cs typeface="Georgia" pitchFamily="34" charset="-120"/>
              </a:rPr>
              <a:t>Attributes</a:t>
            </a:r>
            <a:endParaRPr lang="en-US" sz="1650" dirty="0"/>
          </a:p>
        </p:txBody>
      </p:sp>
      <p:sp>
        <p:nvSpPr>
          <p:cNvPr id="48" name="Shape 41"/>
          <p:cNvSpPr/>
          <p:nvPr/>
        </p:nvSpPr>
        <p:spPr>
          <a:xfrm>
            <a:off x="5233988" y="4291013"/>
            <a:ext cx="1753642" cy="969615"/>
          </a:xfrm>
          <a:prstGeom prst="roundRect">
            <a:avLst>
              <a:gd name="adj" fmla="val 2947"/>
            </a:avLst>
          </a:prstGeom>
          <a:solidFill>
            <a:srgbClr val="0C121B"/>
          </a:solidFill>
          <a:ln w="9525">
            <a:solidFill>
              <a:srgbClr val="1B2738"/>
            </a:solidFill>
            <a:prstDash val="solid"/>
          </a:ln>
        </p:spPr>
      </p:sp>
      <p:sp>
        <p:nvSpPr>
          <p:cNvPr id="49" name="Text 42"/>
          <p:cNvSpPr/>
          <p:nvPr/>
        </p:nvSpPr>
        <p:spPr>
          <a:xfrm>
            <a:off x="5303468" y="4414838"/>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C8199"/>
                </a:solidFill>
                <a:latin typeface="Courier New" pitchFamily="34" charset="0"/>
                <a:ea typeface="Courier New" pitchFamily="34" charset="-122"/>
                <a:cs typeface="Courier New" pitchFamily="34" charset="-120"/>
              </a:rPr>
              <a:t>STR</a:t>
            </a:r>
            <a:endParaRPr lang="en-US" sz="900" dirty="0"/>
          </a:p>
        </p:txBody>
      </p:sp>
      <p:sp>
        <p:nvSpPr>
          <p:cNvPr id="50" name="Text 43"/>
          <p:cNvSpPr/>
          <p:nvPr/>
        </p:nvSpPr>
        <p:spPr>
          <a:xfrm>
            <a:off x="5303468" y="4581525"/>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DCE6F0"/>
                </a:solidFill>
                <a:latin typeface="Georgia" pitchFamily="34" charset="0"/>
                <a:ea typeface="Georgia" pitchFamily="34" charset="-122"/>
                <a:cs typeface="Georgia" pitchFamily="34" charset="-120"/>
              </a:rPr>
              <a:t>9</a:t>
            </a:r>
            <a:endParaRPr lang="en-US" sz="2700" dirty="0"/>
          </a:p>
        </p:txBody>
      </p:sp>
      <p:sp>
        <p:nvSpPr>
          <p:cNvPr id="51" name="Text 44"/>
          <p:cNvSpPr/>
          <p:nvPr/>
        </p:nvSpPr>
        <p:spPr>
          <a:xfrm>
            <a:off x="5303468" y="4960590"/>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8A1F2A"/>
                </a:solidFill>
                <a:latin typeface="Courier New" pitchFamily="34" charset="0"/>
                <a:ea typeface="Courier New" pitchFamily="34" charset="-122"/>
                <a:cs typeface="Courier New" pitchFamily="34" charset="-120"/>
              </a:rPr>
              <a:t>-1</a:t>
            </a:r>
            <a:endParaRPr lang="en-US" sz="1050" dirty="0"/>
          </a:p>
        </p:txBody>
      </p:sp>
      <p:sp>
        <p:nvSpPr>
          <p:cNvPr id="52" name="Shape 45"/>
          <p:cNvSpPr/>
          <p:nvPr/>
        </p:nvSpPr>
        <p:spPr>
          <a:xfrm>
            <a:off x="7101929" y="4291013"/>
            <a:ext cx="1753642" cy="969615"/>
          </a:xfrm>
          <a:prstGeom prst="roundRect">
            <a:avLst>
              <a:gd name="adj" fmla="val 2947"/>
            </a:avLst>
          </a:prstGeom>
          <a:solidFill>
            <a:srgbClr val="0C121B"/>
          </a:solidFill>
          <a:ln w="9525">
            <a:solidFill>
              <a:srgbClr val="1B2738"/>
            </a:solidFill>
            <a:prstDash val="solid"/>
          </a:ln>
        </p:spPr>
      </p:sp>
      <p:sp>
        <p:nvSpPr>
          <p:cNvPr id="53" name="Text 46"/>
          <p:cNvSpPr/>
          <p:nvPr/>
        </p:nvSpPr>
        <p:spPr>
          <a:xfrm>
            <a:off x="7171410" y="4414838"/>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C8199"/>
                </a:solidFill>
                <a:latin typeface="Courier New" pitchFamily="34" charset="0"/>
                <a:ea typeface="Courier New" pitchFamily="34" charset="-122"/>
                <a:cs typeface="Courier New" pitchFamily="34" charset="-120"/>
              </a:rPr>
              <a:t>DEX</a:t>
            </a:r>
            <a:endParaRPr lang="en-US" sz="900" dirty="0"/>
          </a:p>
        </p:txBody>
      </p:sp>
      <p:sp>
        <p:nvSpPr>
          <p:cNvPr id="54" name="Text 47"/>
          <p:cNvSpPr/>
          <p:nvPr/>
        </p:nvSpPr>
        <p:spPr>
          <a:xfrm>
            <a:off x="7171410" y="4581525"/>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DCE6F0"/>
                </a:solidFill>
                <a:latin typeface="Georgia" pitchFamily="34" charset="0"/>
                <a:ea typeface="Georgia" pitchFamily="34" charset="-122"/>
                <a:cs typeface="Georgia" pitchFamily="34" charset="-120"/>
              </a:rPr>
              <a:t>14</a:t>
            </a:r>
            <a:endParaRPr lang="en-US" sz="2700" dirty="0"/>
          </a:p>
        </p:txBody>
      </p:sp>
      <p:sp>
        <p:nvSpPr>
          <p:cNvPr id="55" name="Text 48"/>
          <p:cNvSpPr/>
          <p:nvPr/>
        </p:nvSpPr>
        <p:spPr>
          <a:xfrm>
            <a:off x="7171410" y="4960590"/>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+2</a:t>
            </a:r>
            <a:endParaRPr lang="en-US" sz="1050" dirty="0"/>
          </a:p>
        </p:txBody>
      </p:sp>
      <p:sp>
        <p:nvSpPr>
          <p:cNvPr id="56" name="Shape 49"/>
          <p:cNvSpPr/>
          <p:nvPr/>
        </p:nvSpPr>
        <p:spPr>
          <a:xfrm>
            <a:off x="8969871" y="4291013"/>
            <a:ext cx="1753642" cy="969615"/>
          </a:xfrm>
          <a:prstGeom prst="roundRect">
            <a:avLst>
              <a:gd name="adj" fmla="val 2947"/>
            </a:avLst>
          </a:prstGeom>
          <a:solidFill>
            <a:srgbClr val="0C121B"/>
          </a:solidFill>
          <a:ln w="9525">
            <a:solidFill>
              <a:srgbClr val="1B2738"/>
            </a:solidFill>
            <a:prstDash val="solid"/>
          </a:ln>
        </p:spPr>
      </p:sp>
      <p:sp>
        <p:nvSpPr>
          <p:cNvPr id="57" name="Text 50"/>
          <p:cNvSpPr/>
          <p:nvPr/>
        </p:nvSpPr>
        <p:spPr>
          <a:xfrm>
            <a:off x="9039352" y="4414838"/>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C8199"/>
                </a:solidFill>
                <a:latin typeface="Courier New" pitchFamily="34" charset="0"/>
                <a:ea typeface="Courier New" pitchFamily="34" charset="-122"/>
                <a:cs typeface="Courier New" pitchFamily="34" charset="-120"/>
              </a:rPr>
              <a:t>CON</a:t>
            </a:r>
            <a:endParaRPr lang="en-US" sz="900" dirty="0"/>
          </a:p>
        </p:txBody>
      </p:sp>
      <p:sp>
        <p:nvSpPr>
          <p:cNvPr id="58" name="Text 51"/>
          <p:cNvSpPr/>
          <p:nvPr/>
        </p:nvSpPr>
        <p:spPr>
          <a:xfrm>
            <a:off x="9039352" y="4581525"/>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DCE6F0"/>
                </a:solidFill>
                <a:latin typeface="Georgia" pitchFamily="34" charset="0"/>
                <a:ea typeface="Georgia" pitchFamily="34" charset="-122"/>
                <a:cs typeface="Georgia" pitchFamily="34" charset="-120"/>
              </a:rPr>
              <a:t>12</a:t>
            </a:r>
            <a:endParaRPr lang="en-US" sz="2700" dirty="0"/>
          </a:p>
        </p:txBody>
      </p:sp>
      <p:sp>
        <p:nvSpPr>
          <p:cNvPr id="59" name="Text 52"/>
          <p:cNvSpPr/>
          <p:nvPr/>
        </p:nvSpPr>
        <p:spPr>
          <a:xfrm>
            <a:off x="9039352" y="4960590"/>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+1</a:t>
            </a:r>
            <a:endParaRPr lang="en-US" sz="1050" dirty="0"/>
          </a:p>
        </p:txBody>
      </p:sp>
      <p:sp>
        <p:nvSpPr>
          <p:cNvPr id="60" name="Shape 53"/>
          <p:cNvSpPr/>
          <p:nvPr/>
        </p:nvSpPr>
        <p:spPr>
          <a:xfrm>
            <a:off x="5233988" y="5374928"/>
            <a:ext cx="1753642" cy="969615"/>
          </a:xfrm>
          <a:prstGeom prst="roundRect">
            <a:avLst>
              <a:gd name="adj" fmla="val 2947"/>
            </a:avLst>
          </a:prstGeom>
          <a:solidFill>
            <a:srgbClr val="0C121B"/>
          </a:solidFill>
          <a:ln w="9525">
            <a:solidFill>
              <a:srgbClr val="1B2738"/>
            </a:solidFill>
            <a:prstDash val="solid"/>
          </a:ln>
        </p:spPr>
      </p:sp>
      <p:sp>
        <p:nvSpPr>
          <p:cNvPr id="61" name="Text 54"/>
          <p:cNvSpPr/>
          <p:nvPr/>
        </p:nvSpPr>
        <p:spPr>
          <a:xfrm>
            <a:off x="5303468" y="5498753"/>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C8199"/>
                </a:solidFill>
                <a:latin typeface="Courier New" pitchFamily="34" charset="0"/>
                <a:ea typeface="Courier New" pitchFamily="34" charset="-122"/>
                <a:cs typeface="Courier New" pitchFamily="34" charset="-120"/>
              </a:rPr>
              <a:t>INT</a:t>
            </a:r>
            <a:endParaRPr lang="en-US" sz="900" dirty="0"/>
          </a:p>
        </p:txBody>
      </p:sp>
      <p:sp>
        <p:nvSpPr>
          <p:cNvPr id="62" name="Text 55"/>
          <p:cNvSpPr/>
          <p:nvPr/>
        </p:nvSpPr>
        <p:spPr>
          <a:xfrm>
            <a:off x="5303468" y="5665440"/>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DCE6F0"/>
                </a:solidFill>
                <a:latin typeface="Georgia" pitchFamily="34" charset="0"/>
                <a:ea typeface="Georgia" pitchFamily="34" charset="-122"/>
                <a:cs typeface="Georgia" pitchFamily="34" charset="-120"/>
              </a:rPr>
              <a:t>17</a:t>
            </a:r>
            <a:endParaRPr lang="en-US" sz="2700" dirty="0"/>
          </a:p>
        </p:txBody>
      </p:sp>
      <p:sp>
        <p:nvSpPr>
          <p:cNvPr id="63" name="Text 56"/>
          <p:cNvSpPr/>
          <p:nvPr/>
        </p:nvSpPr>
        <p:spPr>
          <a:xfrm>
            <a:off x="5303468" y="6044505"/>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+3</a:t>
            </a:r>
            <a:endParaRPr lang="en-US" sz="1050" dirty="0"/>
          </a:p>
        </p:txBody>
      </p:sp>
      <p:sp>
        <p:nvSpPr>
          <p:cNvPr id="64" name="Shape 57"/>
          <p:cNvSpPr/>
          <p:nvPr/>
        </p:nvSpPr>
        <p:spPr>
          <a:xfrm>
            <a:off x="7101929" y="5374928"/>
            <a:ext cx="1753642" cy="969615"/>
          </a:xfrm>
          <a:prstGeom prst="roundRect">
            <a:avLst>
              <a:gd name="adj" fmla="val 2947"/>
            </a:avLst>
          </a:prstGeom>
          <a:solidFill>
            <a:srgbClr val="0C121B"/>
          </a:solidFill>
          <a:ln w="9525">
            <a:solidFill>
              <a:srgbClr val="1B2738"/>
            </a:solidFill>
            <a:prstDash val="solid"/>
          </a:ln>
        </p:spPr>
      </p:sp>
      <p:sp>
        <p:nvSpPr>
          <p:cNvPr id="65" name="Text 58"/>
          <p:cNvSpPr/>
          <p:nvPr/>
        </p:nvSpPr>
        <p:spPr>
          <a:xfrm>
            <a:off x="7171410" y="5498753"/>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C8199"/>
                </a:solidFill>
                <a:latin typeface="Courier New" pitchFamily="34" charset="0"/>
                <a:ea typeface="Courier New" pitchFamily="34" charset="-122"/>
                <a:cs typeface="Courier New" pitchFamily="34" charset="-120"/>
              </a:rPr>
              <a:t>WIS</a:t>
            </a:r>
            <a:endParaRPr lang="en-US" sz="900" dirty="0"/>
          </a:p>
        </p:txBody>
      </p:sp>
      <p:sp>
        <p:nvSpPr>
          <p:cNvPr id="66" name="Text 59"/>
          <p:cNvSpPr/>
          <p:nvPr/>
        </p:nvSpPr>
        <p:spPr>
          <a:xfrm>
            <a:off x="7171410" y="5665440"/>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DCE6F0"/>
                </a:solidFill>
                <a:latin typeface="Georgia" pitchFamily="34" charset="0"/>
                <a:ea typeface="Georgia" pitchFamily="34" charset="-122"/>
                <a:cs typeface="Georgia" pitchFamily="34" charset="-120"/>
              </a:rPr>
              <a:t>16</a:t>
            </a:r>
            <a:endParaRPr lang="en-US" sz="2700" dirty="0"/>
          </a:p>
        </p:txBody>
      </p:sp>
      <p:sp>
        <p:nvSpPr>
          <p:cNvPr id="67" name="Text 60"/>
          <p:cNvSpPr/>
          <p:nvPr/>
        </p:nvSpPr>
        <p:spPr>
          <a:xfrm>
            <a:off x="7171410" y="6044505"/>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+3</a:t>
            </a:r>
            <a:endParaRPr lang="en-US" sz="1050" dirty="0"/>
          </a:p>
        </p:txBody>
      </p:sp>
      <p:sp>
        <p:nvSpPr>
          <p:cNvPr id="68" name="Shape 61"/>
          <p:cNvSpPr/>
          <p:nvPr/>
        </p:nvSpPr>
        <p:spPr>
          <a:xfrm>
            <a:off x="8969871" y="5374928"/>
            <a:ext cx="1753642" cy="969615"/>
          </a:xfrm>
          <a:prstGeom prst="roundRect">
            <a:avLst>
              <a:gd name="adj" fmla="val 2947"/>
            </a:avLst>
          </a:prstGeom>
          <a:solidFill>
            <a:srgbClr val="0C121B"/>
          </a:solidFill>
          <a:ln w="9525">
            <a:solidFill>
              <a:srgbClr val="1B2738"/>
            </a:solidFill>
            <a:prstDash val="solid"/>
          </a:ln>
        </p:spPr>
      </p:sp>
      <p:sp>
        <p:nvSpPr>
          <p:cNvPr id="69" name="Text 62"/>
          <p:cNvSpPr/>
          <p:nvPr/>
        </p:nvSpPr>
        <p:spPr>
          <a:xfrm>
            <a:off x="9039352" y="5498753"/>
            <a:ext cx="1614681"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C8199"/>
                </a:solidFill>
                <a:latin typeface="Courier New" pitchFamily="34" charset="0"/>
                <a:ea typeface="Courier New" pitchFamily="34" charset="-122"/>
                <a:cs typeface="Courier New" pitchFamily="34" charset="-120"/>
              </a:rPr>
              <a:t>CHA</a:t>
            </a:r>
            <a:endParaRPr lang="en-US" sz="900" dirty="0"/>
          </a:p>
        </p:txBody>
      </p:sp>
      <p:sp>
        <p:nvSpPr>
          <p:cNvPr id="70" name="Text 63"/>
          <p:cNvSpPr/>
          <p:nvPr/>
        </p:nvSpPr>
        <p:spPr>
          <a:xfrm>
            <a:off x="9039352" y="5665440"/>
            <a:ext cx="1614681"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DCE6F0"/>
                </a:solidFill>
                <a:latin typeface="Georgia" pitchFamily="34" charset="0"/>
                <a:ea typeface="Georgia" pitchFamily="34" charset="-122"/>
                <a:cs typeface="Georgia" pitchFamily="34" charset="-120"/>
              </a:rPr>
              <a:t>11</a:t>
            </a:r>
            <a:endParaRPr lang="en-US" sz="2700" dirty="0"/>
          </a:p>
        </p:txBody>
      </p:sp>
      <p:sp>
        <p:nvSpPr>
          <p:cNvPr id="71" name="Text 64"/>
          <p:cNvSpPr/>
          <p:nvPr/>
        </p:nvSpPr>
        <p:spPr>
          <a:xfrm>
            <a:off x="9039352" y="6044505"/>
            <a:ext cx="1614681"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+0</a:t>
            </a:r>
            <a:endParaRPr lang="en-US" sz="1050" dirty="0"/>
          </a:p>
        </p:txBody>
      </p:sp>
      <p:sp>
        <p:nvSpPr>
          <p:cNvPr id="72" name="Shape 65"/>
          <p:cNvSpPr/>
          <p:nvPr/>
        </p:nvSpPr>
        <p:spPr>
          <a:xfrm>
            <a:off x="5033963" y="6735068"/>
            <a:ext cx="5889575" cy="1095375"/>
          </a:xfrm>
          <a:prstGeom prst="roundRect">
            <a:avLst>
              <a:gd name="adj" fmla="val 4348"/>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73" name="Text 66"/>
          <p:cNvSpPr/>
          <p:nvPr/>
        </p:nvSpPr>
        <p:spPr>
          <a:xfrm>
            <a:off x="5233988" y="6896993"/>
            <a:ext cx="605730"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DCE6F0"/>
                </a:solidFill>
                <a:latin typeface="Georgia" pitchFamily="34" charset="0"/>
                <a:ea typeface="Georgia" pitchFamily="34" charset="-122"/>
                <a:cs typeface="Georgia" pitchFamily="34" charset="-120"/>
              </a:rPr>
              <a:t>Vitals</a:t>
            </a:r>
            <a:endParaRPr lang="en-US" sz="1650" dirty="0"/>
          </a:p>
        </p:txBody>
      </p:sp>
      <p:sp>
        <p:nvSpPr>
          <p:cNvPr id="74" name="Text 67"/>
          <p:cNvSpPr/>
          <p:nvPr/>
        </p:nvSpPr>
        <p:spPr>
          <a:xfrm>
            <a:off x="5233988" y="7349430"/>
            <a:ext cx="809625" cy="185738"/>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6C8199"/>
                </a:solidFill>
                <a:latin typeface="Courier New" pitchFamily="34" charset="0"/>
                <a:ea typeface="Courier New" pitchFamily="34" charset="-122"/>
                <a:cs typeface="Courier New" pitchFamily="34" charset="-120"/>
              </a:rPr>
              <a:t>HIT POINTS</a:t>
            </a:r>
            <a:endParaRPr lang="en-US" sz="825" dirty="0"/>
          </a:p>
        </p:txBody>
      </p:sp>
      <p:sp>
        <p:nvSpPr>
          <p:cNvPr id="75" name="Text 68"/>
          <p:cNvSpPr/>
          <p:nvPr/>
        </p:nvSpPr>
        <p:spPr>
          <a:xfrm>
            <a:off x="6469410" y="7349430"/>
            <a:ext cx="556320" cy="185738"/>
          </a:xfrm>
          <a:prstGeom prst="rect">
            <a:avLst/>
          </a:prstGeom>
          <a:noFill/>
          <a:ln/>
        </p:spPr>
        <p:txBody>
          <a:bodyPr wrap="square" lIns="25400" tIns="25400" rIns="25400" bIns="25400" rtlCol="0" anchor="t">
            <a:normAutofit/>
          </a:bodyPr>
          <a:lstStyle/>
          <a:p>
            <a:pPr algn="l" indent="0" marL="0">
              <a:buNone/>
            </a:pPr>
            <a:r>
              <a:rPr lang="en-US" sz="900" dirty="0">
                <a:solidFill>
                  <a:srgbClr val="DCE6F0"/>
                </a:solidFill>
                <a:latin typeface="Courier New" pitchFamily="34" charset="0"/>
                <a:ea typeface="Courier New" pitchFamily="34" charset="-122"/>
                <a:cs typeface="Courier New" pitchFamily="34" charset="-120"/>
              </a:rPr>
              <a:t>21 / 24</a:t>
            </a:r>
            <a:endParaRPr lang="en-US" sz="900" dirty="0"/>
          </a:p>
        </p:txBody>
      </p:sp>
      <p:sp>
        <p:nvSpPr>
          <p:cNvPr id="76" name="Shape 69"/>
          <p:cNvSpPr/>
          <p:nvPr/>
        </p:nvSpPr>
        <p:spPr>
          <a:xfrm>
            <a:off x="5233988" y="7554218"/>
            <a:ext cx="1715542" cy="76200"/>
          </a:xfrm>
          <a:prstGeom prst="roundRect">
            <a:avLst>
              <a:gd name="adj" fmla="val 50000"/>
            </a:avLst>
          </a:prstGeom>
          <a:solidFill>
            <a:srgbClr val="0C121B"/>
          </a:solidFill>
          <a:ln/>
        </p:spPr>
      </p:sp>
      <p:sp>
        <p:nvSpPr>
          <p:cNvPr id="77" name="Shape 70"/>
          <p:cNvSpPr/>
          <p:nvPr/>
        </p:nvSpPr>
        <p:spPr>
          <a:xfrm>
            <a:off x="5233988" y="7554218"/>
            <a:ext cx="1501080" cy="76200"/>
          </a:xfrm>
          <a:prstGeom prst="rect">
            <a:avLst/>
          </a:prstGeom>
          <a:solidFill>
            <a:srgbClr val="3E78A8"/>
          </a:solidFill>
          <a:ln/>
        </p:spPr>
      </p:sp>
      <p:sp>
        <p:nvSpPr>
          <p:cNvPr id="78" name="Text 71"/>
          <p:cNvSpPr/>
          <p:nvPr/>
        </p:nvSpPr>
        <p:spPr>
          <a:xfrm>
            <a:off x="7120979" y="7349430"/>
            <a:ext cx="369615" cy="185738"/>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6C8199"/>
                </a:solidFill>
                <a:latin typeface="Courier New" pitchFamily="34" charset="0"/>
                <a:ea typeface="Courier New" pitchFamily="34" charset="-122"/>
                <a:cs typeface="Courier New" pitchFamily="34" charset="-120"/>
              </a:rPr>
              <a:t>WILL</a:t>
            </a:r>
            <a:endParaRPr lang="en-US" sz="825" dirty="0"/>
          </a:p>
        </p:txBody>
      </p:sp>
      <p:sp>
        <p:nvSpPr>
          <p:cNvPr id="79" name="Text 72"/>
          <p:cNvSpPr/>
          <p:nvPr/>
        </p:nvSpPr>
        <p:spPr>
          <a:xfrm>
            <a:off x="8425011" y="7349430"/>
            <a:ext cx="487710" cy="185738"/>
          </a:xfrm>
          <a:prstGeom prst="rect">
            <a:avLst/>
          </a:prstGeom>
          <a:noFill/>
          <a:ln/>
        </p:spPr>
        <p:txBody>
          <a:bodyPr wrap="square" lIns="25400" tIns="25400" rIns="25400" bIns="25400" rtlCol="0" anchor="t">
            <a:normAutofit/>
          </a:bodyPr>
          <a:lstStyle/>
          <a:p>
            <a:pPr algn="l" indent="0" marL="0">
              <a:buNone/>
            </a:pPr>
            <a:r>
              <a:rPr lang="en-US" sz="900" dirty="0">
                <a:solidFill>
                  <a:srgbClr val="DCE6F0"/>
                </a:solidFill>
                <a:latin typeface="Courier New" pitchFamily="34" charset="0"/>
                <a:ea typeface="Courier New" pitchFamily="34" charset="-122"/>
                <a:cs typeface="Courier New" pitchFamily="34" charset="-120"/>
              </a:rPr>
              <a:t>9 / 10</a:t>
            </a:r>
            <a:endParaRPr lang="en-US" sz="900" dirty="0"/>
          </a:p>
        </p:txBody>
      </p:sp>
      <p:sp>
        <p:nvSpPr>
          <p:cNvPr id="80" name="Shape 73"/>
          <p:cNvSpPr/>
          <p:nvPr/>
        </p:nvSpPr>
        <p:spPr>
          <a:xfrm>
            <a:off x="7120979" y="7554218"/>
            <a:ext cx="1715542" cy="76200"/>
          </a:xfrm>
          <a:prstGeom prst="roundRect">
            <a:avLst>
              <a:gd name="adj" fmla="val 50000"/>
            </a:avLst>
          </a:prstGeom>
          <a:solidFill>
            <a:srgbClr val="0C121B"/>
          </a:solidFill>
          <a:ln/>
        </p:spPr>
      </p:sp>
      <p:sp>
        <p:nvSpPr>
          <p:cNvPr id="81" name="Shape 74"/>
          <p:cNvSpPr/>
          <p:nvPr/>
        </p:nvSpPr>
        <p:spPr>
          <a:xfrm>
            <a:off x="7120979" y="7554218"/>
            <a:ext cx="1543943" cy="76200"/>
          </a:xfrm>
          <a:prstGeom prst="rect">
            <a:avLst/>
          </a:prstGeom>
          <a:solidFill>
            <a:srgbClr val="3E78A8"/>
          </a:solidFill>
          <a:ln/>
        </p:spPr>
      </p:sp>
      <p:sp>
        <p:nvSpPr>
          <p:cNvPr id="82" name="Text 75"/>
          <p:cNvSpPr/>
          <p:nvPr/>
        </p:nvSpPr>
        <p:spPr>
          <a:xfrm>
            <a:off x="9007971" y="7349430"/>
            <a:ext cx="442913" cy="185738"/>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6C8199"/>
                </a:solidFill>
                <a:latin typeface="Courier New" pitchFamily="34" charset="0"/>
                <a:ea typeface="Courier New" pitchFamily="34" charset="-122"/>
                <a:cs typeface="Courier New" pitchFamily="34" charset="-120"/>
              </a:rPr>
              <a:t>DREAD</a:t>
            </a:r>
            <a:endParaRPr lang="en-US" sz="825" dirty="0"/>
          </a:p>
        </p:txBody>
      </p:sp>
      <p:sp>
        <p:nvSpPr>
          <p:cNvPr id="83" name="Text 76"/>
          <p:cNvSpPr/>
          <p:nvPr/>
        </p:nvSpPr>
        <p:spPr>
          <a:xfrm>
            <a:off x="10312003" y="7349430"/>
            <a:ext cx="487710" cy="185738"/>
          </a:xfrm>
          <a:prstGeom prst="rect">
            <a:avLst/>
          </a:prstGeom>
          <a:noFill/>
          <a:ln/>
        </p:spPr>
        <p:txBody>
          <a:bodyPr wrap="square" lIns="25400" tIns="25400" rIns="25400" bIns="25400" rtlCol="0" anchor="t">
            <a:normAutofit/>
          </a:bodyPr>
          <a:lstStyle/>
          <a:p>
            <a:pPr algn="l" indent="0" marL="0">
              <a:buNone/>
            </a:pPr>
            <a:r>
              <a:rPr lang="en-US" sz="900" dirty="0">
                <a:solidFill>
                  <a:srgbClr val="DCE6F0"/>
                </a:solidFill>
                <a:latin typeface="Courier New" pitchFamily="34" charset="0"/>
                <a:ea typeface="Courier New" pitchFamily="34" charset="-122"/>
                <a:cs typeface="Courier New" pitchFamily="34" charset="-120"/>
              </a:rPr>
              <a:t>4 / 10</a:t>
            </a:r>
            <a:endParaRPr lang="en-US" sz="900" dirty="0"/>
          </a:p>
        </p:txBody>
      </p:sp>
      <p:sp>
        <p:nvSpPr>
          <p:cNvPr id="84" name="Shape 77"/>
          <p:cNvSpPr/>
          <p:nvPr/>
        </p:nvSpPr>
        <p:spPr>
          <a:xfrm>
            <a:off x="9007971" y="7554218"/>
            <a:ext cx="1715542" cy="76200"/>
          </a:xfrm>
          <a:prstGeom prst="roundRect">
            <a:avLst>
              <a:gd name="adj" fmla="val 50000"/>
            </a:avLst>
          </a:prstGeom>
          <a:solidFill>
            <a:srgbClr val="0C121B"/>
          </a:solidFill>
          <a:ln/>
        </p:spPr>
      </p:sp>
      <p:sp>
        <p:nvSpPr>
          <p:cNvPr id="85" name="Shape 78"/>
          <p:cNvSpPr/>
          <p:nvPr/>
        </p:nvSpPr>
        <p:spPr>
          <a:xfrm>
            <a:off x="9007971" y="7554218"/>
            <a:ext cx="686172" cy="76200"/>
          </a:xfrm>
          <a:prstGeom prst="rect">
            <a:avLst/>
          </a:prstGeom>
          <a:solidFill>
            <a:srgbClr val="8A1F2A"/>
          </a:solidFill>
          <a:ln/>
        </p:spPr>
      </p:sp>
      <p:sp>
        <p:nvSpPr>
          <p:cNvPr id="86" name="Shape 79"/>
          <p:cNvSpPr/>
          <p:nvPr/>
        </p:nvSpPr>
        <p:spPr>
          <a:xfrm>
            <a:off x="11114038" y="3471863"/>
            <a:ext cx="4206850" cy="2524125"/>
          </a:xfrm>
          <a:prstGeom prst="roundRect">
            <a:avLst>
              <a:gd name="adj" fmla="val 1887"/>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87" name="Text 80"/>
          <p:cNvSpPr/>
          <p:nvPr/>
        </p:nvSpPr>
        <p:spPr>
          <a:xfrm>
            <a:off x="11314063" y="3633788"/>
            <a:ext cx="1398828"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BC2E6"/>
                </a:solidFill>
                <a:latin typeface="Courier New" pitchFamily="34" charset="0"/>
                <a:ea typeface="Courier New" pitchFamily="34" charset="-122"/>
                <a:cs typeface="Courier New" pitchFamily="34" charset="-120"/>
              </a:rPr>
              <a:t>KNOWN</a:t>
            </a:r>
            <a:endParaRPr lang="en-US" sz="900" dirty="0"/>
          </a:p>
        </p:txBody>
      </p:sp>
      <p:sp>
        <p:nvSpPr>
          <p:cNvPr id="88" name="Text 81"/>
          <p:cNvSpPr/>
          <p:nvPr/>
        </p:nvSpPr>
        <p:spPr>
          <a:xfrm>
            <a:off x="11314063" y="3838575"/>
            <a:ext cx="1398828"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DCE6F0"/>
                </a:solidFill>
                <a:latin typeface="Georgia" pitchFamily="34" charset="0"/>
                <a:ea typeface="Georgia" pitchFamily="34" charset="-122"/>
                <a:cs typeface="Georgia" pitchFamily="34" charset="-120"/>
              </a:rPr>
              <a:t>Spells &amp; Rites</a:t>
            </a:r>
            <a:endParaRPr lang="en-US" sz="1650" dirty="0"/>
          </a:p>
        </p:txBody>
      </p:sp>
      <p:sp>
        <p:nvSpPr>
          <p:cNvPr id="89" name="Shape 82"/>
          <p:cNvSpPr/>
          <p:nvPr/>
        </p:nvSpPr>
        <p:spPr>
          <a:xfrm>
            <a:off x="11314063" y="4586288"/>
            <a:ext cx="3806800" cy="9525"/>
          </a:xfrm>
          <a:prstGeom prst="rect">
            <a:avLst/>
          </a:prstGeom>
          <a:solidFill>
            <a:srgbClr val="1B2738"/>
          </a:solidFill>
          <a:ln/>
        </p:spPr>
      </p:sp>
      <p:sp>
        <p:nvSpPr>
          <p:cNvPr id="90" name="Text 83"/>
          <p:cNvSpPr/>
          <p:nvPr/>
        </p:nvSpPr>
        <p:spPr>
          <a:xfrm>
            <a:off x="11314063" y="4291013"/>
            <a:ext cx="1562866" cy="257175"/>
          </a:xfrm>
          <a:prstGeom prst="rect">
            <a:avLst/>
          </a:prstGeom>
          <a:noFill/>
          <a:ln/>
        </p:spPr>
        <p:txBody>
          <a:bodyPr wrap="square" lIns="25400" tIns="25400" rIns="25400" bIns="2540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Summon the Drowned</a:t>
            </a:r>
            <a:endParaRPr lang="en-US" sz="1125" dirty="0"/>
          </a:p>
        </p:txBody>
      </p:sp>
      <p:sp>
        <p:nvSpPr>
          <p:cNvPr id="91" name="Text 84"/>
          <p:cNvSpPr/>
          <p:nvPr/>
        </p:nvSpPr>
        <p:spPr>
          <a:xfrm>
            <a:off x="14983644" y="4326731"/>
            <a:ext cx="213420" cy="185738"/>
          </a:xfrm>
          <a:prstGeom prst="rect">
            <a:avLst/>
          </a:prstGeom>
          <a:noFill/>
          <a:ln/>
        </p:spPr>
        <p:txBody>
          <a:bodyPr wrap="square" lIns="25400" tIns="25400" rIns="25400" bIns="25400" rtlCol="0" anchor="t">
            <a:normAutofit/>
          </a:bodyPr>
          <a:lstStyle/>
          <a:p>
            <a:pPr algn="l" indent="0" marL="0">
              <a:buNone/>
            </a:pPr>
            <a:r>
              <a:rPr lang="en-US" sz="900" dirty="0">
                <a:solidFill>
                  <a:srgbClr val="8BC2E6"/>
                </a:solidFill>
                <a:latin typeface="Courier New" pitchFamily="34" charset="0"/>
                <a:ea typeface="Courier New" pitchFamily="34" charset="-122"/>
                <a:cs typeface="Courier New" pitchFamily="34" charset="-120"/>
              </a:rPr>
              <a:t>d8</a:t>
            </a:r>
            <a:endParaRPr lang="en-US" sz="900" dirty="0"/>
          </a:p>
        </p:txBody>
      </p:sp>
      <p:sp>
        <p:nvSpPr>
          <p:cNvPr id="92" name="Shape 85"/>
          <p:cNvSpPr/>
          <p:nvPr/>
        </p:nvSpPr>
        <p:spPr>
          <a:xfrm>
            <a:off x="11314063" y="4986338"/>
            <a:ext cx="3806800" cy="9525"/>
          </a:xfrm>
          <a:prstGeom prst="rect">
            <a:avLst/>
          </a:prstGeom>
          <a:solidFill>
            <a:srgbClr val="1B2738"/>
          </a:solidFill>
          <a:ln/>
        </p:spPr>
      </p:sp>
      <p:sp>
        <p:nvSpPr>
          <p:cNvPr id="93" name="Text 86"/>
          <p:cNvSpPr/>
          <p:nvPr/>
        </p:nvSpPr>
        <p:spPr>
          <a:xfrm>
            <a:off x="11314063" y="4691063"/>
            <a:ext cx="696144" cy="257175"/>
          </a:xfrm>
          <a:prstGeom prst="rect">
            <a:avLst/>
          </a:prstGeom>
          <a:noFill/>
          <a:ln/>
        </p:spPr>
        <p:txBody>
          <a:bodyPr wrap="square" lIns="25400" tIns="25400" rIns="25400" bIns="2540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Salt Ward</a:t>
            </a:r>
            <a:endParaRPr lang="en-US" sz="1125" dirty="0"/>
          </a:p>
        </p:txBody>
      </p:sp>
      <p:sp>
        <p:nvSpPr>
          <p:cNvPr id="94" name="Text 87"/>
          <p:cNvSpPr/>
          <p:nvPr/>
        </p:nvSpPr>
        <p:spPr>
          <a:xfrm>
            <a:off x="14983644" y="4726781"/>
            <a:ext cx="213420" cy="185738"/>
          </a:xfrm>
          <a:prstGeom prst="rect">
            <a:avLst/>
          </a:prstGeom>
          <a:noFill/>
          <a:ln/>
        </p:spPr>
        <p:txBody>
          <a:bodyPr wrap="square" lIns="25400" tIns="25400" rIns="25400" bIns="25400" rtlCol="0" anchor="t">
            <a:normAutofit/>
          </a:bodyPr>
          <a:lstStyle/>
          <a:p>
            <a:pPr algn="l" indent="0" marL="0">
              <a:buNone/>
            </a:pPr>
            <a:r>
              <a:rPr lang="en-US" sz="900" dirty="0">
                <a:solidFill>
                  <a:srgbClr val="8BC2E6"/>
                </a:solidFill>
                <a:latin typeface="Courier New" pitchFamily="34" charset="0"/>
                <a:ea typeface="Courier New" pitchFamily="34" charset="-122"/>
                <a:cs typeface="Courier New" pitchFamily="34" charset="-120"/>
              </a:rPr>
              <a:t>d4</a:t>
            </a:r>
            <a:endParaRPr lang="en-US" sz="900" dirty="0"/>
          </a:p>
        </p:txBody>
      </p:sp>
      <p:sp>
        <p:nvSpPr>
          <p:cNvPr id="95" name="Shape 88"/>
          <p:cNvSpPr/>
          <p:nvPr/>
        </p:nvSpPr>
        <p:spPr>
          <a:xfrm>
            <a:off x="11314063" y="5386388"/>
            <a:ext cx="3806800" cy="9525"/>
          </a:xfrm>
          <a:prstGeom prst="rect">
            <a:avLst/>
          </a:prstGeom>
          <a:solidFill>
            <a:srgbClr val="1B2738"/>
          </a:solidFill>
          <a:ln/>
        </p:spPr>
      </p:sp>
      <p:sp>
        <p:nvSpPr>
          <p:cNvPr id="96" name="Text 89"/>
          <p:cNvSpPr/>
          <p:nvPr/>
        </p:nvSpPr>
        <p:spPr>
          <a:xfrm>
            <a:off x="11314063" y="5091113"/>
            <a:ext cx="1051247" cy="257175"/>
          </a:xfrm>
          <a:prstGeom prst="rect">
            <a:avLst/>
          </a:prstGeom>
          <a:noFill/>
          <a:ln/>
        </p:spPr>
        <p:txBody>
          <a:bodyPr wrap="square" lIns="25400" tIns="25400" rIns="25400" bIns="2540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Read the Bones</a:t>
            </a:r>
            <a:endParaRPr lang="en-US" sz="1125" dirty="0"/>
          </a:p>
        </p:txBody>
      </p:sp>
      <p:sp>
        <p:nvSpPr>
          <p:cNvPr id="97" name="Text 90"/>
          <p:cNvSpPr/>
          <p:nvPr/>
        </p:nvSpPr>
        <p:spPr>
          <a:xfrm>
            <a:off x="15052253" y="5126831"/>
            <a:ext cx="144810" cy="185738"/>
          </a:xfrm>
          <a:prstGeom prst="rect">
            <a:avLst/>
          </a:prstGeom>
          <a:noFill/>
          <a:ln/>
        </p:spPr>
        <p:txBody>
          <a:bodyPr wrap="square" lIns="25400" tIns="25400" rIns="25400" bIns="25400" rtlCol="0" anchor="t">
            <a:normAutofit/>
          </a:bodyPr>
          <a:lstStyle/>
          <a:p>
            <a:pPr algn="l" indent="0" marL="0">
              <a:buNone/>
            </a:pPr>
            <a:r>
              <a:rPr lang="en-US" sz="900" dirty="0">
                <a:solidFill>
                  <a:srgbClr val="8BC2E6"/>
                </a:solidFill>
                <a:latin typeface="Courier New" pitchFamily="34" charset="0"/>
                <a:ea typeface="Courier New" pitchFamily="34" charset="-122"/>
                <a:cs typeface="Courier New" pitchFamily="34" charset="-120"/>
              </a:rPr>
              <a:t>—</a:t>
            </a:r>
            <a:endParaRPr lang="en-US" sz="900" dirty="0"/>
          </a:p>
        </p:txBody>
      </p:sp>
      <p:sp>
        <p:nvSpPr>
          <p:cNvPr id="98" name="Shape 91"/>
          <p:cNvSpPr/>
          <p:nvPr/>
        </p:nvSpPr>
        <p:spPr>
          <a:xfrm>
            <a:off x="11314063" y="5786438"/>
            <a:ext cx="3806800" cy="9525"/>
          </a:xfrm>
          <a:prstGeom prst="rect">
            <a:avLst/>
          </a:prstGeom>
          <a:solidFill>
            <a:srgbClr val="1B2738"/>
          </a:solidFill>
          <a:ln/>
        </p:spPr>
      </p:sp>
      <p:sp>
        <p:nvSpPr>
          <p:cNvPr id="99" name="Text 92"/>
          <p:cNvSpPr/>
          <p:nvPr/>
        </p:nvSpPr>
        <p:spPr>
          <a:xfrm>
            <a:off x="11314063" y="5491163"/>
            <a:ext cx="951309" cy="257175"/>
          </a:xfrm>
          <a:prstGeom prst="rect">
            <a:avLst/>
          </a:prstGeom>
          <a:noFill/>
          <a:ln/>
        </p:spPr>
        <p:txBody>
          <a:bodyPr wrap="square" lIns="25400" tIns="25400" rIns="25400" bIns="2540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Cold Whisper</a:t>
            </a:r>
            <a:endParaRPr lang="en-US" sz="1125" dirty="0"/>
          </a:p>
        </p:txBody>
      </p:sp>
      <p:sp>
        <p:nvSpPr>
          <p:cNvPr id="100" name="Text 93"/>
          <p:cNvSpPr/>
          <p:nvPr/>
        </p:nvSpPr>
        <p:spPr>
          <a:xfrm>
            <a:off x="14983644" y="5526881"/>
            <a:ext cx="213420" cy="185738"/>
          </a:xfrm>
          <a:prstGeom prst="rect">
            <a:avLst/>
          </a:prstGeom>
          <a:noFill/>
          <a:ln/>
        </p:spPr>
        <p:txBody>
          <a:bodyPr wrap="square" lIns="25400" tIns="25400" rIns="25400" bIns="25400" rtlCol="0" anchor="t">
            <a:normAutofit/>
          </a:bodyPr>
          <a:lstStyle/>
          <a:p>
            <a:pPr algn="l" indent="0" marL="0">
              <a:buNone/>
            </a:pPr>
            <a:r>
              <a:rPr lang="en-US" sz="900" dirty="0">
                <a:solidFill>
                  <a:srgbClr val="8BC2E6"/>
                </a:solidFill>
                <a:latin typeface="Courier New" pitchFamily="34" charset="0"/>
                <a:ea typeface="Courier New" pitchFamily="34" charset="-122"/>
                <a:cs typeface="Courier New" pitchFamily="34" charset="-120"/>
              </a:rPr>
              <a:t>d6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2911272"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TTRPG · PLAYER</a:t>
            </a:r>
            <a:endParaRPr lang="en-US" sz="1275" dirty="0"/>
          </a:p>
        </p:txBody>
      </p:sp>
      <p:sp>
        <p:nvSpPr>
          <p:cNvPr id="4" name="Text 2"/>
          <p:cNvSpPr/>
          <p:nvPr/>
        </p:nvSpPr>
        <p:spPr>
          <a:xfrm>
            <a:off x="533400" y="766763"/>
            <a:ext cx="2911272"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The Dice Tray</a:t>
            </a:r>
            <a:endParaRPr lang="en-US" sz="3450" dirty="0"/>
          </a:p>
        </p:txBody>
      </p:sp>
      <p:sp>
        <p:nvSpPr>
          <p:cNvPr id="5" name="Shape 3"/>
          <p:cNvSpPr/>
          <p:nvPr/>
        </p:nvSpPr>
        <p:spPr>
          <a:xfrm>
            <a:off x="15212318" y="438150"/>
            <a:ext cx="2542282" cy="381000"/>
          </a:xfrm>
          <a:prstGeom prst="roundRect">
            <a:avLst>
              <a:gd name="adj" fmla="val 50000"/>
            </a:avLst>
          </a:prstGeom>
          <a:solidFill>
            <a:srgbClr val="161025"/>
          </a:solidFill>
          <a:ln w="9525">
            <a:solidFill>
              <a:srgbClr val="33274D"/>
            </a:solidFill>
            <a:prstDash val="solid"/>
          </a:ln>
        </p:spPr>
      </p:sp>
      <p:sp>
        <p:nvSpPr>
          <p:cNvPr id="6" name="Shape 4"/>
          <p:cNvSpPr/>
          <p:nvPr/>
        </p:nvSpPr>
        <p:spPr>
          <a:xfrm>
            <a:off x="15326618" y="533400"/>
            <a:ext cx="190500" cy="190500"/>
          </a:xfrm>
          <a:prstGeom prst="ellipse">
            <a:avLst/>
          </a:prstGeom>
          <a:solidFill>
            <a:srgbClr val="0B0813"/>
          </a:solidFill>
          <a:ln w="9525">
            <a:solidFill>
              <a:srgbClr val="FFFFFF">
                <a:alpha val="18000"/>
              </a:srgbClr>
            </a:solidFill>
            <a:prstDash val="solid"/>
          </a:ln>
        </p:spPr>
      </p:sp>
      <p:sp>
        <p:nvSpPr>
          <p:cNvPr id="7" name="Text 5"/>
          <p:cNvSpPr/>
          <p:nvPr/>
        </p:nvSpPr>
        <p:spPr>
          <a:xfrm>
            <a:off x="15612368" y="533400"/>
            <a:ext cx="2056507" cy="228600"/>
          </a:xfrm>
          <a:prstGeom prst="rect">
            <a:avLst/>
          </a:prstGeom>
          <a:noFill/>
          <a:ln/>
        </p:spPr>
        <p:txBody>
          <a:bodyPr wrap="none" lIns="0" tIns="0" rIns="0" bIns="0" rtlCol="0" anchor="t">
            <a:normAutofit/>
          </a:bodyPr>
          <a:lstStyle/>
          <a:p>
            <a:pPr algn="l" indent="0" marL="0">
              <a:buNone/>
            </a:pPr>
            <a:r>
              <a:rPr lang="en-US" sz="1125" spc="68" kern="0" dirty="0">
                <a:solidFill>
                  <a:srgbClr val="BCAFD3"/>
                </a:solidFill>
                <a:latin typeface="Courier New" pitchFamily="34" charset="0"/>
                <a:ea typeface="Courier New" pitchFamily="34" charset="-122"/>
                <a:cs typeface="Courier New" pitchFamily="34" charset="-120"/>
              </a:rPr>
              <a:t>Violet · ttrpg-violet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B0813"/>
          </a:solidFill>
          <a:ln/>
        </p:spPr>
      </p:sp>
      <p:sp>
        <p:nvSpPr>
          <p:cNvPr id="10" name="Shape 8"/>
          <p:cNvSpPr/>
          <p:nvPr/>
        </p:nvSpPr>
        <p:spPr>
          <a:xfrm>
            <a:off x="542925" y="1462088"/>
            <a:ext cx="2066925" cy="8320088"/>
          </a:xfrm>
          <a:prstGeom prst="rect">
            <a:avLst/>
          </a:prstGeom>
          <a:solidFill>
            <a:srgbClr val="100B1B"/>
          </a:solidFill>
          <a:ln/>
        </p:spPr>
      </p:sp>
      <p:sp>
        <p:nvSpPr>
          <p:cNvPr id="11" name="Shape 9"/>
          <p:cNvSpPr/>
          <p:nvPr/>
        </p:nvSpPr>
        <p:spPr>
          <a:xfrm>
            <a:off x="2600325" y="1462088"/>
            <a:ext cx="9525" cy="8320088"/>
          </a:xfrm>
          <a:prstGeom prst="rect">
            <a:avLst/>
          </a:prstGeom>
          <a:solidFill>
            <a:srgbClr val="261C3B"/>
          </a:solidFill>
          <a:ln/>
        </p:spPr>
      </p:sp>
      <p:sp>
        <p:nvSpPr>
          <p:cNvPr id="12" name="Shape 10"/>
          <p:cNvSpPr/>
          <p:nvPr/>
        </p:nvSpPr>
        <p:spPr>
          <a:xfrm>
            <a:off x="542925" y="2071688"/>
            <a:ext cx="2057400" cy="9525"/>
          </a:xfrm>
          <a:prstGeom prst="rect">
            <a:avLst/>
          </a:prstGeom>
          <a:solidFill>
            <a:srgbClr val="261C3B"/>
          </a:solidFill>
          <a:ln/>
        </p:spPr>
      </p:sp>
      <p:sp>
        <p:nvSpPr>
          <p:cNvPr id="13" name="Text 11"/>
          <p:cNvSpPr/>
          <p:nvPr/>
        </p:nvSpPr>
        <p:spPr>
          <a:xfrm>
            <a:off x="733425" y="1671638"/>
            <a:ext cx="265137"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B49CE6"/>
                </a:solidFill>
                <a:latin typeface="Georgia" pitchFamily="34" charset="0"/>
                <a:ea typeface="Georgia" pitchFamily="34" charset="-122"/>
                <a:cs typeface="Georgia" pitchFamily="34" charset="-120"/>
              </a:rPr>
              <a:t>ᛜ</a:t>
            </a:r>
            <a:endParaRPr lang="en-US" sz="1350" dirty="0"/>
          </a:p>
        </p:txBody>
      </p:sp>
      <p:sp>
        <p:nvSpPr>
          <p:cNvPr id="14" name="Text 12"/>
          <p:cNvSpPr/>
          <p:nvPr/>
        </p:nvSpPr>
        <p:spPr>
          <a:xfrm>
            <a:off x="1017612" y="1702594"/>
            <a:ext cx="930399" cy="204787"/>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E6DEF2"/>
                </a:solidFill>
                <a:latin typeface="Georgia" pitchFamily="34" charset="0"/>
                <a:ea typeface="Georgia" pitchFamily="34" charset="-122"/>
                <a:cs typeface="Georgia" pitchFamily="34" charset="-120"/>
              </a:rPr>
              <a:t>THE TABLE</a:t>
            </a:r>
            <a:endParaRPr lang="en-US" sz="1125"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6" name="Text 13"/>
          <p:cNvSpPr/>
          <p:nvPr/>
        </p:nvSpPr>
        <p:spPr>
          <a:xfrm>
            <a:off x="1057275" y="2290763"/>
            <a:ext cx="818927"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Player Card</a:t>
            </a:r>
            <a:endParaRPr lang="en-US" sz="1125" dirty="0"/>
          </a:p>
        </p:txBody>
      </p:sp>
      <p:sp>
        <p:nvSpPr>
          <p:cNvPr id="17" name="Shape 14"/>
          <p:cNvSpPr/>
          <p:nvPr/>
        </p:nvSpPr>
        <p:spPr>
          <a:xfrm>
            <a:off x="657225" y="2624138"/>
            <a:ext cx="1828800" cy="409575"/>
          </a:xfrm>
          <a:prstGeom prst="roundRect">
            <a:avLst>
              <a:gd name="adj" fmla="val 6977"/>
            </a:avLst>
          </a:prstGeom>
          <a:solidFill>
            <a:srgbClr val="1E1630"/>
          </a:solidFill>
          <a:ln/>
        </p:spPr>
      </p:sp>
      <p:sp>
        <p:nvSpPr>
          <p:cNvPr id="18" name="Shape 15"/>
          <p:cNvSpPr/>
          <p:nvPr/>
        </p:nvSpPr>
        <p:spPr>
          <a:xfrm>
            <a:off x="657225" y="2624138"/>
            <a:ext cx="19050" cy="409575"/>
          </a:xfrm>
          <a:prstGeom prst="rect">
            <a:avLst/>
          </a:prstGeom>
          <a:solidFill>
            <a:srgbClr val="6B4FB0"/>
          </a:solidFill>
          <a:ln/>
        </p:spPr>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20" name="Text 16"/>
          <p:cNvSpPr/>
          <p:nvPr/>
        </p:nvSpPr>
        <p:spPr>
          <a:xfrm>
            <a:off x="1057275" y="2719388"/>
            <a:ext cx="369243" cy="257175"/>
          </a:xfrm>
          <a:prstGeom prst="rect">
            <a:avLst/>
          </a:prstGeom>
          <a:noFill/>
          <a:ln/>
        </p:spPr>
        <p:txBody>
          <a:bodyPr wrap="square" lIns="0" tIns="0" rIns="0" bIns="0" rtlCol="0" anchor="t">
            <a:normAutofit/>
          </a:bodyPr>
          <a:lstStyle/>
          <a:p>
            <a:pPr algn="l" indent="0" marL="0">
              <a:buNone/>
            </a:pPr>
            <a:r>
              <a:rPr lang="en-US" sz="1125" dirty="0">
                <a:solidFill>
                  <a:srgbClr val="E6DEF2"/>
                </a:solidFill>
                <a:latin typeface="Georgia" pitchFamily="34" charset="0"/>
                <a:ea typeface="Georgia" pitchFamily="34" charset="-122"/>
                <a:cs typeface="Georgia" pitchFamily="34" charset="-120"/>
              </a:rPr>
              <a:t>Dice</a:t>
            </a:r>
            <a:endParaRPr lang="en-US" sz="1125"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2" name="Text 17"/>
          <p:cNvSpPr/>
          <p:nvPr/>
        </p:nvSpPr>
        <p:spPr>
          <a:xfrm>
            <a:off x="1057275" y="3148013"/>
            <a:ext cx="539874"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Graphs</a:t>
            </a:r>
            <a:endParaRPr lang="en-US" sz="1125"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4" name="Text 18"/>
          <p:cNvSpPr/>
          <p:nvPr/>
        </p:nvSpPr>
        <p:spPr>
          <a:xfrm>
            <a:off x="1057275" y="3576638"/>
            <a:ext cx="488826"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Tables</a:t>
            </a:r>
            <a:endParaRPr lang="en-US" sz="1125" dirty="0"/>
          </a:p>
        </p:txBody>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0575" y="4033837"/>
            <a:ext cx="161925" cy="161925"/>
          </a:xfrm>
          <a:prstGeom prst="rect">
            <a:avLst/>
          </a:prstGeom>
        </p:spPr>
      </p:pic>
      <p:sp>
        <p:nvSpPr>
          <p:cNvPr id="26" name="Text 19"/>
          <p:cNvSpPr/>
          <p:nvPr/>
        </p:nvSpPr>
        <p:spPr>
          <a:xfrm>
            <a:off x="1057275" y="4005262"/>
            <a:ext cx="703734"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Chronicle</a:t>
            </a:r>
            <a:endParaRPr lang="en-US" sz="1125" dirty="0"/>
          </a:p>
        </p:txBody>
      </p:sp>
      <p:sp>
        <p:nvSpPr>
          <p:cNvPr id="27" name="Shape 20"/>
          <p:cNvSpPr/>
          <p:nvPr/>
        </p:nvSpPr>
        <p:spPr>
          <a:xfrm>
            <a:off x="2609850" y="1462088"/>
            <a:ext cx="15135225" cy="504825"/>
          </a:xfrm>
          <a:prstGeom prst="rect">
            <a:avLst/>
          </a:prstGeom>
          <a:solidFill>
            <a:srgbClr val="0B0813"/>
          </a:solidFill>
          <a:ln/>
        </p:spPr>
      </p:sp>
      <p:sp>
        <p:nvSpPr>
          <p:cNvPr id="28" name="Shape 21"/>
          <p:cNvSpPr/>
          <p:nvPr/>
        </p:nvSpPr>
        <p:spPr>
          <a:xfrm>
            <a:off x="2609850" y="1957388"/>
            <a:ext cx="15135225" cy="9525"/>
          </a:xfrm>
          <a:prstGeom prst="rect">
            <a:avLst/>
          </a:prstGeom>
          <a:solidFill>
            <a:srgbClr val="261C3B"/>
          </a:solidFill>
          <a:ln/>
        </p:spPr>
      </p:sp>
      <p:sp>
        <p:nvSpPr>
          <p:cNvPr id="29" name="Text 22"/>
          <p:cNvSpPr/>
          <p:nvPr/>
        </p:nvSpPr>
        <p:spPr>
          <a:xfrm>
            <a:off x="2819400" y="1640681"/>
            <a:ext cx="1751871"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847699"/>
                </a:solidFill>
                <a:latin typeface="Courier New" pitchFamily="34" charset="0"/>
                <a:ea typeface="Courier New" pitchFamily="34" charset="-122"/>
                <a:cs typeface="Courier New" pitchFamily="34" charset="-120"/>
              </a:rPr>
              <a:t>TTRPG · SESSION XII</a:t>
            </a:r>
            <a:endParaRPr lang="en-US" sz="825" dirty="0"/>
          </a:p>
        </p:txBody>
      </p:sp>
      <p:sp>
        <p:nvSpPr>
          <p:cNvPr id="30" name="Text 23"/>
          <p:cNvSpPr/>
          <p:nvPr/>
        </p:nvSpPr>
        <p:spPr>
          <a:xfrm>
            <a:off x="16500277" y="1640681"/>
            <a:ext cx="1111448"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B49CE6"/>
                </a:solidFill>
                <a:latin typeface="Courier New" pitchFamily="34" charset="0"/>
                <a:ea typeface="Courier New" pitchFamily="34" charset="-122"/>
                <a:cs typeface="Courier New" pitchFamily="34" charset="-120"/>
              </a:rPr>
              <a:t>The Dice Tray</a:t>
            </a:r>
            <a:endParaRPr lang="en-US" sz="825" dirty="0"/>
          </a:p>
        </p:txBody>
      </p:sp>
      <p:sp>
        <p:nvSpPr>
          <p:cNvPr id="31" name="Shape 24"/>
          <p:cNvSpPr/>
          <p:nvPr/>
        </p:nvSpPr>
        <p:spPr>
          <a:xfrm>
            <a:off x="2609850" y="1966912"/>
            <a:ext cx="15135225" cy="7815263"/>
          </a:xfrm>
          <a:prstGeom prst="rect">
            <a:avLst/>
          </a:prstGeom>
          <a:gradFill rotWithShape="1">
            <a:gsLst>
              <a:gs pos="0">
                <a:srgbClr val="FFFFFF">
                  <a:alpha val="2000"/>
                </a:srgbClr>
              </a:gs>
              <a:gs pos="100000">
                <a:srgbClr val="FFFFFF">
                  <a:alpha val="0"/>
                </a:srgbClr>
              </a:gs>
            </a:gsLst>
            <a:lin ang="5400000" scaled="0"/>
          </a:gradFill>
          <a:ln/>
        </p:spPr>
      </p:sp>
      <p:sp>
        <p:nvSpPr>
          <p:cNvPr id="32" name="Text 25"/>
          <p:cNvSpPr/>
          <p:nvPr/>
        </p:nvSpPr>
        <p:spPr>
          <a:xfrm>
            <a:off x="5033963" y="2271713"/>
            <a:ext cx="113157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E6DEF2"/>
                </a:solidFill>
                <a:latin typeface="Georgia" pitchFamily="34" charset="0"/>
                <a:ea typeface="Georgia" pitchFamily="34" charset="-122"/>
                <a:cs typeface="Georgia" pitchFamily="34" charset="-120"/>
              </a:rPr>
              <a:t>The Dice Tray</a:t>
            </a:r>
            <a:endParaRPr lang="en-US" sz="2700" dirty="0"/>
          </a:p>
        </p:txBody>
      </p:sp>
      <p:sp>
        <p:nvSpPr>
          <p:cNvPr id="33" name="Shape 26"/>
          <p:cNvSpPr/>
          <p:nvPr/>
        </p:nvSpPr>
        <p:spPr>
          <a:xfrm>
            <a:off x="5033963" y="2890838"/>
            <a:ext cx="5048250" cy="2347913"/>
          </a:xfrm>
          <a:prstGeom prst="roundRect">
            <a:avLst>
              <a:gd name="adj" fmla="val 2028"/>
            </a:avLst>
          </a:prstGeom>
          <a:solidFill>
            <a:srgbClr val="161025"/>
          </a:solidFill>
          <a:ln w="9525">
            <a:solidFill>
              <a:srgbClr val="261C3B"/>
            </a:solidFill>
            <a:prstDash val="solid"/>
          </a:ln>
          <a:effectLst>
            <a:outerShdw sx="100000" sy="100000" kx="0" ky="0" algn="bl" rotWithShape="0" blurRad="133350" dist="38100" dir="5400000">
              <a:srgbClr val="000000">
                <a:alpha val="40000"/>
              </a:srgbClr>
            </a:outerShdw>
          </a:effectLst>
        </p:spPr>
      </p:sp>
      <p:sp>
        <p:nvSpPr>
          <p:cNvPr id="34" name="Shape 27"/>
          <p:cNvSpPr/>
          <p:nvPr/>
        </p:nvSpPr>
        <p:spPr>
          <a:xfrm>
            <a:off x="5272088" y="3128963"/>
            <a:ext cx="388739" cy="290513"/>
          </a:xfrm>
          <a:prstGeom prst="roundRect">
            <a:avLst>
              <a:gd name="adj" fmla="val 9836"/>
            </a:avLst>
          </a:prstGeom>
          <a:solidFill>
            <a:srgbClr val="1E1630"/>
          </a:solidFill>
          <a:ln w="9525">
            <a:solidFill>
              <a:srgbClr val="33274D"/>
            </a:solidFill>
            <a:prstDash val="solid"/>
          </a:ln>
        </p:spPr>
      </p:sp>
      <p:sp>
        <p:nvSpPr>
          <p:cNvPr id="35" name="Text 28"/>
          <p:cNvSpPr/>
          <p:nvPr/>
        </p:nvSpPr>
        <p:spPr>
          <a:xfrm>
            <a:off x="5348288" y="3186113"/>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BCAFD3"/>
                </a:solidFill>
                <a:latin typeface="Courier New" pitchFamily="34" charset="0"/>
                <a:ea typeface="Courier New" pitchFamily="34" charset="-122"/>
                <a:cs typeface="Courier New" pitchFamily="34" charset="-120"/>
              </a:rPr>
              <a:t>d 4</a:t>
            </a:r>
            <a:endParaRPr lang="en-US" sz="1050" dirty="0"/>
          </a:p>
        </p:txBody>
      </p:sp>
      <p:sp>
        <p:nvSpPr>
          <p:cNvPr id="36" name="Shape 29"/>
          <p:cNvSpPr/>
          <p:nvPr/>
        </p:nvSpPr>
        <p:spPr>
          <a:xfrm>
            <a:off x="5717977" y="3128963"/>
            <a:ext cx="388739" cy="290513"/>
          </a:xfrm>
          <a:prstGeom prst="roundRect">
            <a:avLst>
              <a:gd name="adj" fmla="val 9836"/>
            </a:avLst>
          </a:prstGeom>
          <a:solidFill>
            <a:srgbClr val="1E1630"/>
          </a:solidFill>
          <a:ln w="9525">
            <a:solidFill>
              <a:srgbClr val="33274D"/>
            </a:solidFill>
            <a:prstDash val="solid"/>
          </a:ln>
        </p:spPr>
      </p:sp>
      <p:sp>
        <p:nvSpPr>
          <p:cNvPr id="37" name="Text 30"/>
          <p:cNvSpPr/>
          <p:nvPr/>
        </p:nvSpPr>
        <p:spPr>
          <a:xfrm>
            <a:off x="5794177" y="3186113"/>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BCAFD3"/>
                </a:solidFill>
                <a:latin typeface="Courier New" pitchFamily="34" charset="0"/>
                <a:ea typeface="Courier New" pitchFamily="34" charset="-122"/>
                <a:cs typeface="Courier New" pitchFamily="34" charset="-120"/>
              </a:rPr>
              <a:t>d 6</a:t>
            </a:r>
            <a:endParaRPr lang="en-US" sz="1050" dirty="0"/>
          </a:p>
        </p:txBody>
      </p:sp>
      <p:sp>
        <p:nvSpPr>
          <p:cNvPr id="38" name="Shape 31"/>
          <p:cNvSpPr/>
          <p:nvPr/>
        </p:nvSpPr>
        <p:spPr>
          <a:xfrm>
            <a:off x="6163866" y="3128963"/>
            <a:ext cx="388739" cy="290513"/>
          </a:xfrm>
          <a:prstGeom prst="roundRect">
            <a:avLst>
              <a:gd name="adj" fmla="val 9836"/>
            </a:avLst>
          </a:prstGeom>
          <a:solidFill>
            <a:srgbClr val="1E1630"/>
          </a:solidFill>
          <a:ln w="9525">
            <a:solidFill>
              <a:srgbClr val="33274D"/>
            </a:solidFill>
            <a:prstDash val="solid"/>
          </a:ln>
        </p:spPr>
      </p:sp>
      <p:sp>
        <p:nvSpPr>
          <p:cNvPr id="39" name="Text 32"/>
          <p:cNvSpPr/>
          <p:nvPr/>
        </p:nvSpPr>
        <p:spPr>
          <a:xfrm>
            <a:off x="6240066" y="3186113"/>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BCAFD3"/>
                </a:solidFill>
                <a:latin typeface="Courier New" pitchFamily="34" charset="0"/>
                <a:ea typeface="Courier New" pitchFamily="34" charset="-122"/>
                <a:cs typeface="Courier New" pitchFamily="34" charset="-120"/>
              </a:rPr>
              <a:t>d 8</a:t>
            </a:r>
            <a:endParaRPr lang="en-US" sz="1050" dirty="0"/>
          </a:p>
        </p:txBody>
      </p:sp>
      <p:sp>
        <p:nvSpPr>
          <p:cNvPr id="40" name="Shape 33"/>
          <p:cNvSpPr/>
          <p:nvPr/>
        </p:nvSpPr>
        <p:spPr>
          <a:xfrm>
            <a:off x="6609755" y="3128963"/>
            <a:ext cx="468734" cy="290513"/>
          </a:xfrm>
          <a:prstGeom prst="roundRect">
            <a:avLst>
              <a:gd name="adj" fmla="val 9836"/>
            </a:avLst>
          </a:prstGeom>
          <a:solidFill>
            <a:srgbClr val="1E1630"/>
          </a:solidFill>
          <a:ln w="9525">
            <a:solidFill>
              <a:srgbClr val="33274D"/>
            </a:solidFill>
            <a:prstDash val="solid"/>
          </a:ln>
        </p:spPr>
      </p:sp>
      <p:sp>
        <p:nvSpPr>
          <p:cNvPr id="41" name="Text 34"/>
          <p:cNvSpPr/>
          <p:nvPr/>
        </p:nvSpPr>
        <p:spPr>
          <a:xfrm>
            <a:off x="6685955" y="3186113"/>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BCAFD3"/>
                </a:solidFill>
                <a:latin typeface="Courier New" pitchFamily="34" charset="0"/>
                <a:ea typeface="Courier New" pitchFamily="34" charset="-122"/>
                <a:cs typeface="Courier New" pitchFamily="34" charset="-120"/>
              </a:rPr>
              <a:t>d 10</a:t>
            </a:r>
            <a:endParaRPr lang="en-US" sz="1050" dirty="0"/>
          </a:p>
        </p:txBody>
      </p:sp>
      <p:sp>
        <p:nvSpPr>
          <p:cNvPr id="42" name="Shape 35"/>
          <p:cNvSpPr/>
          <p:nvPr/>
        </p:nvSpPr>
        <p:spPr>
          <a:xfrm>
            <a:off x="7135639" y="3128963"/>
            <a:ext cx="468734" cy="290513"/>
          </a:xfrm>
          <a:prstGeom prst="roundRect">
            <a:avLst>
              <a:gd name="adj" fmla="val 9836"/>
            </a:avLst>
          </a:prstGeom>
          <a:solidFill>
            <a:srgbClr val="1E1630"/>
          </a:solidFill>
          <a:ln w="9525">
            <a:solidFill>
              <a:srgbClr val="33274D"/>
            </a:solidFill>
            <a:prstDash val="solid"/>
          </a:ln>
        </p:spPr>
      </p:sp>
      <p:sp>
        <p:nvSpPr>
          <p:cNvPr id="43" name="Text 36"/>
          <p:cNvSpPr/>
          <p:nvPr/>
        </p:nvSpPr>
        <p:spPr>
          <a:xfrm>
            <a:off x="7211839" y="3186113"/>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BCAFD3"/>
                </a:solidFill>
                <a:latin typeface="Courier New" pitchFamily="34" charset="0"/>
                <a:ea typeface="Courier New" pitchFamily="34" charset="-122"/>
                <a:cs typeface="Courier New" pitchFamily="34" charset="-120"/>
              </a:rPr>
              <a:t>d 12</a:t>
            </a:r>
            <a:endParaRPr lang="en-US" sz="1050" dirty="0"/>
          </a:p>
        </p:txBody>
      </p:sp>
      <p:sp>
        <p:nvSpPr>
          <p:cNvPr id="44" name="Shape 37"/>
          <p:cNvSpPr/>
          <p:nvPr/>
        </p:nvSpPr>
        <p:spPr>
          <a:xfrm>
            <a:off x="7661523" y="3128963"/>
            <a:ext cx="468734" cy="290513"/>
          </a:xfrm>
          <a:prstGeom prst="roundRect">
            <a:avLst>
              <a:gd name="adj" fmla="val 9836"/>
            </a:avLst>
          </a:prstGeom>
          <a:solidFill>
            <a:srgbClr val="6B4FB0">
              <a:alpha val="20000"/>
            </a:srgbClr>
          </a:solidFill>
          <a:ln w="9525">
            <a:solidFill>
              <a:srgbClr val="6B4FB0"/>
            </a:solidFill>
            <a:prstDash val="solid"/>
          </a:ln>
        </p:spPr>
      </p:sp>
      <p:sp>
        <p:nvSpPr>
          <p:cNvPr id="45" name="Text 38"/>
          <p:cNvSpPr/>
          <p:nvPr/>
        </p:nvSpPr>
        <p:spPr>
          <a:xfrm>
            <a:off x="7737723" y="3186113"/>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B49CE6"/>
                </a:solidFill>
                <a:latin typeface="Courier New" pitchFamily="34" charset="0"/>
                <a:ea typeface="Courier New" pitchFamily="34" charset="-122"/>
                <a:cs typeface="Courier New" pitchFamily="34" charset="-120"/>
              </a:rPr>
              <a:t>d 20</a:t>
            </a:r>
            <a:endParaRPr lang="en-US" sz="1050" dirty="0"/>
          </a:p>
        </p:txBody>
      </p:sp>
      <p:sp>
        <p:nvSpPr>
          <p:cNvPr id="46" name="Shape 39"/>
          <p:cNvSpPr/>
          <p:nvPr/>
        </p:nvSpPr>
        <p:spPr>
          <a:xfrm>
            <a:off x="8187407" y="3128963"/>
            <a:ext cx="548729" cy="290513"/>
          </a:xfrm>
          <a:prstGeom prst="roundRect">
            <a:avLst>
              <a:gd name="adj" fmla="val 9836"/>
            </a:avLst>
          </a:prstGeom>
          <a:solidFill>
            <a:srgbClr val="1E1630"/>
          </a:solidFill>
          <a:ln w="9525">
            <a:solidFill>
              <a:srgbClr val="33274D"/>
            </a:solidFill>
            <a:prstDash val="solid"/>
          </a:ln>
        </p:spPr>
      </p:sp>
      <p:sp>
        <p:nvSpPr>
          <p:cNvPr id="47" name="Text 40"/>
          <p:cNvSpPr/>
          <p:nvPr/>
        </p:nvSpPr>
        <p:spPr>
          <a:xfrm>
            <a:off x="8263607" y="3186113"/>
            <a:ext cx="39632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BCAFD3"/>
                </a:solidFill>
                <a:latin typeface="Courier New" pitchFamily="34" charset="0"/>
                <a:ea typeface="Courier New" pitchFamily="34" charset="-122"/>
                <a:cs typeface="Courier New" pitchFamily="34" charset="-120"/>
              </a:rPr>
              <a:t>d 100</a:t>
            </a:r>
            <a:endParaRPr lang="en-US" sz="1050" dirty="0"/>
          </a:p>
        </p:txBody>
      </p:sp>
      <p:sp>
        <p:nvSpPr>
          <p:cNvPr id="48" name="Shape 41"/>
          <p:cNvSpPr/>
          <p:nvPr/>
        </p:nvSpPr>
        <p:spPr>
          <a:xfrm>
            <a:off x="5272088" y="3552825"/>
            <a:ext cx="914400" cy="914400"/>
          </a:xfrm>
          <a:prstGeom prst="roundRect">
            <a:avLst>
              <a:gd name="adj" fmla="val 5208"/>
            </a:avLst>
          </a:prstGeom>
          <a:solidFill>
            <a:srgbClr val="100B1B"/>
          </a:solidFill>
          <a:ln w="19050">
            <a:solidFill>
              <a:srgbClr val="463663"/>
            </a:solidFill>
            <a:prstDash val="solid"/>
          </a:ln>
        </p:spPr>
      </p:sp>
      <p:sp>
        <p:nvSpPr>
          <p:cNvPr id="49" name="Text 42"/>
          <p:cNvSpPr/>
          <p:nvPr/>
        </p:nvSpPr>
        <p:spPr>
          <a:xfrm>
            <a:off x="5371951" y="3705225"/>
            <a:ext cx="79087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E6DEF2"/>
                </a:solidFill>
                <a:latin typeface="Georgia" pitchFamily="34" charset="0"/>
                <a:ea typeface="Georgia" pitchFamily="34" charset="-122"/>
                <a:cs typeface="Georgia" pitchFamily="34" charset="-120"/>
              </a:rPr>
              <a:t>20</a:t>
            </a:r>
            <a:endParaRPr lang="en-US" sz="4800" dirty="0"/>
          </a:p>
        </p:txBody>
      </p:sp>
      <p:sp>
        <p:nvSpPr>
          <p:cNvPr id="50" name="Text 43"/>
          <p:cNvSpPr/>
          <p:nvPr/>
        </p:nvSpPr>
        <p:spPr>
          <a:xfrm>
            <a:off x="6338888" y="3730451"/>
            <a:ext cx="385572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B49CE6"/>
                </a:solidFill>
                <a:latin typeface="Courier New" pitchFamily="34" charset="0"/>
                <a:ea typeface="Courier New" pitchFamily="34" charset="-122"/>
                <a:cs typeface="Courier New" pitchFamily="34" charset="-120"/>
              </a:rPr>
              <a:t>AWAITING THE THROW</a:t>
            </a:r>
            <a:endParaRPr lang="en-US" sz="900" dirty="0"/>
          </a:p>
        </p:txBody>
      </p:sp>
      <p:sp>
        <p:nvSpPr>
          <p:cNvPr id="51" name="Text 44"/>
          <p:cNvSpPr/>
          <p:nvPr/>
        </p:nvSpPr>
        <p:spPr>
          <a:xfrm>
            <a:off x="6338888" y="3878089"/>
            <a:ext cx="3855720" cy="449535"/>
          </a:xfrm>
          <a:prstGeom prst="rect">
            <a:avLst/>
          </a:prstGeom>
          <a:noFill/>
          <a:ln/>
        </p:spPr>
        <p:txBody>
          <a:bodyPr wrap="square" lIns="25400" tIns="25400" rIns="25400" bIns="25400" rtlCol="0" anchor="t">
            <a:normAutofit/>
          </a:bodyPr>
          <a:lstStyle/>
          <a:p>
            <a:pPr algn="l" indent="0" marL="0">
              <a:lnSpc>
                <a:spcPct val="120000"/>
              </a:lnSpc>
              <a:buNone/>
            </a:pPr>
            <a:r>
              <a:rPr lang="en-US" sz="2700" b="1" dirty="0">
                <a:solidFill>
                  <a:srgbClr val="E6DEF2"/>
                </a:solidFill>
                <a:latin typeface="Georgia" pitchFamily="34" charset="0"/>
                <a:ea typeface="Georgia" pitchFamily="34" charset="-122"/>
                <a:cs typeface="Georgia" pitchFamily="34" charset="-120"/>
              </a:rPr>
              <a:t>—</a:t>
            </a:r>
            <a:endParaRPr lang="en-US" sz="2700" dirty="0"/>
          </a:p>
        </p:txBody>
      </p:sp>
      <p:sp>
        <p:nvSpPr>
          <p:cNvPr id="52" name="Shape 45"/>
          <p:cNvSpPr/>
          <p:nvPr/>
        </p:nvSpPr>
        <p:spPr>
          <a:xfrm>
            <a:off x="5272088" y="4600575"/>
            <a:ext cx="4572000" cy="400050"/>
          </a:xfrm>
          <a:prstGeom prst="roundRect">
            <a:avLst>
              <a:gd name="adj" fmla="val 7143"/>
            </a:avLst>
          </a:prstGeom>
          <a:solidFill>
            <a:srgbClr val="6B4FB0"/>
          </a:solidFill>
          <a:ln w="9525">
            <a:solidFill>
              <a:srgbClr val="6B4FB0"/>
            </a:solidFill>
            <a:prstDash val="solid"/>
          </a:ln>
        </p:spPr>
      </p:sp>
      <p:sp>
        <p:nvSpPr>
          <p:cNvPr id="53" name="Text 46"/>
          <p:cNvSpPr/>
          <p:nvPr/>
        </p:nvSpPr>
        <p:spPr>
          <a:xfrm>
            <a:off x="5317808" y="4714875"/>
            <a:ext cx="4480560" cy="20955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0C0716"/>
                </a:solidFill>
                <a:latin typeface="Georgia" pitchFamily="34" charset="0"/>
                <a:ea typeface="Georgia" pitchFamily="34" charset="-122"/>
                <a:cs typeface="Georgia" pitchFamily="34" charset="-120"/>
              </a:rPr>
              <a:t>Roll d 20</a:t>
            </a:r>
            <a:endParaRPr lang="en-US" sz="1200" dirty="0"/>
          </a:p>
        </p:txBody>
      </p:sp>
      <p:sp>
        <p:nvSpPr>
          <p:cNvPr id="54" name="Shape 47"/>
          <p:cNvSpPr/>
          <p:nvPr/>
        </p:nvSpPr>
        <p:spPr>
          <a:xfrm>
            <a:off x="10272713" y="2890838"/>
            <a:ext cx="5048250" cy="1504950"/>
          </a:xfrm>
          <a:prstGeom prst="roundRect">
            <a:avLst>
              <a:gd name="adj" fmla="val 3165"/>
            </a:avLst>
          </a:prstGeom>
          <a:solidFill>
            <a:srgbClr val="161025"/>
          </a:solidFill>
          <a:ln w="9525">
            <a:solidFill>
              <a:srgbClr val="261C3B"/>
            </a:solidFill>
            <a:prstDash val="solid"/>
          </a:ln>
          <a:effectLst>
            <a:outerShdw sx="100000" sy="100000" kx="0" ky="0" algn="bl" rotWithShape="0" blurRad="133350" dist="38100" dir="5400000">
              <a:srgbClr val="000000">
                <a:alpha val="40000"/>
              </a:srgbClr>
            </a:outerShdw>
          </a:effectLst>
        </p:spPr>
      </p:sp>
      <p:sp>
        <p:nvSpPr>
          <p:cNvPr id="55" name="Text 48"/>
          <p:cNvSpPr/>
          <p:nvPr/>
        </p:nvSpPr>
        <p:spPr>
          <a:xfrm>
            <a:off x="10282238" y="3052763"/>
            <a:ext cx="1327696"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B49CE6"/>
                </a:solidFill>
                <a:latin typeface="Courier New" pitchFamily="34" charset="0"/>
                <a:ea typeface="Courier New" pitchFamily="34" charset="-122"/>
                <a:cs typeface="Courier New" pitchFamily="34" charset="-120"/>
              </a:rPr>
              <a:t>THIS SESSION</a:t>
            </a:r>
            <a:endParaRPr lang="en-US" sz="900" dirty="0"/>
          </a:p>
        </p:txBody>
      </p:sp>
      <p:sp>
        <p:nvSpPr>
          <p:cNvPr id="56" name="Text 49"/>
          <p:cNvSpPr/>
          <p:nvPr/>
        </p:nvSpPr>
        <p:spPr>
          <a:xfrm>
            <a:off x="10282238" y="3257550"/>
            <a:ext cx="1327696"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E6DEF2"/>
                </a:solidFill>
                <a:latin typeface="Georgia" pitchFamily="34" charset="0"/>
                <a:ea typeface="Georgia" pitchFamily="34" charset="-122"/>
                <a:cs typeface="Georgia" pitchFamily="34" charset="-120"/>
              </a:rPr>
              <a:t>Roll Log</a:t>
            </a:r>
            <a:endParaRPr lang="en-US" sz="1650" dirty="0"/>
          </a:p>
        </p:txBody>
      </p:sp>
      <p:sp>
        <p:nvSpPr>
          <p:cNvPr id="57" name="Shape 50"/>
          <p:cNvSpPr/>
          <p:nvPr/>
        </p:nvSpPr>
        <p:spPr>
          <a:xfrm>
            <a:off x="10282238" y="3943350"/>
            <a:ext cx="5029200" cy="9525"/>
          </a:xfrm>
          <a:prstGeom prst="rect">
            <a:avLst/>
          </a:prstGeom>
          <a:solidFill>
            <a:srgbClr val="261C3B"/>
          </a:solidFill>
          <a:ln/>
        </p:spPr>
      </p:sp>
      <p:sp>
        <p:nvSpPr>
          <p:cNvPr id="58" name="Text 51"/>
          <p:cNvSpPr/>
          <p:nvPr/>
        </p:nvSpPr>
        <p:spPr>
          <a:xfrm>
            <a:off x="10453688" y="3648075"/>
            <a:ext cx="670917" cy="204787"/>
          </a:xfrm>
          <a:prstGeom prst="rect">
            <a:avLst/>
          </a:prstGeom>
          <a:noFill/>
          <a:ln/>
        </p:spPr>
        <p:txBody>
          <a:bodyPr wrap="square" lIns="25400" tIns="25400" rIns="25400" bIns="25400" rtlCol="0" anchor="t">
            <a:normAutofit/>
          </a:bodyPr>
          <a:lstStyle/>
          <a:p>
            <a:pPr algn="l" indent="0" marL="0">
              <a:buNone/>
            </a:pPr>
            <a:r>
              <a:rPr lang="en-US" sz="975" dirty="0">
                <a:solidFill>
                  <a:srgbClr val="BCAFD3"/>
                </a:solidFill>
                <a:latin typeface="Courier New" pitchFamily="34" charset="0"/>
                <a:ea typeface="Courier New" pitchFamily="34" charset="-122"/>
                <a:cs typeface="Courier New" pitchFamily="34" charset="-120"/>
              </a:rPr>
              <a:t>d20→14</a:t>
            </a:r>
            <a:endParaRPr lang="en-US" sz="975" dirty="0"/>
          </a:p>
        </p:txBody>
      </p:sp>
      <p:sp>
        <p:nvSpPr>
          <p:cNvPr id="59" name="Text 52"/>
          <p:cNvSpPr/>
          <p:nvPr/>
        </p:nvSpPr>
        <p:spPr>
          <a:xfrm>
            <a:off x="14980146" y="3633788"/>
            <a:ext cx="236041"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E6DEF2"/>
                </a:solidFill>
                <a:latin typeface="Georgia" pitchFamily="34" charset="0"/>
                <a:ea typeface="Georgia" pitchFamily="34" charset="-122"/>
                <a:cs typeface="Georgia" pitchFamily="34" charset="-120"/>
              </a:rPr>
              <a:t>17</a:t>
            </a:r>
            <a:endParaRPr lang="en-US" sz="1350" dirty="0"/>
          </a:p>
        </p:txBody>
      </p:sp>
      <p:sp>
        <p:nvSpPr>
          <p:cNvPr id="60" name="Shape 53"/>
          <p:cNvSpPr/>
          <p:nvPr/>
        </p:nvSpPr>
        <p:spPr>
          <a:xfrm>
            <a:off x="10282238" y="4376738"/>
            <a:ext cx="5029200" cy="9525"/>
          </a:xfrm>
          <a:prstGeom prst="rect">
            <a:avLst/>
          </a:prstGeom>
          <a:solidFill>
            <a:srgbClr val="261C3B"/>
          </a:solidFill>
          <a:ln/>
        </p:spPr>
      </p:sp>
      <p:sp>
        <p:nvSpPr>
          <p:cNvPr id="61" name="Text 54"/>
          <p:cNvSpPr/>
          <p:nvPr/>
        </p:nvSpPr>
        <p:spPr>
          <a:xfrm>
            <a:off x="10453688" y="4081463"/>
            <a:ext cx="522387" cy="204787"/>
          </a:xfrm>
          <a:prstGeom prst="rect">
            <a:avLst/>
          </a:prstGeom>
          <a:noFill/>
          <a:ln/>
        </p:spPr>
        <p:txBody>
          <a:bodyPr wrap="square" lIns="25400" tIns="25400" rIns="25400" bIns="25400" rtlCol="0" anchor="t">
            <a:normAutofit/>
          </a:bodyPr>
          <a:lstStyle/>
          <a:p>
            <a:pPr algn="l" indent="0" marL="0">
              <a:buNone/>
            </a:pPr>
            <a:r>
              <a:rPr lang="en-US" sz="975" dirty="0">
                <a:solidFill>
                  <a:srgbClr val="BCAFD3"/>
                </a:solidFill>
                <a:latin typeface="Courier New" pitchFamily="34" charset="0"/>
                <a:ea typeface="Courier New" pitchFamily="34" charset="-122"/>
                <a:cs typeface="Courier New" pitchFamily="34" charset="-120"/>
              </a:rPr>
              <a:t>d6→5</a:t>
            </a:r>
            <a:endParaRPr lang="en-US" sz="975" dirty="0"/>
          </a:p>
        </p:txBody>
      </p:sp>
      <p:sp>
        <p:nvSpPr>
          <p:cNvPr id="62" name="Text 55"/>
          <p:cNvSpPr/>
          <p:nvPr/>
        </p:nvSpPr>
        <p:spPr>
          <a:xfrm>
            <a:off x="15049351" y="4067175"/>
            <a:ext cx="166836" cy="233362"/>
          </a:xfrm>
          <a:prstGeom prst="rect">
            <a:avLst/>
          </a:prstGeom>
          <a:noFill/>
          <a:ln/>
        </p:spPr>
        <p:txBody>
          <a:bodyPr wrap="square" lIns="25400" tIns="25400" rIns="25400" bIns="25400" rtlCol="0" anchor="t">
            <a:normAutofit/>
          </a:bodyPr>
          <a:lstStyle/>
          <a:p>
            <a:pPr algn="l" indent="0" marL="0">
              <a:buNone/>
            </a:pPr>
            <a:r>
              <a:rPr lang="en-US" sz="1350" b="1" dirty="0">
                <a:solidFill>
                  <a:srgbClr val="E6DEF2"/>
                </a:solidFill>
                <a:latin typeface="Georgia" pitchFamily="34" charset="0"/>
                <a:ea typeface="Georgia" pitchFamily="34" charset="-122"/>
                <a:cs typeface="Georgia" pitchFamily="34" charset="-120"/>
              </a:rPr>
              <a:t>5</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2618802"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TTRPG · PLAYER</a:t>
            </a:r>
            <a:endParaRPr lang="en-US" sz="1275" dirty="0"/>
          </a:p>
        </p:txBody>
      </p:sp>
      <p:sp>
        <p:nvSpPr>
          <p:cNvPr id="4" name="Text 2"/>
          <p:cNvSpPr/>
          <p:nvPr/>
        </p:nvSpPr>
        <p:spPr>
          <a:xfrm>
            <a:off x="533400" y="766763"/>
            <a:ext cx="2618802"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Saga Graphs</a:t>
            </a:r>
            <a:endParaRPr lang="en-US" sz="3450" dirty="0"/>
          </a:p>
        </p:txBody>
      </p:sp>
      <p:sp>
        <p:nvSpPr>
          <p:cNvPr id="5" name="Shape 3"/>
          <p:cNvSpPr/>
          <p:nvPr/>
        </p:nvSpPr>
        <p:spPr>
          <a:xfrm>
            <a:off x="15589523" y="438150"/>
            <a:ext cx="2165077" cy="381000"/>
          </a:xfrm>
          <a:prstGeom prst="roundRect">
            <a:avLst>
              <a:gd name="adj" fmla="val 50000"/>
            </a:avLst>
          </a:prstGeom>
          <a:solidFill>
            <a:srgbClr val="111824"/>
          </a:solidFill>
          <a:ln w="9525">
            <a:solidFill>
              <a:srgbClr val="243349"/>
            </a:solidFill>
            <a:prstDash val="solid"/>
          </a:ln>
        </p:spPr>
      </p:sp>
      <p:sp>
        <p:nvSpPr>
          <p:cNvPr id="6" name="Shape 4"/>
          <p:cNvSpPr/>
          <p:nvPr/>
        </p:nvSpPr>
        <p:spPr>
          <a:xfrm>
            <a:off x="15703823" y="533400"/>
            <a:ext cx="190500" cy="190500"/>
          </a:xfrm>
          <a:prstGeom prst="ellipse">
            <a:avLst/>
          </a:prstGeom>
          <a:solidFill>
            <a:srgbClr val="080C12"/>
          </a:solidFill>
          <a:ln w="9525">
            <a:solidFill>
              <a:srgbClr val="FFFFFF">
                <a:alpha val="18000"/>
              </a:srgbClr>
            </a:solidFill>
            <a:prstDash val="solid"/>
          </a:ln>
        </p:spPr>
      </p:sp>
      <p:sp>
        <p:nvSpPr>
          <p:cNvPr id="7" name="Text 5"/>
          <p:cNvSpPr/>
          <p:nvPr/>
        </p:nvSpPr>
        <p:spPr>
          <a:xfrm>
            <a:off x="15989573" y="533400"/>
            <a:ext cx="1679302" cy="228600"/>
          </a:xfrm>
          <a:prstGeom prst="rect">
            <a:avLst/>
          </a:prstGeom>
          <a:noFill/>
          <a:ln/>
        </p:spPr>
        <p:txBody>
          <a:bodyPr wrap="none" lIns="0" tIns="0" rIns="0" bIns="0" rtlCol="0" anchor="t">
            <a:normAutofit/>
          </a:bodyPr>
          <a:lstStyle/>
          <a:p>
            <a:pPr algn="l" indent="0" marL="0">
              <a:buNone/>
            </a:pPr>
            <a:r>
              <a:rPr lang="en-US" sz="1125" spc="68" kern="0" dirty="0">
                <a:solidFill>
                  <a:srgbClr val="A7BACE"/>
                </a:solidFill>
                <a:latin typeface="Courier New" pitchFamily="34" charset="0"/>
                <a:ea typeface="Courier New" pitchFamily="34" charset="-122"/>
                <a:cs typeface="Courier New" pitchFamily="34" charset="-120"/>
              </a:rPr>
              <a:t>Blue · ttrpg-blue</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80C12"/>
          </a:solidFill>
          <a:ln/>
        </p:spPr>
      </p:sp>
      <p:sp>
        <p:nvSpPr>
          <p:cNvPr id="10" name="Shape 8"/>
          <p:cNvSpPr/>
          <p:nvPr/>
        </p:nvSpPr>
        <p:spPr>
          <a:xfrm>
            <a:off x="542925" y="1462088"/>
            <a:ext cx="2066925" cy="8320088"/>
          </a:xfrm>
          <a:prstGeom prst="rect">
            <a:avLst/>
          </a:prstGeom>
          <a:solidFill>
            <a:srgbClr val="0C121B"/>
          </a:solidFill>
          <a:ln/>
        </p:spPr>
      </p:sp>
      <p:sp>
        <p:nvSpPr>
          <p:cNvPr id="11" name="Shape 9"/>
          <p:cNvSpPr/>
          <p:nvPr/>
        </p:nvSpPr>
        <p:spPr>
          <a:xfrm>
            <a:off x="2600325" y="1462088"/>
            <a:ext cx="9525" cy="8320088"/>
          </a:xfrm>
          <a:prstGeom prst="rect">
            <a:avLst/>
          </a:prstGeom>
          <a:solidFill>
            <a:srgbClr val="1B2738"/>
          </a:solidFill>
          <a:ln/>
        </p:spPr>
      </p:sp>
      <p:sp>
        <p:nvSpPr>
          <p:cNvPr id="12" name="Shape 10"/>
          <p:cNvSpPr/>
          <p:nvPr/>
        </p:nvSpPr>
        <p:spPr>
          <a:xfrm>
            <a:off x="542925" y="2071688"/>
            <a:ext cx="2057400" cy="9525"/>
          </a:xfrm>
          <a:prstGeom prst="rect">
            <a:avLst/>
          </a:prstGeom>
          <a:solidFill>
            <a:srgbClr val="1B2738"/>
          </a:solidFill>
          <a:ln/>
        </p:spPr>
      </p:sp>
      <p:sp>
        <p:nvSpPr>
          <p:cNvPr id="13" name="Text 11"/>
          <p:cNvSpPr/>
          <p:nvPr/>
        </p:nvSpPr>
        <p:spPr>
          <a:xfrm>
            <a:off x="733425" y="1671638"/>
            <a:ext cx="265137"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8BC2E6"/>
                </a:solidFill>
                <a:latin typeface="Georgia" pitchFamily="34" charset="0"/>
                <a:ea typeface="Georgia" pitchFamily="34" charset="-122"/>
                <a:cs typeface="Georgia" pitchFamily="34" charset="-120"/>
              </a:rPr>
              <a:t>ᛜ</a:t>
            </a:r>
            <a:endParaRPr lang="en-US" sz="1350" dirty="0"/>
          </a:p>
        </p:txBody>
      </p:sp>
      <p:sp>
        <p:nvSpPr>
          <p:cNvPr id="14" name="Text 12"/>
          <p:cNvSpPr/>
          <p:nvPr/>
        </p:nvSpPr>
        <p:spPr>
          <a:xfrm>
            <a:off x="1017612" y="1702594"/>
            <a:ext cx="930399" cy="204787"/>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DCE6F0"/>
                </a:solidFill>
                <a:latin typeface="Georgia" pitchFamily="34" charset="0"/>
                <a:ea typeface="Georgia" pitchFamily="34" charset="-122"/>
                <a:cs typeface="Georgia" pitchFamily="34" charset="-120"/>
              </a:rPr>
              <a:t>THE TABLE</a:t>
            </a:r>
            <a:endParaRPr lang="en-US" sz="1125"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6" name="Text 13"/>
          <p:cNvSpPr/>
          <p:nvPr/>
        </p:nvSpPr>
        <p:spPr>
          <a:xfrm>
            <a:off x="1057275" y="2290763"/>
            <a:ext cx="818927"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Player Card</a:t>
            </a:r>
            <a:endParaRPr lang="en-US" sz="1125"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18" name="Text 14"/>
          <p:cNvSpPr/>
          <p:nvPr/>
        </p:nvSpPr>
        <p:spPr>
          <a:xfrm>
            <a:off x="1057275" y="2719388"/>
            <a:ext cx="369243"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Dice</a:t>
            </a:r>
            <a:endParaRPr lang="en-US" sz="1125" dirty="0"/>
          </a:p>
        </p:txBody>
      </p:sp>
      <p:sp>
        <p:nvSpPr>
          <p:cNvPr id="19" name="Shape 15"/>
          <p:cNvSpPr/>
          <p:nvPr/>
        </p:nvSpPr>
        <p:spPr>
          <a:xfrm>
            <a:off x="657225" y="3052763"/>
            <a:ext cx="1828800" cy="409575"/>
          </a:xfrm>
          <a:prstGeom prst="roundRect">
            <a:avLst>
              <a:gd name="adj" fmla="val 6977"/>
            </a:avLst>
          </a:prstGeom>
          <a:solidFill>
            <a:srgbClr val="16202F"/>
          </a:solidFill>
          <a:ln/>
        </p:spPr>
      </p:sp>
      <p:sp>
        <p:nvSpPr>
          <p:cNvPr id="20" name="Shape 16"/>
          <p:cNvSpPr/>
          <p:nvPr/>
        </p:nvSpPr>
        <p:spPr>
          <a:xfrm>
            <a:off x="657225" y="3052763"/>
            <a:ext cx="19050" cy="409575"/>
          </a:xfrm>
          <a:prstGeom prst="rect">
            <a:avLst/>
          </a:prstGeom>
          <a:solidFill>
            <a:srgbClr val="3E78A8"/>
          </a:solidFill>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2" name="Text 17"/>
          <p:cNvSpPr/>
          <p:nvPr/>
        </p:nvSpPr>
        <p:spPr>
          <a:xfrm>
            <a:off x="1057275" y="3148013"/>
            <a:ext cx="539874" cy="257175"/>
          </a:xfrm>
          <a:prstGeom prst="rect">
            <a:avLst/>
          </a:prstGeom>
          <a:noFill/>
          <a:ln/>
        </p:spPr>
        <p:txBody>
          <a:bodyPr wrap="square" lIns="0" tIns="0" rIns="0" bIns="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Graphs</a:t>
            </a:r>
            <a:endParaRPr lang="en-US" sz="1125"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4" name="Text 18"/>
          <p:cNvSpPr/>
          <p:nvPr/>
        </p:nvSpPr>
        <p:spPr>
          <a:xfrm>
            <a:off x="1057275" y="3576638"/>
            <a:ext cx="488826"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Tables</a:t>
            </a:r>
            <a:endParaRPr lang="en-US" sz="1125" dirty="0"/>
          </a:p>
        </p:txBody>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0575" y="4033837"/>
            <a:ext cx="161925" cy="161925"/>
          </a:xfrm>
          <a:prstGeom prst="rect">
            <a:avLst/>
          </a:prstGeom>
        </p:spPr>
      </p:pic>
      <p:sp>
        <p:nvSpPr>
          <p:cNvPr id="26" name="Text 19"/>
          <p:cNvSpPr/>
          <p:nvPr/>
        </p:nvSpPr>
        <p:spPr>
          <a:xfrm>
            <a:off x="1057275" y="4005262"/>
            <a:ext cx="703734"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Chronicle</a:t>
            </a:r>
            <a:endParaRPr lang="en-US" sz="1125" dirty="0"/>
          </a:p>
        </p:txBody>
      </p:sp>
      <p:sp>
        <p:nvSpPr>
          <p:cNvPr id="27" name="Shape 20"/>
          <p:cNvSpPr/>
          <p:nvPr/>
        </p:nvSpPr>
        <p:spPr>
          <a:xfrm>
            <a:off x="2609850" y="1462088"/>
            <a:ext cx="15135225" cy="504825"/>
          </a:xfrm>
          <a:prstGeom prst="rect">
            <a:avLst/>
          </a:prstGeom>
          <a:solidFill>
            <a:srgbClr val="080C12"/>
          </a:solidFill>
          <a:ln/>
        </p:spPr>
      </p:sp>
      <p:sp>
        <p:nvSpPr>
          <p:cNvPr id="28" name="Shape 21"/>
          <p:cNvSpPr/>
          <p:nvPr/>
        </p:nvSpPr>
        <p:spPr>
          <a:xfrm>
            <a:off x="2609850" y="1957388"/>
            <a:ext cx="15135225" cy="9525"/>
          </a:xfrm>
          <a:prstGeom prst="rect">
            <a:avLst/>
          </a:prstGeom>
          <a:solidFill>
            <a:srgbClr val="1B2738"/>
          </a:solidFill>
          <a:ln/>
        </p:spPr>
      </p:sp>
      <p:sp>
        <p:nvSpPr>
          <p:cNvPr id="29" name="Text 22"/>
          <p:cNvSpPr/>
          <p:nvPr/>
        </p:nvSpPr>
        <p:spPr>
          <a:xfrm>
            <a:off x="2819400" y="1640681"/>
            <a:ext cx="1751871"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6C8199"/>
                </a:solidFill>
                <a:latin typeface="Courier New" pitchFamily="34" charset="0"/>
                <a:ea typeface="Courier New" pitchFamily="34" charset="-122"/>
                <a:cs typeface="Courier New" pitchFamily="34" charset="-120"/>
              </a:rPr>
              <a:t>TTRPG · SESSION XII</a:t>
            </a:r>
            <a:endParaRPr lang="en-US" sz="825" dirty="0"/>
          </a:p>
        </p:txBody>
      </p:sp>
      <p:sp>
        <p:nvSpPr>
          <p:cNvPr id="30" name="Text 23"/>
          <p:cNvSpPr/>
          <p:nvPr/>
        </p:nvSpPr>
        <p:spPr>
          <a:xfrm>
            <a:off x="16659597" y="1640681"/>
            <a:ext cx="952128"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8BC2E6"/>
                </a:solidFill>
                <a:latin typeface="Courier New" pitchFamily="34" charset="0"/>
                <a:ea typeface="Courier New" pitchFamily="34" charset="-122"/>
                <a:cs typeface="Courier New" pitchFamily="34" charset="-120"/>
              </a:rPr>
              <a:t>Saga Graphs</a:t>
            </a:r>
            <a:endParaRPr lang="en-US" sz="825" dirty="0"/>
          </a:p>
        </p:txBody>
      </p:sp>
      <p:sp>
        <p:nvSpPr>
          <p:cNvPr id="31" name="Shape 24"/>
          <p:cNvSpPr/>
          <p:nvPr/>
        </p:nvSpPr>
        <p:spPr>
          <a:xfrm>
            <a:off x="2609850" y="1966912"/>
            <a:ext cx="15135225" cy="7815263"/>
          </a:xfrm>
          <a:prstGeom prst="rect">
            <a:avLst/>
          </a:prstGeom>
          <a:gradFill rotWithShape="1">
            <a:gsLst>
              <a:gs pos="0">
                <a:srgbClr val="FFFFFF">
                  <a:alpha val="2000"/>
                </a:srgbClr>
              </a:gs>
              <a:gs pos="100000">
                <a:srgbClr val="FFFFFF">
                  <a:alpha val="0"/>
                </a:srgbClr>
              </a:gs>
            </a:gsLst>
            <a:lin ang="5400000" scaled="0"/>
          </a:gradFill>
          <a:ln/>
        </p:spPr>
      </p:sp>
      <p:sp>
        <p:nvSpPr>
          <p:cNvPr id="32" name="Text 25"/>
          <p:cNvSpPr/>
          <p:nvPr/>
        </p:nvSpPr>
        <p:spPr>
          <a:xfrm>
            <a:off x="5033963" y="2271713"/>
            <a:ext cx="113157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DCE6F0"/>
                </a:solidFill>
                <a:latin typeface="Georgia" pitchFamily="34" charset="0"/>
                <a:ea typeface="Georgia" pitchFamily="34" charset="-122"/>
                <a:cs typeface="Georgia" pitchFamily="34" charset="-120"/>
              </a:rPr>
              <a:t>Saga Graphs</a:t>
            </a:r>
            <a:endParaRPr lang="en-US" sz="2700" dirty="0"/>
          </a:p>
        </p:txBody>
      </p:sp>
      <p:sp>
        <p:nvSpPr>
          <p:cNvPr id="33" name="Shape 26"/>
          <p:cNvSpPr/>
          <p:nvPr/>
        </p:nvSpPr>
        <p:spPr>
          <a:xfrm>
            <a:off x="5033963" y="2890838"/>
            <a:ext cx="5048250" cy="2809875"/>
          </a:xfrm>
          <a:prstGeom prst="roundRect">
            <a:avLst>
              <a:gd name="adj" fmla="val 1695"/>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34" name="Text 27"/>
          <p:cNvSpPr/>
          <p:nvPr/>
        </p:nvSpPr>
        <p:spPr>
          <a:xfrm>
            <a:off x="5233988" y="3052763"/>
            <a:ext cx="2102212"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BC2E6"/>
                </a:solidFill>
                <a:latin typeface="Courier New" pitchFamily="34" charset="0"/>
                <a:ea typeface="Courier New" pitchFamily="34" charset="-122"/>
                <a:cs typeface="Courier New" pitchFamily="34" charset="-120"/>
              </a:rPr>
              <a:t>THE PARTY'S DESCENT</a:t>
            </a:r>
            <a:endParaRPr lang="en-US" sz="900" dirty="0"/>
          </a:p>
        </p:txBody>
      </p:sp>
      <p:sp>
        <p:nvSpPr>
          <p:cNvPr id="35" name="Text 28"/>
          <p:cNvSpPr/>
          <p:nvPr/>
        </p:nvSpPr>
        <p:spPr>
          <a:xfrm>
            <a:off x="5233988" y="3257550"/>
            <a:ext cx="2102212"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DCE6F0"/>
                </a:solidFill>
                <a:latin typeface="Georgia" pitchFamily="34" charset="0"/>
                <a:ea typeface="Georgia" pitchFamily="34" charset="-122"/>
                <a:cs typeface="Georgia" pitchFamily="34" charset="-120"/>
              </a:rPr>
              <a:t>Dread over sessions</a:t>
            </a:r>
            <a:endParaRPr lang="en-US" sz="1650" dirty="0"/>
          </a:p>
        </p:txBody>
      </p:sp>
      <p:pic>
        <p:nvPicPr>
          <p:cNvPr id="3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33988" y="3709988"/>
            <a:ext cx="4648200" cy="1714500"/>
          </a:xfrm>
          <a:prstGeom prst="rect">
            <a:avLst/>
          </a:prstGeom>
        </p:spPr>
      </p:pic>
      <p:sp>
        <p:nvSpPr>
          <p:cNvPr id="37" name="Shape 29"/>
          <p:cNvSpPr/>
          <p:nvPr/>
        </p:nvSpPr>
        <p:spPr>
          <a:xfrm>
            <a:off x="10272713" y="2890838"/>
            <a:ext cx="5048250" cy="2809875"/>
          </a:xfrm>
          <a:prstGeom prst="roundRect">
            <a:avLst>
              <a:gd name="adj" fmla="val 1695"/>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38" name="Text 30"/>
          <p:cNvSpPr/>
          <p:nvPr/>
        </p:nvSpPr>
        <p:spPr>
          <a:xfrm>
            <a:off x="10472738" y="3052763"/>
            <a:ext cx="1182663"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BC2E6"/>
                </a:solidFill>
                <a:latin typeface="Courier New" pitchFamily="34" charset="0"/>
                <a:ea typeface="Courier New" pitchFamily="34" charset="-122"/>
                <a:cs typeface="Courier New" pitchFamily="34" charset="-120"/>
              </a:rPr>
              <a:t>SESSION XII</a:t>
            </a:r>
            <a:endParaRPr lang="en-US" sz="900" dirty="0"/>
          </a:p>
        </p:txBody>
      </p:sp>
      <p:sp>
        <p:nvSpPr>
          <p:cNvPr id="39" name="Text 31"/>
          <p:cNvSpPr/>
          <p:nvPr/>
        </p:nvSpPr>
        <p:spPr>
          <a:xfrm>
            <a:off x="10472738" y="3257550"/>
            <a:ext cx="1182663"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DCE6F0"/>
                </a:solidFill>
                <a:latin typeface="Georgia" pitchFamily="34" charset="0"/>
                <a:ea typeface="Georgia" pitchFamily="34" charset="-122"/>
                <a:cs typeface="Georgia" pitchFamily="34" charset="-120"/>
              </a:rPr>
              <a:t>Rolls by die</a:t>
            </a:r>
            <a:endParaRPr lang="en-US" sz="1650" dirty="0"/>
          </a:p>
        </p:txBody>
      </p:sp>
      <p:sp>
        <p:nvSpPr>
          <p:cNvPr id="40" name="Text 32"/>
          <p:cNvSpPr/>
          <p:nvPr/>
        </p:nvSpPr>
        <p:spPr>
          <a:xfrm>
            <a:off x="10812735" y="4654600"/>
            <a:ext cx="13908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6</a:t>
            </a:r>
            <a:endParaRPr lang="en-US" sz="825" dirty="0"/>
          </a:p>
        </p:txBody>
      </p:sp>
      <p:sp>
        <p:nvSpPr>
          <p:cNvPr id="41" name="Shape 33"/>
          <p:cNvSpPr/>
          <p:nvPr/>
        </p:nvSpPr>
        <p:spPr>
          <a:xfrm>
            <a:off x="10663238" y="4868912"/>
            <a:ext cx="361950" cy="431750"/>
          </a:xfrm>
          <a:prstGeom prst="roundRect">
            <a:avLst>
              <a:gd name="adj" fmla="val 7895"/>
            </a:avLst>
          </a:prstGeom>
          <a:solidFill>
            <a:srgbClr val="213D56"/>
          </a:solidFill>
          <a:ln/>
        </p:spPr>
      </p:sp>
      <p:sp>
        <p:nvSpPr>
          <p:cNvPr id="42" name="Text 34"/>
          <p:cNvSpPr/>
          <p:nvPr/>
        </p:nvSpPr>
        <p:spPr>
          <a:xfrm>
            <a:off x="10779398" y="5376863"/>
            <a:ext cx="205755"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D4</a:t>
            </a:r>
            <a:endParaRPr lang="en-US" sz="750" dirty="0"/>
          </a:p>
        </p:txBody>
      </p:sp>
      <p:sp>
        <p:nvSpPr>
          <p:cNvPr id="43" name="Text 35"/>
          <p:cNvSpPr/>
          <p:nvPr/>
        </p:nvSpPr>
        <p:spPr>
          <a:xfrm>
            <a:off x="11562383" y="4294733"/>
            <a:ext cx="20196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11</a:t>
            </a:r>
            <a:endParaRPr lang="en-US" sz="825" dirty="0"/>
          </a:p>
        </p:txBody>
      </p:sp>
      <p:sp>
        <p:nvSpPr>
          <p:cNvPr id="44" name="Shape 36"/>
          <p:cNvSpPr/>
          <p:nvPr/>
        </p:nvSpPr>
        <p:spPr>
          <a:xfrm>
            <a:off x="11444288" y="4509046"/>
            <a:ext cx="361950" cy="791617"/>
          </a:xfrm>
          <a:prstGeom prst="roundRect">
            <a:avLst>
              <a:gd name="adj" fmla="val 7895"/>
            </a:avLst>
          </a:prstGeom>
          <a:solidFill>
            <a:srgbClr val="213D56"/>
          </a:solidFill>
          <a:ln/>
        </p:spPr>
      </p:sp>
      <p:sp>
        <p:nvSpPr>
          <p:cNvPr id="45" name="Text 37"/>
          <p:cNvSpPr/>
          <p:nvPr/>
        </p:nvSpPr>
        <p:spPr>
          <a:xfrm>
            <a:off x="11560448" y="5376863"/>
            <a:ext cx="205755"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D6</a:t>
            </a:r>
            <a:endParaRPr lang="en-US" sz="750" dirty="0"/>
          </a:p>
        </p:txBody>
      </p:sp>
      <p:sp>
        <p:nvSpPr>
          <p:cNvPr id="46" name="Text 38"/>
          <p:cNvSpPr/>
          <p:nvPr/>
        </p:nvSpPr>
        <p:spPr>
          <a:xfrm>
            <a:off x="12374835" y="4582641"/>
            <a:ext cx="13908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7</a:t>
            </a:r>
            <a:endParaRPr lang="en-US" sz="825" dirty="0"/>
          </a:p>
        </p:txBody>
      </p:sp>
      <p:sp>
        <p:nvSpPr>
          <p:cNvPr id="47" name="Shape 39"/>
          <p:cNvSpPr/>
          <p:nvPr/>
        </p:nvSpPr>
        <p:spPr>
          <a:xfrm>
            <a:off x="12225338" y="4796954"/>
            <a:ext cx="361950" cy="503709"/>
          </a:xfrm>
          <a:prstGeom prst="roundRect">
            <a:avLst>
              <a:gd name="adj" fmla="val 7895"/>
            </a:avLst>
          </a:prstGeom>
          <a:solidFill>
            <a:srgbClr val="213D56"/>
          </a:solidFill>
          <a:ln/>
        </p:spPr>
      </p:sp>
      <p:sp>
        <p:nvSpPr>
          <p:cNvPr id="48" name="Text 40"/>
          <p:cNvSpPr/>
          <p:nvPr/>
        </p:nvSpPr>
        <p:spPr>
          <a:xfrm>
            <a:off x="12341498" y="5376863"/>
            <a:ext cx="205755"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D8</a:t>
            </a:r>
            <a:endParaRPr lang="en-US" sz="750" dirty="0"/>
          </a:p>
        </p:txBody>
      </p:sp>
      <p:sp>
        <p:nvSpPr>
          <p:cNvPr id="49" name="Text 41"/>
          <p:cNvSpPr/>
          <p:nvPr/>
        </p:nvSpPr>
        <p:spPr>
          <a:xfrm>
            <a:off x="13155885" y="4798516"/>
            <a:ext cx="13908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4</a:t>
            </a:r>
            <a:endParaRPr lang="en-US" sz="825" dirty="0"/>
          </a:p>
        </p:txBody>
      </p:sp>
      <p:sp>
        <p:nvSpPr>
          <p:cNvPr id="50" name="Shape 42"/>
          <p:cNvSpPr/>
          <p:nvPr/>
        </p:nvSpPr>
        <p:spPr>
          <a:xfrm>
            <a:off x="13006388" y="5012829"/>
            <a:ext cx="361950" cy="287834"/>
          </a:xfrm>
          <a:prstGeom prst="roundRect">
            <a:avLst>
              <a:gd name="adj" fmla="val 9928"/>
            </a:avLst>
          </a:prstGeom>
          <a:solidFill>
            <a:srgbClr val="213D56"/>
          </a:solidFill>
          <a:ln/>
        </p:spPr>
      </p:sp>
      <p:sp>
        <p:nvSpPr>
          <p:cNvPr id="51" name="Text 43"/>
          <p:cNvSpPr/>
          <p:nvPr/>
        </p:nvSpPr>
        <p:spPr>
          <a:xfrm>
            <a:off x="13090178" y="5376863"/>
            <a:ext cx="270570"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D10</a:t>
            </a:r>
            <a:endParaRPr lang="en-US" sz="750" dirty="0"/>
          </a:p>
        </p:txBody>
      </p:sp>
      <p:sp>
        <p:nvSpPr>
          <p:cNvPr id="52" name="Text 44"/>
          <p:cNvSpPr/>
          <p:nvPr/>
        </p:nvSpPr>
        <p:spPr>
          <a:xfrm>
            <a:off x="13905533" y="3790950"/>
            <a:ext cx="20196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18</a:t>
            </a:r>
            <a:endParaRPr lang="en-US" sz="825" dirty="0"/>
          </a:p>
        </p:txBody>
      </p:sp>
      <p:sp>
        <p:nvSpPr>
          <p:cNvPr id="53" name="Shape 45"/>
          <p:cNvSpPr/>
          <p:nvPr/>
        </p:nvSpPr>
        <p:spPr>
          <a:xfrm>
            <a:off x="13787438" y="4005262"/>
            <a:ext cx="361950" cy="1295400"/>
          </a:xfrm>
          <a:prstGeom prst="roundRect">
            <a:avLst>
              <a:gd name="adj" fmla="val 7895"/>
            </a:avLst>
          </a:prstGeom>
          <a:solidFill>
            <a:srgbClr val="3E78A8"/>
          </a:solidFill>
          <a:ln/>
        </p:spPr>
      </p:sp>
      <p:sp>
        <p:nvSpPr>
          <p:cNvPr id="54" name="Text 46"/>
          <p:cNvSpPr/>
          <p:nvPr/>
        </p:nvSpPr>
        <p:spPr>
          <a:xfrm>
            <a:off x="13871228" y="5376863"/>
            <a:ext cx="270570"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D20</a:t>
            </a:r>
            <a:endParaRPr lang="en-US" sz="750" dirty="0"/>
          </a:p>
        </p:txBody>
      </p:sp>
      <p:sp>
        <p:nvSpPr>
          <p:cNvPr id="55" name="Text 47"/>
          <p:cNvSpPr/>
          <p:nvPr/>
        </p:nvSpPr>
        <p:spPr>
          <a:xfrm>
            <a:off x="14717985" y="4942433"/>
            <a:ext cx="13908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2</a:t>
            </a:r>
            <a:endParaRPr lang="en-US" sz="825" dirty="0"/>
          </a:p>
        </p:txBody>
      </p:sp>
      <p:sp>
        <p:nvSpPr>
          <p:cNvPr id="56" name="Shape 48"/>
          <p:cNvSpPr/>
          <p:nvPr/>
        </p:nvSpPr>
        <p:spPr>
          <a:xfrm>
            <a:off x="14568488" y="5156746"/>
            <a:ext cx="361950" cy="143917"/>
          </a:xfrm>
          <a:prstGeom prst="roundRect">
            <a:avLst>
              <a:gd name="adj" fmla="val 19855"/>
            </a:avLst>
          </a:prstGeom>
          <a:solidFill>
            <a:srgbClr val="213D56"/>
          </a:solidFill>
          <a:ln/>
        </p:spPr>
      </p:sp>
      <p:sp>
        <p:nvSpPr>
          <p:cNvPr id="57" name="Text 49"/>
          <p:cNvSpPr/>
          <p:nvPr/>
        </p:nvSpPr>
        <p:spPr>
          <a:xfrm>
            <a:off x="14619908" y="5376863"/>
            <a:ext cx="335310"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D100</a:t>
            </a:r>
            <a:endParaRPr lang="en-US" sz="750" dirty="0"/>
          </a:p>
        </p:txBody>
      </p:sp>
      <p:sp>
        <p:nvSpPr>
          <p:cNvPr id="58" name="Shape 50"/>
          <p:cNvSpPr/>
          <p:nvPr/>
        </p:nvSpPr>
        <p:spPr>
          <a:xfrm>
            <a:off x="5033963" y="5891213"/>
            <a:ext cx="10287000" cy="3000375"/>
          </a:xfrm>
          <a:prstGeom prst="roundRect">
            <a:avLst>
              <a:gd name="adj" fmla="val 1587"/>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59" name="Text 51"/>
          <p:cNvSpPr/>
          <p:nvPr/>
        </p:nvSpPr>
        <p:spPr>
          <a:xfrm>
            <a:off x="5233988" y="6053138"/>
            <a:ext cx="159634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BC2E6"/>
                </a:solidFill>
                <a:latin typeface="Courier New" pitchFamily="34" charset="0"/>
                <a:ea typeface="Courier New" pitchFamily="34" charset="-122"/>
                <a:cs typeface="Courier New" pitchFamily="34" charset="-120"/>
              </a:rPr>
              <a:t>END OF SEASON</a:t>
            </a:r>
            <a:endParaRPr lang="en-US" sz="900" dirty="0"/>
          </a:p>
        </p:txBody>
      </p:sp>
      <p:sp>
        <p:nvSpPr>
          <p:cNvPr id="60" name="Text 52"/>
          <p:cNvSpPr/>
          <p:nvPr/>
        </p:nvSpPr>
        <p:spPr>
          <a:xfrm>
            <a:off x="5233988" y="6257925"/>
            <a:ext cx="1596345"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DCE6F0"/>
                </a:solidFill>
                <a:latin typeface="Georgia" pitchFamily="34" charset="0"/>
                <a:ea typeface="Georgia" pitchFamily="34" charset="-122"/>
                <a:cs typeface="Georgia" pitchFamily="34" charset="-120"/>
              </a:rPr>
              <a:t>House standing</a:t>
            </a:r>
            <a:endParaRPr lang="en-US" sz="1650" dirty="0"/>
          </a:p>
        </p:txBody>
      </p:sp>
      <p:sp>
        <p:nvSpPr>
          <p:cNvPr id="61" name="Text 53"/>
          <p:cNvSpPr/>
          <p:nvPr/>
        </p:nvSpPr>
        <p:spPr>
          <a:xfrm>
            <a:off x="6144518" y="6791325"/>
            <a:ext cx="20196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94</a:t>
            </a:r>
            <a:endParaRPr lang="en-US" sz="825" dirty="0"/>
          </a:p>
        </p:txBody>
      </p:sp>
      <p:sp>
        <p:nvSpPr>
          <p:cNvPr id="62" name="Shape 54"/>
          <p:cNvSpPr/>
          <p:nvPr/>
        </p:nvSpPr>
        <p:spPr>
          <a:xfrm>
            <a:off x="6026423" y="7005638"/>
            <a:ext cx="361950" cy="1485900"/>
          </a:xfrm>
          <a:prstGeom prst="roundRect">
            <a:avLst>
              <a:gd name="adj" fmla="val 7895"/>
            </a:avLst>
          </a:prstGeom>
          <a:solidFill>
            <a:srgbClr val="3E78A8"/>
          </a:solidFill>
          <a:ln/>
        </p:spPr>
      </p:sp>
      <p:sp>
        <p:nvSpPr>
          <p:cNvPr id="63" name="Text 55"/>
          <p:cNvSpPr/>
          <p:nvPr/>
        </p:nvSpPr>
        <p:spPr>
          <a:xfrm>
            <a:off x="6045473" y="8567738"/>
            <a:ext cx="400050"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STORM</a:t>
            </a:r>
            <a:endParaRPr lang="en-US" sz="750" dirty="0"/>
          </a:p>
        </p:txBody>
      </p:sp>
      <p:sp>
        <p:nvSpPr>
          <p:cNvPr id="64" name="Text 56"/>
          <p:cNvSpPr/>
          <p:nvPr/>
        </p:nvSpPr>
        <p:spPr>
          <a:xfrm>
            <a:off x="8129588" y="6886203"/>
            <a:ext cx="20196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88</a:t>
            </a:r>
            <a:endParaRPr lang="en-US" sz="825" dirty="0"/>
          </a:p>
        </p:txBody>
      </p:sp>
      <p:sp>
        <p:nvSpPr>
          <p:cNvPr id="65" name="Shape 57"/>
          <p:cNvSpPr/>
          <p:nvPr/>
        </p:nvSpPr>
        <p:spPr>
          <a:xfrm>
            <a:off x="8011492" y="7100515"/>
            <a:ext cx="361950" cy="1391022"/>
          </a:xfrm>
          <a:prstGeom prst="roundRect">
            <a:avLst>
              <a:gd name="adj" fmla="val 7895"/>
            </a:avLst>
          </a:prstGeom>
          <a:solidFill>
            <a:srgbClr val="213D56"/>
          </a:solidFill>
          <a:ln/>
        </p:spPr>
      </p:sp>
      <p:sp>
        <p:nvSpPr>
          <p:cNvPr id="66" name="Text 58"/>
          <p:cNvSpPr/>
          <p:nvPr/>
        </p:nvSpPr>
        <p:spPr>
          <a:xfrm>
            <a:off x="8095283" y="8567738"/>
            <a:ext cx="270570"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ASH</a:t>
            </a:r>
            <a:endParaRPr lang="en-US" sz="750" dirty="0"/>
          </a:p>
        </p:txBody>
      </p:sp>
      <p:sp>
        <p:nvSpPr>
          <p:cNvPr id="67" name="Text 59"/>
          <p:cNvSpPr/>
          <p:nvPr/>
        </p:nvSpPr>
        <p:spPr>
          <a:xfrm>
            <a:off x="10114583" y="7629153"/>
            <a:ext cx="20196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41</a:t>
            </a:r>
            <a:endParaRPr lang="en-US" sz="825" dirty="0"/>
          </a:p>
        </p:txBody>
      </p:sp>
      <p:sp>
        <p:nvSpPr>
          <p:cNvPr id="68" name="Shape 60"/>
          <p:cNvSpPr/>
          <p:nvPr/>
        </p:nvSpPr>
        <p:spPr>
          <a:xfrm>
            <a:off x="9996488" y="7843465"/>
            <a:ext cx="361950" cy="648072"/>
          </a:xfrm>
          <a:prstGeom prst="roundRect">
            <a:avLst>
              <a:gd name="adj" fmla="val 7895"/>
            </a:avLst>
          </a:prstGeom>
          <a:solidFill>
            <a:srgbClr val="213D56"/>
          </a:solidFill>
          <a:ln/>
        </p:spPr>
      </p:sp>
      <p:sp>
        <p:nvSpPr>
          <p:cNvPr id="69" name="Text 61"/>
          <p:cNvSpPr/>
          <p:nvPr/>
        </p:nvSpPr>
        <p:spPr>
          <a:xfrm>
            <a:off x="10047908" y="8567738"/>
            <a:ext cx="335310"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CROW</a:t>
            </a:r>
            <a:endParaRPr lang="en-US" sz="750" dirty="0"/>
          </a:p>
        </p:txBody>
      </p:sp>
      <p:sp>
        <p:nvSpPr>
          <p:cNvPr id="70" name="Text 62"/>
          <p:cNvSpPr/>
          <p:nvPr/>
        </p:nvSpPr>
        <p:spPr>
          <a:xfrm>
            <a:off x="12099578" y="7218164"/>
            <a:ext cx="20196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67</a:t>
            </a:r>
            <a:endParaRPr lang="en-US" sz="825" dirty="0"/>
          </a:p>
        </p:txBody>
      </p:sp>
      <p:sp>
        <p:nvSpPr>
          <p:cNvPr id="71" name="Shape 63"/>
          <p:cNvSpPr/>
          <p:nvPr/>
        </p:nvSpPr>
        <p:spPr>
          <a:xfrm>
            <a:off x="11981483" y="7432477"/>
            <a:ext cx="361950" cy="1059061"/>
          </a:xfrm>
          <a:prstGeom prst="roundRect">
            <a:avLst>
              <a:gd name="adj" fmla="val 7895"/>
            </a:avLst>
          </a:prstGeom>
          <a:solidFill>
            <a:srgbClr val="213D56"/>
          </a:solidFill>
          <a:ln/>
        </p:spPr>
      </p:sp>
      <p:sp>
        <p:nvSpPr>
          <p:cNvPr id="72" name="Text 64"/>
          <p:cNvSpPr/>
          <p:nvPr/>
        </p:nvSpPr>
        <p:spPr>
          <a:xfrm>
            <a:off x="12000533" y="8567738"/>
            <a:ext cx="400050"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FROST</a:t>
            </a:r>
            <a:endParaRPr lang="en-US" sz="750" dirty="0"/>
          </a:p>
        </p:txBody>
      </p:sp>
      <p:sp>
        <p:nvSpPr>
          <p:cNvPr id="73" name="Text 65"/>
          <p:cNvSpPr/>
          <p:nvPr/>
        </p:nvSpPr>
        <p:spPr>
          <a:xfrm>
            <a:off x="14084573" y="7123286"/>
            <a:ext cx="201960" cy="176212"/>
          </a:xfrm>
          <a:prstGeom prst="rect">
            <a:avLst/>
          </a:prstGeom>
          <a:noFill/>
          <a:ln/>
        </p:spPr>
        <p:txBody>
          <a:bodyPr wrap="square" lIns="25400" tIns="25400" rIns="25400" bIns="25400" rtlCol="0" anchor="t">
            <a:normAutofit/>
          </a:bodyPr>
          <a:lstStyle/>
          <a:p>
            <a:pPr algn="l" indent="0" marL="0">
              <a:buNone/>
            </a:pPr>
            <a:r>
              <a:rPr lang="en-US" sz="825" dirty="0">
                <a:solidFill>
                  <a:srgbClr val="A7BACE"/>
                </a:solidFill>
                <a:latin typeface="Courier New" pitchFamily="34" charset="0"/>
                <a:ea typeface="Courier New" pitchFamily="34" charset="-122"/>
                <a:cs typeface="Courier New" pitchFamily="34" charset="-120"/>
              </a:rPr>
              <a:t>73</a:t>
            </a:r>
            <a:endParaRPr lang="en-US" sz="825" dirty="0"/>
          </a:p>
        </p:txBody>
      </p:sp>
      <p:sp>
        <p:nvSpPr>
          <p:cNvPr id="74" name="Shape 66"/>
          <p:cNvSpPr/>
          <p:nvPr/>
        </p:nvSpPr>
        <p:spPr>
          <a:xfrm>
            <a:off x="13966478" y="7337599"/>
            <a:ext cx="361950" cy="1153939"/>
          </a:xfrm>
          <a:prstGeom prst="roundRect">
            <a:avLst>
              <a:gd name="adj" fmla="val 7895"/>
            </a:avLst>
          </a:prstGeom>
          <a:solidFill>
            <a:srgbClr val="213D56"/>
          </a:solidFill>
          <a:ln/>
        </p:spPr>
      </p:sp>
      <p:sp>
        <p:nvSpPr>
          <p:cNvPr id="75" name="Text 67"/>
          <p:cNvSpPr/>
          <p:nvPr/>
        </p:nvSpPr>
        <p:spPr>
          <a:xfrm>
            <a:off x="14017898" y="8567738"/>
            <a:ext cx="335310" cy="161925"/>
          </a:xfrm>
          <a:prstGeom prst="rect">
            <a:avLst/>
          </a:prstGeom>
          <a:noFill/>
          <a:ln/>
        </p:spPr>
        <p:txBody>
          <a:bodyPr wrap="square" lIns="25400" tIns="25400" rIns="25400" bIns="25400" rtlCol="0" anchor="t">
            <a:normAutofit/>
          </a:bodyPr>
          <a:lstStyle/>
          <a:p>
            <a:pPr algn="l" indent="0" marL="0">
              <a:buNone/>
            </a:pPr>
            <a:r>
              <a:rPr lang="en-US" sz="750" spc="60" kern="0" dirty="0">
                <a:solidFill>
                  <a:srgbClr val="6C8199"/>
                </a:solidFill>
                <a:latin typeface="Courier New" pitchFamily="34" charset="0"/>
                <a:ea typeface="Courier New" pitchFamily="34" charset="-122"/>
                <a:cs typeface="Courier New" pitchFamily="34" charset="-120"/>
              </a:rPr>
              <a:t>SALT</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3557193"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TTRPG · PLAYER</a:t>
            </a:r>
            <a:endParaRPr lang="en-US" sz="1275" dirty="0"/>
          </a:p>
        </p:txBody>
      </p:sp>
      <p:sp>
        <p:nvSpPr>
          <p:cNvPr id="4" name="Text 2"/>
          <p:cNvSpPr/>
          <p:nvPr/>
        </p:nvSpPr>
        <p:spPr>
          <a:xfrm>
            <a:off x="533400" y="766763"/>
            <a:ext cx="3557193"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Reference Tables</a:t>
            </a:r>
            <a:endParaRPr lang="en-US" sz="3450" dirty="0"/>
          </a:p>
        </p:txBody>
      </p:sp>
      <p:sp>
        <p:nvSpPr>
          <p:cNvPr id="5" name="Shape 3"/>
          <p:cNvSpPr/>
          <p:nvPr/>
        </p:nvSpPr>
        <p:spPr>
          <a:xfrm>
            <a:off x="15400958" y="438150"/>
            <a:ext cx="2353642" cy="381000"/>
          </a:xfrm>
          <a:prstGeom prst="roundRect">
            <a:avLst>
              <a:gd name="adj" fmla="val 50000"/>
            </a:avLst>
          </a:prstGeom>
          <a:solidFill>
            <a:srgbClr val="F6F3FB"/>
          </a:solidFill>
          <a:ln w="9525">
            <a:solidFill>
              <a:srgbClr val="C7BBDC"/>
            </a:solidFill>
            <a:prstDash val="solid"/>
          </a:ln>
        </p:spPr>
      </p:sp>
      <p:sp>
        <p:nvSpPr>
          <p:cNvPr id="6" name="Shape 4"/>
          <p:cNvSpPr/>
          <p:nvPr/>
        </p:nvSpPr>
        <p:spPr>
          <a:xfrm>
            <a:off x="15515258" y="533400"/>
            <a:ext cx="190500" cy="190500"/>
          </a:xfrm>
          <a:prstGeom prst="ellipse">
            <a:avLst/>
          </a:prstGeom>
          <a:solidFill>
            <a:srgbClr val="ECE8F2"/>
          </a:solidFill>
          <a:ln w="9525">
            <a:solidFill>
              <a:srgbClr val="FFFFFF">
                <a:alpha val="18000"/>
              </a:srgbClr>
            </a:solidFill>
            <a:prstDash val="solid"/>
          </a:ln>
        </p:spPr>
      </p:sp>
      <p:sp>
        <p:nvSpPr>
          <p:cNvPr id="7" name="Text 5"/>
          <p:cNvSpPr/>
          <p:nvPr/>
        </p:nvSpPr>
        <p:spPr>
          <a:xfrm>
            <a:off x="15801008" y="533400"/>
            <a:ext cx="1867867" cy="228600"/>
          </a:xfrm>
          <a:prstGeom prst="rect">
            <a:avLst/>
          </a:prstGeom>
          <a:noFill/>
          <a:ln/>
        </p:spPr>
        <p:txBody>
          <a:bodyPr wrap="none" lIns="0" tIns="0" rIns="0" bIns="0" rtlCol="0" anchor="t">
            <a:normAutofit/>
          </a:bodyPr>
          <a:lstStyle/>
          <a:p>
            <a:pPr algn="l" indent="0" marL="0">
              <a:buNone/>
            </a:pPr>
            <a:r>
              <a:rPr lang="en-US" sz="1125" spc="68" kern="0" dirty="0">
                <a:solidFill>
                  <a:srgbClr val="3D3554"/>
                </a:solidFill>
                <a:latin typeface="Courier New" pitchFamily="34" charset="0"/>
                <a:ea typeface="Courier New" pitchFamily="34" charset="-122"/>
                <a:cs typeface="Courier New" pitchFamily="34" charset="-120"/>
              </a:rPr>
              <a:t>Light · ttrpg-light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ECE8F2"/>
          </a:solidFill>
          <a:ln/>
        </p:spPr>
      </p:sp>
      <p:sp>
        <p:nvSpPr>
          <p:cNvPr id="10" name="Shape 8"/>
          <p:cNvSpPr/>
          <p:nvPr/>
        </p:nvSpPr>
        <p:spPr>
          <a:xfrm>
            <a:off x="542925" y="1462088"/>
            <a:ext cx="2066925" cy="8320088"/>
          </a:xfrm>
          <a:prstGeom prst="rect">
            <a:avLst/>
          </a:prstGeom>
          <a:solidFill>
            <a:srgbClr val="E2DCEE"/>
          </a:solidFill>
          <a:ln/>
        </p:spPr>
      </p:sp>
      <p:sp>
        <p:nvSpPr>
          <p:cNvPr id="11" name="Shape 9"/>
          <p:cNvSpPr/>
          <p:nvPr/>
        </p:nvSpPr>
        <p:spPr>
          <a:xfrm>
            <a:off x="2600325" y="1462088"/>
            <a:ext cx="9525" cy="8320088"/>
          </a:xfrm>
          <a:prstGeom prst="rect">
            <a:avLst/>
          </a:prstGeom>
          <a:solidFill>
            <a:srgbClr val="D8D0E6"/>
          </a:solidFill>
          <a:ln/>
        </p:spPr>
      </p:sp>
      <p:sp>
        <p:nvSpPr>
          <p:cNvPr id="12" name="Shape 10"/>
          <p:cNvSpPr/>
          <p:nvPr/>
        </p:nvSpPr>
        <p:spPr>
          <a:xfrm>
            <a:off x="542925" y="2071688"/>
            <a:ext cx="2057400" cy="9525"/>
          </a:xfrm>
          <a:prstGeom prst="rect">
            <a:avLst/>
          </a:prstGeom>
          <a:solidFill>
            <a:srgbClr val="D8D0E6"/>
          </a:solidFill>
          <a:ln/>
        </p:spPr>
      </p:sp>
      <p:sp>
        <p:nvSpPr>
          <p:cNvPr id="13" name="Text 11"/>
          <p:cNvSpPr/>
          <p:nvPr/>
        </p:nvSpPr>
        <p:spPr>
          <a:xfrm>
            <a:off x="733425" y="1671638"/>
            <a:ext cx="265137"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4A3478"/>
                </a:solidFill>
                <a:latin typeface="Georgia" pitchFamily="34" charset="0"/>
                <a:ea typeface="Georgia" pitchFamily="34" charset="-122"/>
                <a:cs typeface="Georgia" pitchFamily="34" charset="-120"/>
              </a:rPr>
              <a:t>ᛜ</a:t>
            </a:r>
            <a:endParaRPr lang="en-US" sz="1350" dirty="0"/>
          </a:p>
        </p:txBody>
      </p:sp>
      <p:sp>
        <p:nvSpPr>
          <p:cNvPr id="14" name="Text 12"/>
          <p:cNvSpPr/>
          <p:nvPr/>
        </p:nvSpPr>
        <p:spPr>
          <a:xfrm>
            <a:off x="1017612" y="1702594"/>
            <a:ext cx="930399" cy="204787"/>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1A1626"/>
                </a:solidFill>
                <a:latin typeface="Georgia" pitchFamily="34" charset="0"/>
                <a:ea typeface="Georgia" pitchFamily="34" charset="-122"/>
                <a:cs typeface="Georgia" pitchFamily="34" charset="-120"/>
              </a:rPr>
              <a:t>THE TABLE</a:t>
            </a:r>
            <a:endParaRPr lang="en-US" sz="1125"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6" name="Text 13"/>
          <p:cNvSpPr/>
          <p:nvPr/>
        </p:nvSpPr>
        <p:spPr>
          <a:xfrm>
            <a:off x="1057275" y="2290763"/>
            <a:ext cx="818927" cy="257175"/>
          </a:xfrm>
          <a:prstGeom prst="rect">
            <a:avLst/>
          </a:prstGeom>
          <a:noFill/>
          <a:ln/>
        </p:spPr>
        <p:txBody>
          <a:bodyPr wrap="square" lIns="0" tIns="0" rIns="0" bIns="0" rtlCol="0" anchor="t">
            <a:normAutofit/>
          </a:bodyPr>
          <a:lstStyle/>
          <a:p>
            <a:pPr algn="l" indent="0" marL="0">
              <a:buNone/>
            </a:pPr>
            <a:r>
              <a:rPr lang="en-US" sz="1125" dirty="0">
                <a:solidFill>
                  <a:srgbClr val="6E6485"/>
                </a:solidFill>
                <a:latin typeface="Georgia" pitchFamily="34" charset="0"/>
                <a:ea typeface="Georgia" pitchFamily="34" charset="-122"/>
                <a:cs typeface="Georgia" pitchFamily="34" charset="-120"/>
              </a:rPr>
              <a:t>Player Card</a:t>
            </a:r>
            <a:endParaRPr lang="en-US" sz="1125"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18" name="Text 14"/>
          <p:cNvSpPr/>
          <p:nvPr/>
        </p:nvSpPr>
        <p:spPr>
          <a:xfrm>
            <a:off x="1057275" y="2719388"/>
            <a:ext cx="369243" cy="257175"/>
          </a:xfrm>
          <a:prstGeom prst="rect">
            <a:avLst/>
          </a:prstGeom>
          <a:noFill/>
          <a:ln/>
        </p:spPr>
        <p:txBody>
          <a:bodyPr wrap="square" lIns="0" tIns="0" rIns="0" bIns="0" rtlCol="0" anchor="t">
            <a:normAutofit/>
          </a:bodyPr>
          <a:lstStyle/>
          <a:p>
            <a:pPr algn="l" indent="0" marL="0">
              <a:buNone/>
            </a:pPr>
            <a:r>
              <a:rPr lang="en-US" sz="1125" dirty="0">
                <a:solidFill>
                  <a:srgbClr val="6E6485"/>
                </a:solidFill>
                <a:latin typeface="Georgia" pitchFamily="34" charset="0"/>
                <a:ea typeface="Georgia" pitchFamily="34" charset="-122"/>
                <a:cs typeface="Georgia" pitchFamily="34" charset="-120"/>
              </a:rPr>
              <a:t>Dice</a:t>
            </a:r>
            <a:endParaRPr lang="en-US" sz="1125" dirty="0"/>
          </a:p>
        </p:txBody>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0" name="Text 15"/>
          <p:cNvSpPr/>
          <p:nvPr/>
        </p:nvSpPr>
        <p:spPr>
          <a:xfrm>
            <a:off x="1057275" y="3148013"/>
            <a:ext cx="539874" cy="257175"/>
          </a:xfrm>
          <a:prstGeom prst="rect">
            <a:avLst/>
          </a:prstGeom>
          <a:noFill/>
          <a:ln/>
        </p:spPr>
        <p:txBody>
          <a:bodyPr wrap="square" lIns="0" tIns="0" rIns="0" bIns="0" rtlCol="0" anchor="t">
            <a:normAutofit/>
          </a:bodyPr>
          <a:lstStyle/>
          <a:p>
            <a:pPr algn="l" indent="0" marL="0">
              <a:buNone/>
            </a:pPr>
            <a:r>
              <a:rPr lang="en-US" sz="1125" dirty="0">
                <a:solidFill>
                  <a:srgbClr val="6E6485"/>
                </a:solidFill>
                <a:latin typeface="Georgia" pitchFamily="34" charset="0"/>
                <a:ea typeface="Georgia" pitchFamily="34" charset="-122"/>
                <a:cs typeface="Georgia" pitchFamily="34" charset="-120"/>
              </a:rPr>
              <a:t>Graphs</a:t>
            </a:r>
            <a:endParaRPr lang="en-US" sz="1125" dirty="0"/>
          </a:p>
        </p:txBody>
      </p:sp>
      <p:sp>
        <p:nvSpPr>
          <p:cNvPr id="21" name="Shape 16"/>
          <p:cNvSpPr/>
          <p:nvPr/>
        </p:nvSpPr>
        <p:spPr>
          <a:xfrm>
            <a:off x="657225" y="3481388"/>
            <a:ext cx="1828800" cy="409575"/>
          </a:xfrm>
          <a:prstGeom prst="roundRect">
            <a:avLst>
              <a:gd name="adj" fmla="val 6977"/>
            </a:avLst>
          </a:prstGeom>
          <a:solidFill>
            <a:srgbClr val="FBF9FE"/>
          </a:solidFill>
          <a:ln/>
        </p:spPr>
      </p:sp>
      <p:sp>
        <p:nvSpPr>
          <p:cNvPr id="22" name="Shape 17"/>
          <p:cNvSpPr/>
          <p:nvPr/>
        </p:nvSpPr>
        <p:spPr>
          <a:xfrm>
            <a:off x="657225" y="3481388"/>
            <a:ext cx="19050" cy="409575"/>
          </a:xfrm>
          <a:prstGeom prst="rect">
            <a:avLst/>
          </a:prstGeom>
          <a:solidFill>
            <a:srgbClr val="4A3478"/>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4" name="Text 18"/>
          <p:cNvSpPr/>
          <p:nvPr/>
        </p:nvSpPr>
        <p:spPr>
          <a:xfrm>
            <a:off x="1057275" y="3576638"/>
            <a:ext cx="488826" cy="257175"/>
          </a:xfrm>
          <a:prstGeom prst="rect">
            <a:avLst/>
          </a:prstGeom>
          <a:noFill/>
          <a:ln/>
        </p:spPr>
        <p:txBody>
          <a:bodyPr wrap="square" lIns="0" tIns="0" rIns="0" bIns="0" rtlCol="0" anchor="t">
            <a:normAutofit/>
          </a:bodyPr>
          <a:lstStyle/>
          <a:p>
            <a:pPr algn="l" indent="0" marL="0">
              <a:buNone/>
            </a:pPr>
            <a:r>
              <a:rPr lang="en-US" sz="1125" dirty="0">
                <a:solidFill>
                  <a:srgbClr val="1A1626"/>
                </a:solidFill>
                <a:latin typeface="Georgia" pitchFamily="34" charset="0"/>
                <a:ea typeface="Georgia" pitchFamily="34" charset="-122"/>
                <a:cs typeface="Georgia" pitchFamily="34" charset="-120"/>
              </a:rPr>
              <a:t>Tables</a:t>
            </a:r>
            <a:endParaRPr lang="en-US" sz="1125" dirty="0"/>
          </a:p>
        </p:txBody>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0575" y="4033837"/>
            <a:ext cx="161925" cy="161925"/>
          </a:xfrm>
          <a:prstGeom prst="rect">
            <a:avLst/>
          </a:prstGeom>
        </p:spPr>
      </p:pic>
      <p:sp>
        <p:nvSpPr>
          <p:cNvPr id="26" name="Text 19"/>
          <p:cNvSpPr/>
          <p:nvPr/>
        </p:nvSpPr>
        <p:spPr>
          <a:xfrm>
            <a:off x="1057275" y="4005262"/>
            <a:ext cx="703734" cy="257175"/>
          </a:xfrm>
          <a:prstGeom prst="rect">
            <a:avLst/>
          </a:prstGeom>
          <a:noFill/>
          <a:ln/>
        </p:spPr>
        <p:txBody>
          <a:bodyPr wrap="square" lIns="0" tIns="0" rIns="0" bIns="0" rtlCol="0" anchor="t">
            <a:normAutofit/>
          </a:bodyPr>
          <a:lstStyle/>
          <a:p>
            <a:pPr algn="l" indent="0" marL="0">
              <a:buNone/>
            </a:pPr>
            <a:r>
              <a:rPr lang="en-US" sz="1125" dirty="0">
                <a:solidFill>
                  <a:srgbClr val="6E6485"/>
                </a:solidFill>
                <a:latin typeface="Georgia" pitchFamily="34" charset="0"/>
                <a:ea typeface="Georgia" pitchFamily="34" charset="-122"/>
                <a:cs typeface="Georgia" pitchFamily="34" charset="-120"/>
              </a:rPr>
              <a:t>Chronicle</a:t>
            </a:r>
            <a:endParaRPr lang="en-US" sz="1125" dirty="0"/>
          </a:p>
        </p:txBody>
      </p:sp>
      <p:sp>
        <p:nvSpPr>
          <p:cNvPr id="27" name="Shape 20"/>
          <p:cNvSpPr/>
          <p:nvPr/>
        </p:nvSpPr>
        <p:spPr>
          <a:xfrm>
            <a:off x="2609850" y="1462088"/>
            <a:ext cx="15135225" cy="504825"/>
          </a:xfrm>
          <a:prstGeom prst="rect">
            <a:avLst/>
          </a:prstGeom>
          <a:solidFill>
            <a:srgbClr val="ECE8F2"/>
          </a:solidFill>
          <a:ln/>
        </p:spPr>
      </p:sp>
      <p:sp>
        <p:nvSpPr>
          <p:cNvPr id="28" name="Shape 21"/>
          <p:cNvSpPr/>
          <p:nvPr/>
        </p:nvSpPr>
        <p:spPr>
          <a:xfrm>
            <a:off x="2609850" y="1957388"/>
            <a:ext cx="15135225" cy="9525"/>
          </a:xfrm>
          <a:prstGeom prst="rect">
            <a:avLst/>
          </a:prstGeom>
          <a:solidFill>
            <a:srgbClr val="D8D0E6"/>
          </a:solidFill>
          <a:ln/>
        </p:spPr>
      </p:sp>
      <p:sp>
        <p:nvSpPr>
          <p:cNvPr id="29" name="Text 22"/>
          <p:cNvSpPr/>
          <p:nvPr/>
        </p:nvSpPr>
        <p:spPr>
          <a:xfrm>
            <a:off x="2819400" y="1640681"/>
            <a:ext cx="1751871"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6E6485"/>
                </a:solidFill>
                <a:latin typeface="Courier New" pitchFamily="34" charset="0"/>
                <a:ea typeface="Courier New" pitchFamily="34" charset="-122"/>
                <a:cs typeface="Courier New" pitchFamily="34" charset="-120"/>
              </a:rPr>
              <a:t>TTRPG · SESSION XII</a:t>
            </a:r>
            <a:endParaRPr lang="en-US" sz="825" dirty="0"/>
          </a:p>
        </p:txBody>
      </p:sp>
      <p:sp>
        <p:nvSpPr>
          <p:cNvPr id="30" name="Text 23"/>
          <p:cNvSpPr/>
          <p:nvPr/>
        </p:nvSpPr>
        <p:spPr>
          <a:xfrm>
            <a:off x="16261407" y="1640681"/>
            <a:ext cx="1401529"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4A3478"/>
                </a:solidFill>
                <a:latin typeface="Courier New" pitchFamily="34" charset="0"/>
                <a:ea typeface="Courier New" pitchFamily="34" charset="-122"/>
                <a:cs typeface="Courier New" pitchFamily="34" charset="-120"/>
              </a:rPr>
              <a:t>Reference Tables</a:t>
            </a:r>
            <a:endParaRPr lang="en-US" sz="825" dirty="0"/>
          </a:p>
        </p:txBody>
      </p:sp>
      <p:sp>
        <p:nvSpPr>
          <p:cNvPr id="31" name="Shape 24"/>
          <p:cNvSpPr/>
          <p:nvPr/>
        </p:nvSpPr>
        <p:spPr>
          <a:xfrm>
            <a:off x="2609850" y="1966912"/>
            <a:ext cx="15135225" cy="7815263"/>
          </a:xfrm>
          <a:prstGeom prst="rect">
            <a:avLst/>
          </a:prstGeom>
          <a:gradFill rotWithShape="1">
            <a:gsLst>
              <a:gs pos="0">
                <a:srgbClr val="FFFFFF">
                  <a:alpha val="2000"/>
                </a:srgbClr>
              </a:gs>
              <a:gs pos="100000">
                <a:srgbClr val="FFFFFF">
                  <a:alpha val="0"/>
                </a:srgbClr>
              </a:gs>
            </a:gsLst>
            <a:lin ang="5400000" scaled="0"/>
          </a:gradFill>
          <a:ln/>
        </p:spPr>
      </p:sp>
      <p:sp>
        <p:nvSpPr>
          <p:cNvPr id="32" name="Text 25"/>
          <p:cNvSpPr/>
          <p:nvPr/>
        </p:nvSpPr>
        <p:spPr>
          <a:xfrm>
            <a:off x="5033963" y="2271713"/>
            <a:ext cx="113157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A1626"/>
                </a:solidFill>
                <a:latin typeface="Georgia" pitchFamily="34" charset="0"/>
                <a:ea typeface="Georgia" pitchFamily="34" charset="-122"/>
                <a:cs typeface="Georgia" pitchFamily="34" charset="-120"/>
              </a:rPr>
              <a:t>Reference Tables</a:t>
            </a:r>
            <a:endParaRPr lang="en-US" sz="2700" dirty="0"/>
          </a:p>
        </p:txBody>
      </p:sp>
      <p:sp>
        <p:nvSpPr>
          <p:cNvPr id="33" name="Text 26"/>
          <p:cNvSpPr/>
          <p:nvPr/>
        </p:nvSpPr>
        <p:spPr>
          <a:xfrm>
            <a:off x="5033963" y="2890838"/>
            <a:ext cx="11315700" cy="185738"/>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4A3478"/>
                </a:solidFill>
                <a:latin typeface="Courier New" pitchFamily="34" charset="0"/>
                <a:ea typeface="Courier New" pitchFamily="34" charset="-122"/>
                <a:cs typeface="Courier New" pitchFamily="34" charset="-120"/>
              </a:rPr>
              <a:t>WILD MAGIC · D20</a:t>
            </a:r>
            <a:endParaRPr lang="en-US" sz="900" dirty="0"/>
          </a:p>
        </p:txBody>
      </p:sp>
      <p:sp>
        <p:nvSpPr>
          <p:cNvPr id="34" name="Shape 27"/>
          <p:cNvSpPr/>
          <p:nvPr/>
        </p:nvSpPr>
        <p:spPr>
          <a:xfrm>
            <a:off x="5033963" y="3133725"/>
            <a:ext cx="10287000" cy="1858268"/>
          </a:xfrm>
          <a:prstGeom prst="roundRect">
            <a:avLst>
              <a:gd name="adj" fmla="val 2563"/>
            </a:avLst>
          </a:prstGeom>
          <a:solidFill>
            <a:srgbClr val="F6F3FB"/>
          </a:solidFill>
          <a:ln w="9525">
            <a:solidFill>
              <a:srgbClr val="D8D0E6"/>
            </a:solidFill>
            <a:prstDash val="solid"/>
          </a:ln>
          <a:effectLst>
            <a:outerShdw sx="100000" sy="100000" kx="0" ky="0" algn="bl" rotWithShape="0" blurRad="133350" dist="38100" dir="5400000">
              <a:srgbClr val="000000">
                <a:alpha val="40000"/>
              </a:srgbClr>
            </a:outerShdw>
          </a:effectLst>
        </p:spPr>
      </p:sp>
      <p:sp>
        <p:nvSpPr>
          <p:cNvPr id="35" name="Shape 28"/>
          <p:cNvSpPr/>
          <p:nvPr/>
        </p:nvSpPr>
        <p:spPr>
          <a:xfrm>
            <a:off x="5043488" y="3143250"/>
            <a:ext cx="10267950" cy="304800"/>
          </a:xfrm>
          <a:prstGeom prst="rect">
            <a:avLst/>
          </a:prstGeom>
          <a:solidFill>
            <a:srgbClr val="E2DCEE"/>
          </a:solidFill>
          <a:ln/>
        </p:spPr>
      </p:sp>
      <p:sp>
        <p:nvSpPr>
          <p:cNvPr id="36" name="Shape 29"/>
          <p:cNvSpPr/>
          <p:nvPr/>
        </p:nvSpPr>
        <p:spPr>
          <a:xfrm>
            <a:off x="5043488" y="3438525"/>
            <a:ext cx="895350" cy="9525"/>
          </a:xfrm>
          <a:prstGeom prst="rect">
            <a:avLst/>
          </a:prstGeom>
          <a:solidFill>
            <a:srgbClr val="C7BBDC"/>
          </a:solidFill>
          <a:ln/>
        </p:spPr>
      </p:sp>
      <p:sp>
        <p:nvSpPr>
          <p:cNvPr id="37" name="Text 30"/>
          <p:cNvSpPr/>
          <p:nvPr/>
        </p:nvSpPr>
        <p:spPr>
          <a:xfrm>
            <a:off x="5081588" y="3219450"/>
            <a:ext cx="742950" cy="180975"/>
          </a:xfrm>
          <a:prstGeom prst="rect">
            <a:avLst/>
          </a:prstGeom>
          <a:noFill/>
          <a:ln/>
        </p:spPr>
        <p:txBody>
          <a:bodyPr wrap="none" lIns="25400" tIns="25400" rIns="25400" bIns="25400" rtlCol="0" anchor="ctr">
            <a:normAutofit/>
          </a:bodyPr>
          <a:lstStyle/>
          <a:p>
            <a:pPr algn="r" indent="0" marL="0">
              <a:buNone/>
            </a:pPr>
            <a:r>
              <a:rPr lang="en-US" sz="900" spc="108" kern="0" dirty="0">
                <a:solidFill>
                  <a:srgbClr val="6E6485"/>
                </a:solidFill>
                <a:latin typeface="Courier New" pitchFamily="34" charset="0"/>
                <a:ea typeface="Courier New" pitchFamily="34" charset="-122"/>
                <a:cs typeface="Courier New" pitchFamily="34" charset="-120"/>
              </a:rPr>
              <a:t>ROLL</a:t>
            </a:r>
            <a:endParaRPr lang="en-US" sz="900" dirty="0"/>
          </a:p>
        </p:txBody>
      </p:sp>
      <p:sp>
        <p:nvSpPr>
          <p:cNvPr id="38" name="Shape 31"/>
          <p:cNvSpPr/>
          <p:nvPr/>
        </p:nvSpPr>
        <p:spPr>
          <a:xfrm>
            <a:off x="5938838" y="3438525"/>
            <a:ext cx="7060853" cy="9525"/>
          </a:xfrm>
          <a:prstGeom prst="rect">
            <a:avLst/>
          </a:prstGeom>
          <a:solidFill>
            <a:srgbClr val="C7BBDC"/>
          </a:solidFill>
          <a:ln/>
        </p:spPr>
      </p:sp>
      <p:sp>
        <p:nvSpPr>
          <p:cNvPr id="39" name="Text 32"/>
          <p:cNvSpPr/>
          <p:nvPr/>
        </p:nvSpPr>
        <p:spPr>
          <a:xfrm>
            <a:off x="6053138" y="3219450"/>
            <a:ext cx="7044078" cy="180975"/>
          </a:xfrm>
          <a:prstGeom prst="rect">
            <a:avLst/>
          </a:prstGeom>
          <a:noFill/>
          <a:ln/>
        </p:spPr>
        <p:txBody>
          <a:bodyPr wrap="none" lIns="25400" tIns="25400" rIns="25400" bIns="25400" rtlCol="0" anchor="ctr">
            <a:normAutofit/>
          </a:bodyPr>
          <a:lstStyle/>
          <a:p>
            <a:pPr algn="l" indent="0" marL="0">
              <a:buNone/>
            </a:pPr>
            <a:r>
              <a:rPr lang="en-US" sz="900" spc="108" kern="0" dirty="0">
                <a:solidFill>
                  <a:srgbClr val="6E6485"/>
                </a:solidFill>
                <a:latin typeface="Courier New" pitchFamily="34" charset="0"/>
                <a:ea typeface="Courier New" pitchFamily="34" charset="-122"/>
                <a:cs typeface="Courier New" pitchFamily="34" charset="-120"/>
              </a:rPr>
              <a:t>EFFECT</a:t>
            </a:r>
            <a:endParaRPr lang="en-US" sz="900" dirty="0"/>
          </a:p>
        </p:txBody>
      </p:sp>
      <p:sp>
        <p:nvSpPr>
          <p:cNvPr id="40" name="Shape 33"/>
          <p:cNvSpPr/>
          <p:nvPr/>
        </p:nvSpPr>
        <p:spPr>
          <a:xfrm>
            <a:off x="12999690" y="3438525"/>
            <a:ext cx="2311747" cy="9525"/>
          </a:xfrm>
          <a:prstGeom prst="rect">
            <a:avLst/>
          </a:prstGeom>
          <a:solidFill>
            <a:srgbClr val="C7BBDC"/>
          </a:solidFill>
          <a:ln/>
        </p:spPr>
      </p:sp>
      <p:sp>
        <p:nvSpPr>
          <p:cNvPr id="41" name="Text 34"/>
          <p:cNvSpPr/>
          <p:nvPr/>
        </p:nvSpPr>
        <p:spPr>
          <a:xfrm>
            <a:off x="13113990" y="3219450"/>
            <a:ext cx="2159347" cy="180975"/>
          </a:xfrm>
          <a:prstGeom prst="rect">
            <a:avLst/>
          </a:prstGeom>
          <a:noFill/>
          <a:ln/>
        </p:spPr>
        <p:txBody>
          <a:bodyPr wrap="none" lIns="25400" tIns="25400" rIns="25400" bIns="25400" rtlCol="0" anchor="ctr">
            <a:normAutofit/>
          </a:bodyPr>
          <a:lstStyle/>
          <a:p>
            <a:pPr algn="l" indent="0" marL="0">
              <a:buNone/>
            </a:pPr>
            <a:r>
              <a:rPr lang="en-US" sz="900" spc="108" kern="0" dirty="0">
                <a:solidFill>
                  <a:srgbClr val="6E6485"/>
                </a:solidFill>
                <a:latin typeface="Courier New" pitchFamily="34" charset="0"/>
                <a:ea typeface="Courier New" pitchFamily="34" charset="-122"/>
                <a:cs typeface="Courier New" pitchFamily="34" charset="-120"/>
              </a:rPr>
              <a:t>SEVERITY</a:t>
            </a:r>
            <a:endParaRPr lang="en-US" sz="900" dirty="0"/>
          </a:p>
        </p:txBody>
      </p:sp>
      <p:sp>
        <p:nvSpPr>
          <p:cNvPr id="42" name="Shape 35"/>
          <p:cNvSpPr/>
          <p:nvPr/>
        </p:nvSpPr>
        <p:spPr>
          <a:xfrm>
            <a:off x="5043488" y="3823320"/>
            <a:ext cx="895350" cy="9525"/>
          </a:xfrm>
          <a:prstGeom prst="rect">
            <a:avLst/>
          </a:prstGeom>
          <a:solidFill>
            <a:srgbClr val="D8D0E6"/>
          </a:solidFill>
          <a:ln/>
        </p:spPr>
      </p:sp>
      <p:sp>
        <p:nvSpPr>
          <p:cNvPr id="43" name="Text 36"/>
          <p:cNvSpPr/>
          <p:nvPr/>
        </p:nvSpPr>
        <p:spPr>
          <a:xfrm>
            <a:off x="5081588" y="3524250"/>
            <a:ext cx="742950" cy="260970"/>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1</a:t>
            </a:r>
            <a:endParaRPr lang="en-US" sz="1050" dirty="0"/>
          </a:p>
        </p:txBody>
      </p:sp>
      <p:sp>
        <p:nvSpPr>
          <p:cNvPr id="44" name="Shape 37"/>
          <p:cNvSpPr/>
          <p:nvPr/>
        </p:nvSpPr>
        <p:spPr>
          <a:xfrm>
            <a:off x="5938838" y="3823320"/>
            <a:ext cx="7060853" cy="9525"/>
          </a:xfrm>
          <a:prstGeom prst="rect">
            <a:avLst/>
          </a:prstGeom>
          <a:solidFill>
            <a:srgbClr val="D8D0E6"/>
          </a:solidFill>
          <a:ln/>
        </p:spPr>
      </p:sp>
      <p:sp>
        <p:nvSpPr>
          <p:cNvPr id="45" name="Text 38"/>
          <p:cNvSpPr/>
          <p:nvPr/>
        </p:nvSpPr>
        <p:spPr>
          <a:xfrm>
            <a:off x="6053138" y="3524250"/>
            <a:ext cx="7044078" cy="260970"/>
          </a:xfrm>
          <a:prstGeom prst="rect">
            <a:avLst/>
          </a:prstGeom>
          <a:noFill/>
          <a:ln/>
        </p:spPr>
        <p:txBody>
          <a:bodyPr wrap="square" lIns="25400" tIns="25400" rIns="25400" bIns="25400" rtlCol="0" anchor="ctr">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The drowned answer in your stead.</a:t>
            </a:r>
            <a:endParaRPr lang="en-US" sz="1050" dirty="0"/>
          </a:p>
        </p:txBody>
      </p:sp>
      <p:sp>
        <p:nvSpPr>
          <p:cNvPr id="46" name="Shape 39"/>
          <p:cNvSpPr/>
          <p:nvPr/>
        </p:nvSpPr>
        <p:spPr>
          <a:xfrm>
            <a:off x="12999690" y="3823320"/>
            <a:ext cx="2311747" cy="9525"/>
          </a:xfrm>
          <a:prstGeom prst="rect">
            <a:avLst/>
          </a:prstGeom>
          <a:solidFill>
            <a:srgbClr val="D8D0E6"/>
          </a:solidFill>
          <a:ln/>
        </p:spPr>
      </p:sp>
      <p:sp>
        <p:nvSpPr>
          <p:cNvPr id="47" name="Shape 40"/>
          <p:cNvSpPr/>
          <p:nvPr/>
        </p:nvSpPr>
        <p:spPr>
          <a:xfrm>
            <a:off x="13113990" y="3534742"/>
            <a:ext cx="670620" cy="217140"/>
          </a:xfrm>
          <a:prstGeom prst="roundRect">
            <a:avLst>
              <a:gd name="adj" fmla="val 50000"/>
            </a:avLst>
          </a:prstGeom>
          <a:solidFill>
            <a:srgbClr val="8A1F2A">
              <a:alpha val="18000"/>
            </a:srgbClr>
          </a:solidFill>
          <a:ln/>
        </p:spPr>
      </p:sp>
      <p:sp>
        <p:nvSpPr>
          <p:cNvPr id="48" name="Shape 41"/>
          <p:cNvSpPr/>
          <p:nvPr/>
        </p:nvSpPr>
        <p:spPr>
          <a:xfrm>
            <a:off x="13209240" y="3614738"/>
            <a:ext cx="57150" cy="57150"/>
          </a:xfrm>
          <a:prstGeom prst="ellipse">
            <a:avLst/>
          </a:prstGeom>
          <a:solidFill>
            <a:srgbClr val="8A1F2A"/>
          </a:solidFill>
          <a:ln/>
        </p:spPr>
      </p:sp>
      <p:sp>
        <p:nvSpPr>
          <p:cNvPr id="49" name="Text 42"/>
          <p:cNvSpPr/>
          <p:nvPr/>
        </p:nvSpPr>
        <p:spPr>
          <a:xfrm>
            <a:off x="13323540" y="3568080"/>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8A1F2A"/>
                </a:solidFill>
                <a:latin typeface="Courier New" pitchFamily="34" charset="0"/>
                <a:ea typeface="Courier New" pitchFamily="34" charset="-122"/>
                <a:cs typeface="Courier New" pitchFamily="34" charset="-120"/>
              </a:rPr>
              <a:t>GRAVE</a:t>
            </a:r>
            <a:endParaRPr lang="en-US" sz="900" dirty="0"/>
          </a:p>
        </p:txBody>
      </p:sp>
      <p:sp>
        <p:nvSpPr>
          <p:cNvPr id="50" name="Shape 43"/>
          <p:cNvSpPr/>
          <p:nvPr/>
        </p:nvSpPr>
        <p:spPr>
          <a:xfrm>
            <a:off x="5043488" y="3832845"/>
            <a:ext cx="10267950" cy="384795"/>
          </a:xfrm>
          <a:prstGeom prst="rect">
            <a:avLst/>
          </a:prstGeom>
          <a:solidFill>
            <a:srgbClr val="E2DCEE"/>
          </a:solidFill>
          <a:ln/>
        </p:spPr>
      </p:sp>
      <p:sp>
        <p:nvSpPr>
          <p:cNvPr id="51" name="Shape 44"/>
          <p:cNvSpPr/>
          <p:nvPr/>
        </p:nvSpPr>
        <p:spPr>
          <a:xfrm>
            <a:off x="5043488" y="4208115"/>
            <a:ext cx="895350" cy="9525"/>
          </a:xfrm>
          <a:prstGeom prst="rect">
            <a:avLst/>
          </a:prstGeom>
          <a:solidFill>
            <a:srgbClr val="D8D0E6"/>
          </a:solidFill>
          <a:ln/>
        </p:spPr>
      </p:sp>
      <p:sp>
        <p:nvSpPr>
          <p:cNvPr id="52" name="Text 45"/>
          <p:cNvSpPr/>
          <p:nvPr/>
        </p:nvSpPr>
        <p:spPr>
          <a:xfrm>
            <a:off x="5081588" y="3909045"/>
            <a:ext cx="742950" cy="260970"/>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7</a:t>
            </a:r>
            <a:endParaRPr lang="en-US" sz="1050" dirty="0"/>
          </a:p>
        </p:txBody>
      </p:sp>
      <p:sp>
        <p:nvSpPr>
          <p:cNvPr id="53" name="Shape 46"/>
          <p:cNvSpPr/>
          <p:nvPr/>
        </p:nvSpPr>
        <p:spPr>
          <a:xfrm>
            <a:off x="5938838" y="4208115"/>
            <a:ext cx="7060853" cy="9525"/>
          </a:xfrm>
          <a:prstGeom prst="rect">
            <a:avLst/>
          </a:prstGeom>
          <a:solidFill>
            <a:srgbClr val="D8D0E6"/>
          </a:solidFill>
          <a:ln/>
        </p:spPr>
      </p:sp>
      <p:sp>
        <p:nvSpPr>
          <p:cNvPr id="54" name="Text 47"/>
          <p:cNvSpPr/>
          <p:nvPr/>
        </p:nvSpPr>
        <p:spPr>
          <a:xfrm>
            <a:off x="6053138" y="3909045"/>
            <a:ext cx="7044078" cy="260970"/>
          </a:xfrm>
          <a:prstGeom prst="rect">
            <a:avLst/>
          </a:prstGeom>
          <a:noFill/>
          <a:ln/>
        </p:spPr>
        <p:txBody>
          <a:bodyPr wrap="square" lIns="25400" tIns="25400" rIns="25400" bIns="25400" rtlCol="0" anchor="ctr">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Salt crusts the caster's eyes for an hour.</a:t>
            </a:r>
            <a:endParaRPr lang="en-US" sz="1050" dirty="0"/>
          </a:p>
        </p:txBody>
      </p:sp>
      <p:sp>
        <p:nvSpPr>
          <p:cNvPr id="55" name="Shape 48"/>
          <p:cNvSpPr/>
          <p:nvPr/>
        </p:nvSpPr>
        <p:spPr>
          <a:xfrm>
            <a:off x="12999690" y="4208115"/>
            <a:ext cx="2311747" cy="9525"/>
          </a:xfrm>
          <a:prstGeom prst="rect">
            <a:avLst/>
          </a:prstGeom>
          <a:solidFill>
            <a:srgbClr val="D8D0E6"/>
          </a:solidFill>
          <a:ln/>
        </p:spPr>
      </p:sp>
      <p:sp>
        <p:nvSpPr>
          <p:cNvPr id="56" name="Shape 49"/>
          <p:cNvSpPr/>
          <p:nvPr/>
        </p:nvSpPr>
        <p:spPr>
          <a:xfrm>
            <a:off x="13113990" y="3919537"/>
            <a:ext cx="524321" cy="217140"/>
          </a:xfrm>
          <a:prstGeom prst="roundRect">
            <a:avLst>
              <a:gd name="adj" fmla="val 50000"/>
            </a:avLst>
          </a:prstGeom>
          <a:solidFill>
            <a:srgbClr val="B5601F">
              <a:alpha val="16000"/>
            </a:srgbClr>
          </a:solidFill>
          <a:ln/>
        </p:spPr>
      </p:sp>
      <p:sp>
        <p:nvSpPr>
          <p:cNvPr id="57" name="Shape 50"/>
          <p:cNvSpPr/>
          <p:nvPr/>
        </p:nvSpPr>
        <p:spPr>
          <a:xfrm>
            <a:off x="13209240" y="3999533"/>
            <a:ext cx="57150" cy="57150"/>
          </a:xfrm>
          <a:prstGeom prst="ellipse">
            <a:avLst/>
          </a:prstGeom>
          <a:solidFill>
            <a:srgbClr val="B5601F"/>
          </a:solidFill>
          <a:ln/>
        </p:spPr>
      </p:sp>
      <p:sp>
        <p:nvSpPr>
          <p:cNvPr id="58" name="Text 51"/>
          <p:cNvSpPr/>
          <p:nvPr/>
        </p:nvSpPr>
        <p:spPr>
          <a:xfrm>
            <a:off x="13323540" y="3952875"/>
            <a:ext cx="295721"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B5601F"/>
                </a:solidFill>
                <a:latin typeface="Courier New" pitchFamily="34" charset="0"/>
                <a:ea typeface="Courier New" pitchFamily="34" charset="-122"/>
                <a:cs typeface="Courier New" pitchFamily="34" charset="-120"/>
              </a:rPr>
              <a:t>ILL</a:t>
            </a:r>
            <a:endParaRPr lang="en-US" sz="900" dirty="0"/>
          </a:p>
        </p:txBody>
      </p:sp>
      <p:sp>
        <p:nvSpPr>
          <p:cNvPr id="59" name="Shape 52"/>
          <p:cNvSpPr/>
          <p:nvPr/>
        </p:nvSpPr>
        <p:spPr>
          <a:xfrm>
            <a:off x="5043488" y="4592910"/>
            <a:ext cx="895350" cy="9525"/>
          </a:xfrm>
          <a:prstGeom prst="rect">
            <a:avLst/>
          </a:prstGeom>
          <a:solidFill>
            <a:srgbClr val="D8D0E6"/>
          </a:solidFill>
          <a:ln/>
        </p:spPr>
      </p:sp>
      <p:sp>
        <p:nvSpPr>
          <p:cNvPr id="60" name="Text 53"/>
          <p:cNvSpPr/>
          <p:nvPr/>
        </p:nvSpPr>
        <p:spPr>
          <a:xfrm>
            <a:off x="5081588" y="4293840"/>
            <a:ext cx="742950" cy="260970"/>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13</a:t>
            </a:r>
            <a:endParaRPr lang="en-US" sz="1050" dirty="0"/>
          </a:p>
        </p:txBody>
      </p:sp>
      <p:sp>
        <p:nvSpPr>
          <p:cNvPr id="61" name="Shape 54"/>
          <p:cNvSpPr/>
          <p:nvPr/>
        </p:nvSpPr>
        <p:spPr>
          <a:xfrm>
            <a:off x="5938838" y="4592910"/>
            <a:ext cx="7060853" cy="9525"/>
          </a:xfrm>
          <a:prstGeom prst="rect">
            <a:avLst/>
          </a:prstGeom>
          <a:solidFill>
            <a:srgbClr val="D8D0E6"/>
          </a:solidFill>
          <a:ln/>
        </p:spPr>
      </p:sp>
      <p:sp>
        <p:nvSpPr>
          <p:cNvPr id="62" name="Text 55"/>
          <p:cNvSpPr/>
          <p:nvPr/>
        </p:nvSpPr>
        <p:spPr>
          <a:xfrm>
            <a:off x="6053138" y="4293840"/>
            <a:ext cx="7044078" cy="260970"/>
          </a:xfrm>
          <a:prstGeom prst="rect">
            <a:avLst/>
          </a:prstGeom>
          <a:noFill/>
          <a:ln/>
        </p:spPr>
        <p:txBody>
          <a:bodyPr wrap="square" lIns="25400" tIns="25400" rIns="25400" bIns="25400" rtlCol="0" anchor="ctr">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A cold wind reveals one hidden thing.</a:t>
            </a:r>
            <a:endParaRPr lang="en-US" sz="1050" dirty="0"/>
          </a:p>
        </p:txBody>
      </p:sp>
      <p:sp>
        <p:nvSpPr>
          <p:cNvPr id="63" name="Shape 56"/>
          <p:cNvSpPr/>
          <p:nvPr/>
        </p:nvSpPr>
        <p:spPr>
          <a:xfrm>
            <a:off x="12999690" y="4592910"/>
            <a:ext cx="2311747" cy="9525"/>
          </a:xfrm>
          <a:prstGeom prst="rect">
            <a:avLst/>
          </a:prstGeom>
          <a:solidFill>
            <a:srgbClr val="D8D0E6"/>
          </a:solidFill>
          <a:ln/>
        </p:spPr>
      </p:sp>
      <p:sp>
        <p:nvSpPr>
          <p:cNvPr id="64" name="Shape 57"/>
          <p:cNvSpPr/>
          <p:nvPr/>
        </p:nvSpPr>
        <p:spPr>
          <a:xfrm>
            <a:off x="13113990" y="4304333"/>
            <a:ext cx="597471" cy="217140"/>
          </a:xfrm>
          <a:prstGeom prst="roundRect">
            <a:avLst>
              <a:gd name="adj" fmla="val 50000"/>
            </a:avLst>
          </a:prstGeom>
          <a:solidFill>
            <a:srgbClr val="5B7A4E">
              <a:alpha val="16000"/>
            </a:srgbClr>
          </a:solidFill>
          <a:ln/>
        </p:spPr>
      </p:sp>
      <p:sp>
        <p:nvSpPr>
          <p:cNvPr id="65" name="Shape 58"/>
          <p:cNvSpPr/>
          <p:nvPr/>
        </p:nvSpPr>
        <p:spPr>
          <a:xfrm>
            <a:off x="13209240" y="4384328"/>
            <a:ext cx="57150" cy="57150"/>
          </a:xfrm>
          <a:prstGeom prst="ellipse">
            <a:avLst/>
          </a:prstGeom>
          <a:solidFill>
            <a:srgbClr val="5B7A4E"/>
          </a:solidFill>
          <a:ln/>
        </p:spPr>
      </p:sp>
      <p:sp>
        <p:nvSpPr>
          <p:cNvPr id="66" name="Text 59"/>
          <p:cNvSpPr/>
          <p:nvPr/>
        </p:nvSpPr>
        <p:spPr>
          <a:xfrm>
            <a:off x="13323540" y="4337670"/>
            <a:ext cx="368871"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FAIR</a:t>
            </a:r>
            <a:endParaRPr lang="en-US" sz="900" dirty="0"/>
          </a:p>
        </p:txBody>
      </p:sp>
      <p:sp>
        <p:nvSpPr>
          <p:cNvPr id="67" name="Shape 60"/>
          <p:cNvSpPr/>
          <p:nvPr/>
        </p:nvSpPr>
        <p:spPr>
          <a:xfrm>
            <a:off x="5043488" y="4602435"/>
            <a:ext cx="10267950" cy="380033"/>
          </a:xfrm>
          <a:prstGeom prst="rect">
            <a:avLst/>
          </a:prstGeom>
          <a:solidFill>
            <a:srgbClr val="E2DCEE"/>
          </a:solidFill>
          <a:ln/>
        </p:spPr>
      </p:sp>
      <p:sp>
        <p:nvSpPr>
          <p:cNvPr id="68" name="Text 61"/>
          <p:cNvSpPr/>
          <p:nvPr/>
        </p:nvSpPr>
        <p:spPr>
          <a:xfrm>
            <a:off x="5081588" y="4678635"/>
            <a:ext cx="742950" cy="265733"/>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20</a:t>
            </a:r>
            <a:endParaRPr lang="en-US" sz="1050" dirty="0"/>
          </a:p>
        </p:txBody>
      </p:sp>
      <p:sp>
        <p:nvSpPr>
          <p:cNvPr id="69" name="Text 62"/>
          <p:cNvSpPr/>
          <p:nvPr/>
        </p:nvSpPr>
        <p:spPr>
          <a:xfrm>
            <a:off x="6053138" y="4678635"/>
            <a:ext cx="7044078" cy="265733"/>
          </a:xfrm>
          <a:prstGeom prst="rect">
            <a:avLst/>
          </a:prstGeom>
          <a:noFill/>
          <a:ln/>
        </p:spPr>
        <p:txBody>
          <a:bodyPr wrap="square" lIns="25400" tIns="25400" rIns="25400" bIns="25400" rtlCol="0" anchor="ctr">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The bones favour you — reroll any one die.</a:t>
            </a:r>
            <a:endParaRPr lang="en-US" sz="1050" dirty="0"/>
          </a:p>
        </p:txBody>
      </p:sp>
      <p:sp>
        <p:nvSpPr>
          <p:cNvPr id="70" name="Shape 63"/>
          <p:cNvSpPr/>
          <p:nvPr/>
        </p:nvSpPr>
        <p:spPr>
          <a:xfrm>
            <a:off x="13113990" y="4689128"/>
            <a:ext cx="597471" cy="217140"/>
          </a:xfrm>
          <a:prstGeom prst="roundRect">
            <a:avLst>
              <a:gd name="adj" fmla="val 50000"/>
            </a:avLst>
          </a:prstGeom>
          <a:solidFill>
            <a:srgbClr val="5B7A4E">
              <a:alpha val="16000"/>
            </a:srgbClr>
          </a:solidFill>
          <a:ln/>
        </p:spPr>
      </p:sp>
      <p:sp>
        <p:nvSpPr>
          <p:cNvPr id="71" name="Shape 64"/>
          <p:cNvSpPr/>
          <p:nvPr/>
        </p:nvSpPr>
        <p:spPr>
          <a:xfrm>
            <a:off x="13209240" y="4769123"/>
            <a:ext cx="57150" cy="57150"/>
          </a:xfrm>
          <a:prstGeom prst="ellipse">
            <a:avLst/>
          </a:prstGeom>
          <a:solidFill>
            <a:srgbClr val="5B7A4E"/>
          </a:solidFill>
          <a:ln/>
        </p:spPr>
      </p:sp>
      <p:sp>
        <p:nvSpPr>
          <p:cNvPr id="72" name="Text 65"/>
          <p:cNvSpPr/>
          <p:nvPr/>
        </p:nvSpPr>
        <p:spPr>
          <a:xfrm>
            <a:off x="13323540" y="4722465"/>
            <a:ext cx="368871"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FAIR</a:t>
            </a:r>
            <a:endParaRPr lang="en-US" sz="900" dirty="0"/>
          </a:p>
        </p:txBody>
      </p:sp>
      <p:sp>
        <p:nvSpPr>
          <p:cNvPr id="73" name="Text 66"/>
          <p:cNvSpPr/>
          <p:nvPr/>
        </p:nvSpPr>
        <p:spPr>
          <a:xfrm>
            <a:off x="5033963" y="5220593"/>
            <a:ext cx="11315700" cy="185738"/>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4A3478"/>
                </a:solidFill>
                <a:latin typeface="Courier New" pitchFamily="34" charset="0"/>
                <a:ea typeface="Courier New" pitchFamily="34" charset="-122"/>
                <a:cs typeface="Courier New" pitchFamily="34" charset="-120"/>
              </a:rPr>
              <a:t>PARTY ROSTER</a:t>
            </a:r>
            <a:endParaRPr lang="en-US" sz="900" dirty="0"/>
          </a:p>
        </p:txBody>
      </p:sp>
      <p:sp>
        <p:nvSpPr>
          <p:cNvPr id="74" name="Shape 67"/>
          <p:cNvSpPr/>
          <p:nvPr/>
        </p:nvSpPr>
        <p:spPr>
          <a:xfrm>
            <a:off x="5033963" y="5463480"/>
            <a:ext cx="10287000" cy="1852612"/>
          </a:xfrm>
          <a:prstGeom prst="roundRect">
            <a:avLst>
              <a:gd name="adj" fmla="val 2571"/>
            </a:avLst>
          </a:prstGeom>
          <a:solidFill>
            <a:srgbClr val="F6F3FB"/>
          </a:solidFill>
          <a:ln w="9525">
            <a:solidFill>
              <a:srgbClr val="D8D0E6"/>
            </a:solidFill>
            <a:prstDash val="solid"/>
          </a:ln>
          <a:effectLst>
            <a:outerShdw sx="100000" sy="100000" kx="0" ky="0" algn="bl" rotWithShape="0" blurRad="133350" dist="38100" dir="5400000">
              <a:srgbClr val="000000">
                <a:alpha val="40000"/>
              </a:srgbClr>
            </a:outerShdw>
          </a:effectLst>
        </p:spPr>
      </p:sp>
      <p:sp>
        <p:nvSpPr>
          <p:cNvPr id="75" name="Shape 68"/>
          <p:cNvSpPr/>
          <p:nvPr/>
        </p:nvSpPr>
        <p:spPr>
          <a:xfrm>
            <a:off x="5043488" y="5473005"/>
            <a:ext cx="10267950" cy="381000"/>
          </a:xfrm>
          <a:prstGeom prst="rect">
            <a:avLst/>
          </a:prstGeom>
          <a:solidFill>
            <a:srgbClr val="E2DCEE"/>
          </a:solidFill>
          <a:ln/>
        </p:spPr>
      </p:sp>
      <p:sp>
        <p:nvSpPr>
          <p:cNvPr id="76" name="Shape 69"/>
          <p:cNvSpPr/>
          <p:nvPr/>
        </p:nvSpPr>
        <p:spPr>
          <a:xfrm>
            <a:off x="5043488" y="5844480"/>
            <a:ext cx="4249117" cy="9525"/>
          </a:xfrm>
          <a:prstGeom prst="rect">
            <a:avLst/>
          </a:prstGeom>
          <a:solidFill>
            <a:srgbClr val="C7BBDC"/>
          </a:solidFill>
          <a:ln/>
        </p:spPr>
      </p:sp>
      <p:sp>
        <p:nvSpPr>
          <p:cNvPr id="77" name="Text 70"/>
          <p:cNvSpPr/>
          <p:nvPr/>
        </p:nvSpPr>
        <p:spPr>
          <a:xfrm>
            <a:off x="5195888" y="5587305"/>
            <a:ext cx="4071791" cy="180975"/>
          </a:xfrm>
          <a:prstGeom prst="rect">
            <a:avLst/>
          </a:prstGeom>
          <a:noFill/>
          <a:ln/>
        </p:spPr>
        <p:txBody>
          <a:bodyPr wrap="none" lIns="25400" tIns="25400" rIns="25400" bIns="25400" rtlCol="0" anchor="ctr">
            <a:normAutofit/>
          </a:bodyPr>
          <a:lstStyle/>
          <a:p>
            <a:pPr algn="l" indent="0" marL="0">
              <a:buNone/>
            </a:pPr>
            <a:r>
              <a:rPr lang="en-US" sz="900" spc="108" kern="0" dirty="0">
                <a:solidFill>
                  <a:srgbClr val="6E6485"/>
                </a:solidFill>
                <a:latin typeface="Courier New" pitchFamily="34" charset="0"/>
                <a:ea typeface="Courier New" pitchFamily="34" charset="-122"/>
                <a:cs typeface="Courier New" pitchFamily="34" charset="-120"/>
              </a:rPr>
              <a:t>CHARACTER</a:t>
            </a:r>
            <a:endParaRPr lang="en-US" sz="900" dirty="0"/>
          </a:p>
        </p:txBody>
      </p:sp>
      <p:sp>
        <p:nvSpPr>
          <p:cNvPr id="78" name="Shape 71"/>
          <p:cNvSpPr/>
          <p:nvPr/>
        </p:nvSpPr>
        <p:spPr>
          <a:xfrm>
            <a:off x="9292605" y="5844480"/>
            <a:ext cx="2846859" cy="9525"/>
          </a:xfrm>
          <a:prstGeom prst="rect">
            <a:avLst/>
          </a:prstGeom>
          <a:solidFill>
            <a:srgbClr val="C7BBDC"/>
          </a:solidFill>
          <a:ln/>
        </p:spPr>
      </p:sp>
      <p:sp>
        <p:nvSpPr>
          <p:cNvPr id="79" name="Text 72"/>
          <p:cNvSpPr/>
          <p:nvPr/>
        </p:nvSpPr>
        <p:spPr>
          <a:xfrm>
            <a:off x="9445005" y="5587305"/>
            <a:ext cx="2627465" cy="180975"/>
          </a:xfrm>
          <a:prstGeom prst="rect">
            <a:avLst/>
          </a:prstGeom>
          <a:noFill/>
          <a:ln/>
        </p:spPr>
        <p:txBody>
          <a:bodyPr wrap="none" lIns="25400" tIns="25400" rIns="25400" bIns="25400" rtlCol="0" anchor="ctr">
            <a:normAutofit/>
          </a:bodyPr>
          <a:lstStyle/>
          <a:p>
            <a:pPr algn="l" indent="0" marL="0">
              <a:buNone/>
            </a:pPr>
            <a:r>
              <a:rPr lang="en-US" sz="900" spc="108" kern="0" dirty="0">
                <a:solidFill>
                  <a:srgbClr val="6E6485"/>
                </a:solidFill>
                <a:latin typeface="Courier New" pitchFamily="34" charset="0"/>
                <a:ea typeface="Courier New" pitchFamily="34" charset="-122"/>
                <a:cs typeface="Courier New" pitchFamily="34" charset="-120"/>
              </a:rPr>
              <a:t>DISCIPLINE</a:t>
            </a:r>
            <a:endParaRPr lang="en-US" sz="900" dirty="0"/>
          </a:p>
        </p:txBody>
      </p:sp>
      <p:sp>
        <p:nvSpPr>
          <p:cNvPr id="80" name="Shape 73"/>
          <p:cNvSpPr/>
          <p:nvPr/>
        </p:nvSpPr>
        <p:spPr>
          <a:xfrm>
            <a:off x="12139464" y="5844480"/>
            <a:ext cx="1392585" cy="9525"/>
          </a:xfrm>
          <a:prstGeom prst="rect">
            <a:avLst/>
          </a:prstGeom>
          <a:solidFill>
            <a:srgbClr val="C7BBDC"/>
          </a:solidFill>
          <a:ln/>
        </p:spPr>
      </p:sp>
      <p:sp>
        <p:nvSpPr>
          <p:cNvPr id="81" name="Text 74"/>
          <p:cNvSpPr/>
          <p:nvPr/>
        </p:nvSpPr>
        <p:spPr>
          <a:xfrm>
            <a:off x="12215664" y="5587305"/>
            <a:ext cx="1163985" cy="180975"/>
          </a:xfrm>
          <a:prstGeom prst="rect">
            <a:avLst/>
          </a:prstGeom>
          <a:noFill/>
          <a:ln/>
        </p:spPr>
        <p:txBody>
          <a:bodyPr wrap="none" lIns="25400" tIns="25400" rIns="25400" bIns="25400" rtlCol="0" anchor="ctr">
            <a:normAutofit/>
          </a:bodyPr>
          <a:lstStyle/>
          <a:p>
            <a:pPr algn="r" indent="0" marL="0">
              <a:buNone/>
            </a:pPr>
            <a:r>
              <a:rPr lang="en-US" sz="900" spc="108" kern="0" dirty="0">
                <a:solidFill>
                  <a:srgbClr val="6E6485"/>
                </a:solidFill>
                <a:latin typeface="Courier New" pitchFamily="34" charset="0"/>
                <a:ea typeface="Courier New" pitchFamily="34" charset="-122"/>
                <a:cs typeface="Courier New" pitchFamily="34" charset="-120"/>
              </a:rPr>
              <a:t>LVL</a:t>
            </a:r>
            <a:endParaRPr lang="en-US" sz="900" dirty="0"/>
          </a:p>
        </p:txBody>
      </p:sp>
      <p:sp>
        <p:nvSpPr>
          <p:cNvPr id="82" name="Shape 75"/>
          <p:cNvSpPr/>
          <p:nvPr/>
        </p:nvSpPr>
        <p:spPr>
          <a:xfrm>
            <a:off x="13532048" y="5844480"/>
            <a:ext cx="1779389" cy="9525"/>
          </a:xfrm>
          <a:prstGeom prst="rect">
            <a:avLst/>
          </a:prstGeom>
          <a:solidFill>
            <a:srgbClr val="C7BBDC"/>
          </a:solidFill>
          <a:ln/>
        </p:spPr>
      </p:sp>
      <p:sp>
        <p:nvSpPr>
          <p:cNvPr id="83" name="Text 76"/>
          <p:cNvSpPr/>
          <p:nvPr/>
        </p:nvSpPr>
        <p:spPr>
          <a:xfrm>
            <a:off x="13608248" y="5587305"/>
            <a:ext cx="1550789" cy="180975"/>
          </a:xfrm>
          <a:prstGeom prst="rect">
            <a:avLst/>
          </a:prstGeom>
          <a:noFill/>
          <a:ln/>
        </p:spPr>
        <p:txBody>
          <a:bodyPr wrap="none" lIns="25400" tIns="25400" rIns="25400" bIns="25400" rtlCol="0" anchor="ctr">
            <a:normAutofit/>
          </a:bodyPr>
          <a:lstStyle/>
          <a:p>
            <a:pPr algn="r" indent="0" marL="0">
              <a:buNone/>
            </a:pPr>
            <a:r>
              <a:rPr lang="en-US" sz="900" spc="108" kern="0" dirty="0">
                <a:solidFill>
                  <a:srgbClr val="6E6485"/>
                </a:solidFill>
                <a:latin typeface="Courier New" pitchFamily="34" charset="0"/>
                <a:ea typeface="Courier New" pitchFamily="34" charset="-122"/>
                <a:cs typeface="Courier New" pitchFamily="34" charset="-120"/>
              </a:rPr>
              <a:t>HP</a:t>
            </a:r>
            <a:endParaRPr lang="en-US" sz="900" dirty="0"/>
          </a:p>
        </p:txBody>
      </p:sp>
      <p:sp>
        <p:nvSpPr>
          <p:cNvPr id="84" name="Shape 77"/>
          <p:cNvSpPr/>
          <p:nvPr/>
        </p:nvSpPr>
        <p:spPr>
          <a:xfrm>
            <a:off x="5043488" y="6330255"/>
            <a:ext cx="4249117" cy="9525"/>
          </a:xfrm>
          <a:prstGeom prst="rect">
            <a:avLst/>
          </a:prstGeom>
          <a:solidFill>
            <a:srgbClr val="D8D0E6"/>
          </a:solidFill>
          <a:ln/>
        </p:spPr>
      </p:sp>
      <p:sp>
        <p:nvSpPr>
          <p:cNvPr id="85" name="Shape 78"/>
          <p:cNvSpPr/>
          <p:nvPr/>
        </p:nvSpPr>
        <p:spPr>
          <a:xfrm>
            <a:off x="5195888" y="5973068"/>
            <a:ext cx="247650" cy="247650"/>
          </a:xfrm>
          <a:prstGeom prst="ellipse">
            <a:avLst/>
          </a:prstGeom>
          <a:solidFill>
            <a:srgbClr val="FBF9FE"/>
          </a:solidFill>
          <a:ln w="9525">
            <a:solidFill>
              <a:srgbClr val="C7BBDC"/>
            </a:solidFill>
            <a:prstDash val="solid"/>
          </a:ln>
          <a:effectLst>
            <a:outerShdw sx="100000" sy="100000" kx="0" ky="0" algn="bl" rotWithShape="0" blurRad="19050" dist="9525" dir="5400000">
              <a:srgbClr val="000000">
                <a:alpha val="35000"/>
              </a:srgbClr>
            </a:outerShdw>
          </a:effectLst>
        </p:spPr>
      </p:sp>
      <p:sp>
        <p:nvSpPr>
          <p:cNvPr id="86" name="Text 79"/>
          <p:cNvSpPr/>
          <p:nvPr/>
        </p:nvSpPr>
        <p:spPr>
          <a:xfrm>
            <a:off x="5167313" y="5982593"/>
            <a:ext cx="304800" cy="266700"/>
          </a:xfrm>
          <a:prstGeom prst="rect">
            <a:avLst/>
          </a:prstGeom>
          <a:noFill/>
          <a:ln/>
        </p:spPr>
        <p:txBody>
          <a:bodyPr wrap="square" lIns="25400" tIns="25400" rIns="25400" bIns="25400" rtlCol="0" anchor="ctr">
            <a:normAutofit/>
          </a:bodyPr>
          <a:lstStyle/>
          <a:p>
            <a:pPr algn="ctr" indent="0" marL="0">
              <a:buNone/>
            </a:pPr>
            <a:r>
              <a:rPr lang="en-US" sz="750" b="1" dirty="0">
                <a:solidFill>
                  <a:srgbClr val="3D3554"/>
                </a:solidFill>
                <a:latin typeface="Georgia" pitchFamily="34" charset="0"/>
                <a:ea typeface="Georgia" pitchFamily="34" charset="-122"/>
                <a:cs typeface="Georgia" pitchFamily="34" charset="-120"/>
              </a:rPr>
              <a:t>KN</a:t>
            </a:r>
            <a:endParaRPr lang="en-US" sz="750" dirty="0"/>
          </a:p>
        </p:txBody>
      </p:sp>
      <p:sp>
        <p:nvSpPr>
          <p:cNvPr id="87" name="Shape 80"/>
          <p:cNvSpPr/>
          <p:nvPr/>
        </p:nvSpPr>
        <p:spPr>
          <a:xfrm>
            <a:off x="5338763" y="6115943"/>
            <a:ext cx="114300" cy="114300"/>
          </a:xfrm>
          <a:prstGeom prst="ellipse">
            <a:avLst/>
          </a:prstGeom>
          <a:solidFill>
            <a:srgbClr val="5B7A4E"/>
          </a:solidFill>
          <a:ln w="19050">
            <a:solidFill>
              <a:srgbClr val="F6F3FB"/>
            </a:solidFill>
            <a:prstDash val="solid"/>
          </a:ln>
        </p:spPr>
      </p:sp>
      <p:sp>
        <p:nvSpPr>
          <p:cNvPr id="88" name="Text 81"/>
          <p:cNvSpPr/>
          <p:nvPr/>
        </p:nvSpPr>
        <p:spPr>
          <a:xfrm>
            <a:off x="5538788" y="5994499"/>
            <a:ext cx="941561" cy="242888"/>
          </a:xfrm>
          <a:prstGeom prst="rect">
            <a:avLst/>
          </a:prstGeom>
          <a:noFill/>
          <a:ln/>
        </p:spPr>
        <p:txBody>
          <a:bodyPr wrap="square" lIns="0" tIns="0" rIns="0" bIns="0" rtlCol="0" anchor="t">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Kára Nightveil</a:t>
            </a:r>
            <a:endParaRPr lang="en-US" sz="1050" dirty="0"/>
          </a:p>
        </p:txBody>
      </p:sp>
      <p:sp>
        <p:nvSpPr>
          <p:cNvPr id="89" name="Shape 82"/>
          <p:cNvSpPr/>
          <p:nvPr/>
        </p:nvSpPr>
        <p:spPr>
          <a:xfrm>
            <a:off x="9292605" y="6330255"/>
            <a:ext cx="2846859" cy="9525"/>
          </a:xfrm>
          <a:prstGeom prst="rect">
            <a:avLst/>
          </a:prstGeom>
          <a:solidFill>
            <a:srgbClr val="D8D0E6"/>
          </a:solidFill>
          <a:ln/>
        </p:spPr>
      </p:sp>
      <p:sp>
        <p:nvSpPr>
          <p:cNvPr id="90" name="Text 83"/>
          <p:cNvSpPr/>
          <p:nvPr/>
        </p:nvSpPr>
        <p:spPr>
          <a:xfrm>
            <a:off x="9445005" y="5968305"/>
            <a:ext cx="2627465" cy="285750"/>
          </a:xfrm>
          <a:prstGeom prst="rect">
            <a:avLst/>
          </a:prstGeom>
          <a:noFill/>
          <a:ln/>
        </p:spPr>
        <p:txBody>
          <a:bodyPr wrap="square" lIns="25400" tIns="25400" rIns="25400" bIns="25400" rtlCol="0" anchor="ctr">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Necromancer</a:t>
            </a:r>
            <a:endParaRPr lang="en-US" sz="1050" dirty="0"/>
          </a:p>
        </p:txBody>
      </p:sp>
      <p:sp>
        <p:nvSpPr>
          <p:cNvPr id="91" name="Shape 84"/>
          <p:cNvSpPr/>
          <p:nvPr/>
        </p:nvSpPr>
        <p:spPr>
          <a:xfrm>
            <a:off x="12139464" y="6330255"/>
            <a:ext cx="1392585" cy="9525"/>
          </a:xfrm>
          <a:prstGeom prst="rect">
            <a:avLst/>
          </a:prstGeom>
          <a:solidFill>
            <a:srgbClr val="D8D0E6"/>
          </a:solidFill>
          <a:ln/>
        </p:spPr>
      </p:sp>
      <p:sp>
        <p:nvSpPr>
          <p:cNvPr id="92" name="Text 85"/>
          <p:cNvSpPr/>
          <p:nvPr/>
        </p:nvSpPr>
        <p:spPr>
          <a:xfrm>
            <a:off x="12215664" y="5968305"/>
            <a:ext cx="1163985" cy="285750"/>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6</a:t>
            </a:r>
            <a:endParaRPr lang="en-US" sz="1050" dirty="0"/>
          </a:p>
        </p:txBody>
      </p:sp>
      <p:sp>
        <p:nvSpPr>
          <p:cNvPr id="93" name="Shape 86"/>
          <p:cNvSpPr/>
          <p:nvPr/>
        </p:nvSpPr>
        <p:spPr>
          <a:xfrm>
            <a:off x="13532048" y="6330255"/>
            <a:ext cx="1779389" cy="9525"/>
          </a:xfrm>
          <a:prstGeom prst="rect">
            <a:avLst/>
          </a:prstGeom>
          <a:solidFill>
            <a:srgbClr val="D8D0E6"/>
          </a:solidFill>
          <a:ln/>
        </p:spPr>
      </p:sp>
      <p:sp>
        <p:nvSpPr>
          <p:cNvPr id="94" name="Text 87"/>
          <p:cNvSpPr/>
          <p:nvPr/>
        </p:nvSpPr>
        <p:spPr>
          <a:xfrm>
            <a:off x="13608248" y="5968305"/>
            <a:ext cx="1550789" cy="285750"/>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21/24</a:t>
            </a:r>
            <a:endParaRPr lang="en-US" sz="1050" dirty="0"/>
          </a:p>
        </p:txBody>
      </p:sp>
      <p:sp>
        <p:nvSpPr>
          <p:cNvPr id="95" name="Shape 88"/>
          <p:cNvSpPr/>
          <p:nvPr/>
        </p:nvSpPr>
        <p:spPr>
          <a:xfrm>
            <a:off x="5043488" y="6339780"/>
            <a:ext cx="10267950" cy="485775"/>
          </a:xfrm>
          <a:prstGeom prst="rect">
            <a:avLst/>
          </a:prstGeom>
          <a:solidFill>
            <a:srgbClr val="E2DCEE"/>
          </a:solidFill>
          <a:ln/>
        </p:spPr>
      </p:sp>
      <p:sp>
        <p:nvSpPr>
          <p:cNvPr id="96" name="Shape 89"/>
          <p:cNvSpPr/>
          <p:nvPr/>
        </p:nvSpPr>
        <p:spPr>
          <a:xfrm>
            <a:off x="5043488" y="6816030"/>
            <a:ext cx="4249117" cy="9525"/>
          </a:xfrm>
          <a:prstGeom prst="rect">
            <a:avLst/>
          </a:prstGeom>
          <a:solidFill>
            <a:srgbClr val="D8D0E6"/>
          </a:solidFill>
          <a:ln/>
        </p:spPr>
      </p:sp>
      <p:sp>
        <p:nvSpPr>
          <p:cNvPr id="97" name="Shape 90"/>
          <p:cNvSpPr/>
          <p:nvPr/>
        </p:nvSpPr>
        <p:spPr>
          <a:xfrm>
            <a:off x="5195888" y="6458843"/>
            <a:ext cx="247650" cy="247650"/>
          </a:xfrm>
          <a:prstGeom prst="ellipse">
            <a:avLst/>
          </a:prstGeom>
          <a:solidFill>
            <a:srgbClr val="FBF9FE"/>
          </a:solidFill>
          <a:ln w="9525">
            <a:solidFill>
              <a:srgbClr val="C7BBDC"/>
            </a:solidFill>
            <a:prstDash val="solid"/>
          </a:ln>
          <a:effectLst>
            <a:outerShdw sx="100000" sy="100000" kx="0" ky="0" algn="bl" rotWithShape="0" blurRad="19050" dist="9525" dir="5400000">
              <a:srgbClr val="000000">
                <a:alpha val="35000"/>
              </a:srgbClr>
            </a:outerShdw>
          </a:effectLst>
        </p:spPr>
      </p:sp>
      <p:sp>
        <p:nvSpPr>
          <p:cNvPr id="98" name="Text 91"/>
          <p:cNvSpPr/>
          <p:nvPr/>
        </p:nvSpPr>
        <p:spPr>
          <a:xfrm>
            <a:off x="5167313" y="6468368"/>
            <a:ext cx="304800" cy="266700"/>
          </a:xfrm>
          <a:prstGeom prst="rect">
            <a:avLst/>
          </a:prstGeom>
          <a:noFill/>
          <a:ln/>
        </p:spPr>
        <p:txBody>
          <a:bodyPr wrap="square" lIns="25400" tIns="25400" rIns="25400" bIns="25400" rtlCol="0" anchor="ctr">
            <a:normAutofit/>
          </a:bodyPr>
          <a:lstStyle/>
          <a:p>
            <a:pPr algn="ctr" indent="0" marL="0">
              <a:buNone/>
            </a:pPr>
            <a:r>
              <a:rPr lang="en-US" sz="750" b="1" dirty="0">
                <a:solidFill>
                  <a:srgbClr val="3D3554"/>
                </a:solidFill>
                <a:latin typeface="Georgia" pitchFamily="34" charset="0"/>
                <a:ea typeface="Georgia" pitchFamily="34" charset="-122"/>
                <a:cs typeface="Georgia" pitchFamily="34" charset="-120"/>
              </a:rPr>
              <a:t>IV</a:t>
            </a:r>
            <a:endParaRPr lang="en-US" sz="750" dirty="0"/>
          </a:p>
        </p:txBody>
      </p:sp>
      <p:sp>
        <p:nvSpPr>
          <p:cNvPr id="99" name="Shape 92"/>
          <p:cNvSpPr/>
          <p:nvPr/>
        </p:nvSpPr>
        <p:spPr>
          <a:xfrm>
            <a:off x="5338763" y="6601718"/>
            <a:ext cx="114300" cy="114300"/>
          </a:xfrm>
          <a:prstGeom prst="ellipse">
            <a:avLst/>
          </a:prstGeom>
          <a:solidFill>
            <a:srgbClr val="B5601F"/>
          </a:solidFill>
          <a:ln w="19050">
            <a:solidFill>
              <a:srgbClr val="F6F3FB"/>
            </a:solidFill>
            <a:prstDash val="solid"/>
          </a:ln>
        </p:spPr>
      </p:sp>
      <p:sp>
        <p:nvSpPr>
          <p:cNvPr id="100" name="Text 93"/>
          <p:cNvSpPr/>
          <p:nvPr/>
        </p:nvSpPr>
        <p:spPr>
          <a:xfrm>
            <a:off x="5538788" y="6480274"/>
            <a:ext cx="1111821" cy="242888"/>
          </a:xfrm>
          <a:prstGeom prst="rect">
            <a:avLst/>
          </a:prstGeom>
          <a:noFill/>
          <a:ln/>
        </p:spPr>
        <p:txBody>
          <a:bodyPr wrap="square" lIns="0" tIns="0" rIns="0" bIns="0" rtlCol="0" anchor="t">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Ivar the Drowned</a:t>
            </a:r>
            <a:endParaRPr lang="en-US" sz="1050" dirty="0"/>
          </a:p>
        </p:txBody>
      </p:sp>
      <p:sp>
        <p:nvSpPr>
          <p:cNvPr id="101" name="Shape 94"/>
          <p:cNvSpPr/>
          <p:nvPr/>
        </p:nvSpPr>
        <p:spPr>
          <a:xfrm>
            <a:off x="9292605" y="6816030"/>
            <a:ext cx="2846859" cy="9525"/>
          </a:xfrm>
          <a:prstGeom prst="rect">
            <a:avLst/>
          </a:prstGeom>
          <a:solidFill>
            <a:srgbClr val="D8D0E6"/>
          </a:solidFill>
          <a:ln/>
        </p:spPr>
      </p:sp>
      <p:sp>
        <p:nvSpPr>
          <p:cNvPr id="102" name="Text 95"/>
          <p:cNvSpPr/>
          <p:nvPr/>
        </p:nvSpPr>
        <p:spPr>
          <a:xfrm>
            <a:off x="9445005" y="6454080"/>
            <a:ext cx="2627465" cy="285750"/>
          </a:xfrm>
          <a:prstGeom prst="rect">
            <a:avLst/>
          </a:prstGeom>
          <a:noFill/>
          <a:ln/>
        </p:spPr>
        <p:txBody>
          <a:bodyPr wrap="square" lIns="25400" tIns="25400" rIns="25400" bIns="25400" rtlCol="0" anchor="ctr">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Runecaster</a:t>
            </a:r>
            <a:endParaRPr lang="en-US" sz="1050" dirty="0"/>
          </a:p>
        </p:txBody>
      </p:sp>
      <p:sp>
        <p:nvSpPr>
          <p:cNvPr id="103" name="Shape 96"/>
          <p:cNvSpPr/>
          <p:nvPr/>
        </p:nvSpPr>
        <p:spPr>
          <a:xfrm>
            <a:off x="12139464" y="6816030"/>
            <a:ext cx="1392585" cy="9525"/>
          </a:xfrm>
          <a:prstGeom prst="rect">
            <a:avLst/>
          </a:prstGeom>
          <a:solidFill>
            <a:srgbClr val="D8D0E6"/>
          </a:solidFill>
          <a:ln/>
        </p:spPr>
      </p:sp>
      <p:sp>
        <p:nvSpPr>
          <p:cNvPr id="104" name="Text 97"/>
          <p:cNvSpPr/>
          <p:nvPr/>
        </p:nvSpPr>
        <p:spPr>
          <a:xfrm>
            <a:off x="12215664" y="6454080"/>
            <a:ext cx="1163985" cy="285750"/>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7</a:t>
            </a:r>
            <a:endParaRPr lang="en-US" sz="1050" dirty="0"/>
          </a:p>
        </p:txBody>
      </p:sp>
      <p:sp>
        <p:nvSpPr>
          <p:cNvPr id="105" name="Shape 98"/>
          <p:cNvSpPr/>
          <p:nvPr/>
        </p:nvSpPr>
        <p:spPr>
          <a:xfrm>
            <a:off x="13532048" y="6816030"/>
            <a:ext cx="1779389" cy="9525"/>
          </a:xfrm>
          <a:prstGeom prst="rect">
            <a:avLst/>
          </a:prstGeom>
          <a:solidFill>
            <a:srgbClr val="D8D0E6"/>
          </a:solidFill>
          <a:ln/>
        </p:spPr>
      </p:sp>
      <p:sp>
        <p:nvSpPr>
          <p:cNvPr id="106" name="Text 99"/>
          <p:cNvSpPr/>
          <p:nvPr/>
        </p:nvSpPr>
        <p:spPr>
          <a:xfrm>
            <a:off x="13608248" y="6454080"/>
            <a:ext cx="1550789" cy="285750"/>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8/18</a:t>
            </a:r>
            <a:endParaRPr lang="en-US" sz="1050" dirty="0"/>
          </a:p>
        </p:txBody>
      </p:sp>
      <p:sp>
        <p:nvSpPr>
          <p:cNvPr id="107" name="Shape 100"/>
          <p:cNvSpPr/>
          <p:nvPr/>
        </p:nvSpPr>
        <p:spPr>
          <a:xfrm>
            <a:off x="5195888" y="6944618"/>
            <a:ext cx="247650" cy="247650"/>
          </a:xfrm>
          <a:prstGeom prst="ellipse">
            <a:avLst/>
          </a:prstGeom>
          <a:solidFill>
            <a:srgbClr val="FBF9FE"/>
          </a:solidFill>
          <a:ln w="9525">
            <a:solidFill>
              <a:srgbClr val="C7BBDC"/>
            </a:solidFill>
            <a:prstDash val="solid"/>
          </a:ln>
          <a:effectLst>
            <a:outerShdw sx="100000" sy="100000" kx="0" ky="0" algn="bl" rotWithShape="0" blurRad="19050" dist="9525" dir="5400000">
              <a:srgbClr val="000000">
                <a:alpha val="35000"/>
              </a:srgbClr>
            </a:outerShdw>
          </a:effectLst>
        </p:spPr>
      </p:sp>
      <p:sp>
        <p:nvSpPr>
          <p:cNvPr id="108" name="Text 101"/>
          <p:cNvSpPr/>
          <p:nvPr/>
        </p:nvSpPr>
        <p:spPr>
          <a:xfrm>
            <a:off x="5167313" y="6954143"/>
            <a:ext cx="304800" cy="266700"/>
          </a:xfrm>
          <a:prstGeom prst="rect">
            <a:avLst/>
          </a:prstGeom>
          <a:noFill/>
          <a:ln/>
        </p:spPr>
        <p:txBody>
          <a:bodyPr wrap="square" lIns="25400" tIns="25400" rIns="25400" bIns="25400" rtlCol="0" anchor="ctr">
            <a:normAutofit/>
          </a:bodyPr>
          <a:lstStyle/>
          <a:p>
            <a:pPr algn="ctr" indent="0" marL="0">
              <a:buNone/>
            </a:pPr>
            <a:r>
              <a:rPr lang="en-US" sz="750" b="1" dirty="0">
                <a:solidFill>
                  <a:srgbClr val="3D3554"/>
                </a:solidFill>
                <a:latin typeface="Georgia" pitchFamily="34" charset="0"/>
                <a:ea typeface="Georgia" pitchFamily="34" charset="-122"/>
                <a:cs typeface="Georgia" pitchFamily="34" charset="-120"/>
              </a:rPr>
              <a:t>SF</a:t>
            </a:r>
            <a:endParaRPr lang="en-US" sz="750" dirty="0"/>
          </a:p>
        </p:txBody>
      </p:sp>
      <p:sp>
        <p:nvSpPr>
          <p:cNvPr id="109" name="Shape 102"/>
          <p:cNvSpPr/>
          <p:nvPr/>
        </p:nvSpPr>
        <p:spPr>
          <a:xfrm>
            <a:off x="5338763" y="7087493"/>
            <a:ext cx="114300" cy="114300"/>
          </a:xfrm>
          <a:prstGeom prst="ellipse">
            <a:avLst/>
          </a:prstGeom>
          <a:solidFill>
            <a:srgbClr val="5B7A4E"/>
          </a:solidFill>
          <a:ln w="19050">
            <a:solidFill>
              <a:srgbClr val="F6F3FB"/>
            </a:solidFill>
            <a:prstDash val="solid"/>
          </a:ln>
        </p:spPr>
      </p:sp>
      <p:sp>
        <p:nvSpPr>
          <p:cNvPr id="110" name="Text 103"/>
          <p:cNvSpPr/>
          <p:nvPr/>
        </p:nvSpPr>
        <p:spPr>
          <a:xfrm>
            <a:off x="5538788" y="6966049"/>
            <a:ext cx="962099" cy="242888"/>
          </a:xfrm>
          <a:prstGeom prst="rect">
            <a:avLst/>
          </a:prstGeom>
          <a:noFill/>
          <a:ln/>
        </p:spPr>
        <p:txBody>
          <a:bodyPr wrap="square" lIns="0" tIns="0" rIns="0" bIns="0" rtlCol="0" anchor="t">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Sieglinde Frost</a:t>
            </a:r>
            <a:endParaRPr lang="en-US" sz="1050" dirty="0"/>
          </a:p>
        </p:txBody>
      </p:sp>
      <p:sp>
        <p:nvSpPr>
          <p:cNvPr id="111" name="Text 104"/>
          <p:cNvSpPr/>
          <p:nvPr/>
        </p:nvSpPr>
        <p:spPr>
          <a:xfrm>
            <a:off x="9445005" y="6939855"/>
            <a:ext cx="2627465" cy="290513"/>
          </a:xfrm>
          <a:prstGeom prst="rect">
            <a:avLst/>
          </a:prstGeom>
          <a:noFill/>
          <a:ln/>
        </p:spPr>
        <p:txBody>
          <a:bodyPr wrap="square" lIns="25400" tIns="25400" rIns="25400" bIns="25400" rtlCol="0" anchor="ctr">
            <a:normAutofit/>
          </a:bodyPr>
          <a:lstStyle/>
          <a:p>
            <a:pPr algn="l" indent="0" marL="0">
              <a:buNone/>
            </a:pPr>
            <a:r>
              <a:rPr lang="en-US" sz="1050" dirty="0">
                <a:solidFill>
                  <a:srgbClr val="1A1626"/>
                </a:solidFill>
                <a:latin typeface="Georgia" pitchFamily="34" charset="0"/>
                <a:ea typeface="Georgia" pitchFamily="34" charset="-122"/>
                <a:cs typeface="Georgia" pitchFamily="34" charset="-120"/>
              </a:rPr>
              <a:t>Pyromancer</a:t>
            </a:r>
            <a:endParaRPr lang="en-US" sz="1050" dirty="0"/>
          </a:p>
        </p:txBody>
      </p:sp>
      <p:sp>
        <p:nvSpPr>
          <p:cNvPr id="112" name="Text 105"/>
          <p:cNvSpPr/>
          <p:nvPr/>
        </p:nvSpPr>
        <p:spPr>
          <a:xfrm>
            <a:off x="12215664" y="6939855"/>
            <a:ext cx="1163985" cy="290513"/>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8</a:t>
            </a:r>
            <a:endParaRPr lang="en-US" sz="1050" dirty="0"/>
          </a:p>
        </p:txBody>
      </p:sp>
      <p:sp>
        <p:nvSpPr>
          <p:cNvPr id="113" name="Text 106"/>
          <p:cNvSpPr/>
          <p:nvPr/>
        </p:nvSpPr>
        <p:spPr>
          <a:xfrm>
            <a:off x="13608248" y="6939855"/>
            <a:ext cx="1550789" cy="290513"/>
          </a:xfrm>
          <a:prstGeom prst="rect">
            <a:avLst/>
          </a:prstGeom>
          <a:noFill/>
          <a:ln/>
        </p:spPr>
        <p:txBody>
          <a:bodyPr wrap="square" lIns="25400" tIns="25400" rIns="25400" bIns="25400" rtlCol="0" anchor="ctr">
            <a:normAutofit/>
          </a:bodyPr>
          <a:lstStyle/>
          <a:p>
            <a:pPr algn="r" indent="0" marL="0">
              <a:buNone/>
            </a:pPr>
            <a:r>
              <a:rPr lang="en-US" sz="1050" dirty="0">
                <a:solidFill>
                  <a:srgbClr val="1A1626"/>
                </a:solidFill>
                <a:latin typeface="Courier New" pitchFamily="34" charset="0"/>
                <a:ea typeface="Courier New" pitchFamily="34" charset="-122"/>
                <a:cs typeface="Courier New" pitchFamily="34" charset="-120"/>
              </a:rPr>
              <a:t>24/24</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2928216"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TTRPG · PLAYER</a:t>
            </a:r>
            <a:endParaRPr lang="en-US" sz="1275" dirty="0"/>
          </a:p>
        </p:txBody>
      </p:sp>
      <p:sp>
        <p:nvSpPr>
          <p:cNvPr id="4" name="Text 2"/>
          <p:cNvSpPr/>
          <p:nvPr/>
        </p:nvSpPr>
        <p:spPr>
          <a:xfrm>
            <a:off x="533400" y="766763"/>
            <a:ext cx="2928216"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The Chronicle</a:t>
            </a:r>
            <a:endParaRPr lang="en-US" sz="3450" dirty="0"/>
          </a:p>
        </p:txBody>
      </p:sp>
      <p:sp>
        <p:nvSpPr>
          <p:cNvPr id="5" name="Shape 3"/>
          <p:cNvSpPr/>
          <p:nvPr/>
        </p:nvSpPr>
        <p:spPr>
          <a:xfrm>
            <a:off x="15212318" y="438150"/>
            <a:ext cx="2542282" cy="381000"/>
          </a:xfrm>
          <a:prstGeom prst="roundRect">
            <a:avLst>
              <a:gd name="adj" fmla="val 50000"/>
            </a:avLst>
          </a:prstGeom>
          <a:solidFill>
            <a:srgbClr val="161025"/>
          </a:solidFill>
          <a:ln w="9525">
            <a:solidFill>
              <a:srgbClr val="33274D"/>
            </a:solidFill>
            <a:prstDash val="solid"/>
          </a:ln>
        </p:spPr>
      </p:sp>
      <p:sp>
        <p:nvSpPr>
          <p:cNvPr id="6" name="Shape 4"/>
          <p:cNvSpPr/>
          <p:nvPr/>
        </p:nvSpPr>
        <p:spPr>
          <a:xfrm>
            <a:off x="15326618" y="533400"/>
            <a:ext cx="190500" cy="190500"/>
          </a:xfrm>
          <a:prstGeom prst="ellipse">
            <a:avLst/>
          </a:prstGeom>
          <a:solidFill>
            <a:srgbClr val="0B0813"/>
          </a:solidFill>
          <a:ln w="9525">
            <a:solidFill>
              <a:srgbClr val="FFFFFF">
                <a:alpha val="18000"/>
              </a:srgbClr>
            </a:solidFill>
            <a:prstDash val="solid"/>
          </a:ln>
        </p:spPr>
      </p:sp>
      <p:sp>
        <p:nvSpPr>
          <p:cNvPr id="7" name="Text 5"/>
          <p:cNvSpPr/>
          <p:nvPr/>
        </p:nvSpPr>
        <p:spPr>
          <a:xfrm>
            <a:off x="15612368" y="533400"/>
            <a:ext cx="2056507" cy="228600"/>
          </a:xfrm>
          <a:prstGeom prst="rect">
            <a:avLst/>
          </a:prstGeom>
          <a:noFill/>
          <a:ln/>
        </p:spPr>
        <p:txBody>
          <a:bodyPr wrap="none" lIns="0" tIns="0" rIns="0" bIns="0" rtlCol="0" anchor="t">
            <a:normAutofit/>
          </a:bodyPr>
          <a:lstStyle/>
          <a:p>
            <a:pPr algn="l" indent="0" marL="0">
              <a:buNone/>
            </a:pPr>
            <a:r>
              <a:rPr lang="en-US" sz="1125" spc="68" kern="0" dirty="0">
                <a:solidFill>
                  <a:srgbClr val="BCAFD3"/>
                </a:solidFill>
                <a:latin typeface="Courier New" pitchFamily="34" charset="0"/>
                <a:ea typeface="Courier New" pitchFamily="34" charset="-122"/>
                <a:cs typeface="Courier New" pitchFamily="34" charset="-120"/>
              </a:rPr>
              <a:t>Violet · ttrpg-violet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B0813"/>
          </a:solidFill>
          <a:ln/>
        </p:spPr>
      </p:sp>
      <p:sp>
        <p:nvSpPr>
          <p:cNvPr id="10" name="Shape 8"/>
          <p:cNvSpPr/>
          <p:nvPr/>
        </p:nvSpPr>
        <p:spPr>
          <a:xfrm>
            <a:off x="542925" y="1462088"/>
            <a:ext cx="2066925" cy="8320088"/>
          </a:xfrm>
          <a:prstGeom prst="rect">
            <a:avLst/>
          </a:prstGeom>
          <a:solidFill>
            <a:srgbClr val="100B1B"/>
          </a:solidFill>
          <a:ln/>
        </p:spPr>
      </p:sp>
      <p:sp>
        <p:nvSpPr>
          <p:cNvPr id="11" name="Shape 9"/>
          <p:cNvSpPr/>
          <p:nvPr/>
        </p:nvSpPr>
        <p:spPr>
          <a:xfrm>
            <a:off x="2600325" y="1462088"/>
            <a:ext cx="9525" cy="8320088"/>
          </a:xfrm>
          <a:prstGeom prst="rect">
            <a:avLst/>
          </a:prstGeom>
          <a:solidFill>
            <a:srgbClr val="261C3B"/>
          </a:solidFill>
          <a:ln/>
        </p:spPr>
      </p:sp>
      <p:sp>
        <p:nvSpPr>
          <p:cNvPr id="12" name="Shape 10"/>
          <p:cNvSpPr/>
          <p:nvPr/>
        </p:nvSpPr>
        <p:spPr>
          <a:xfrm>
            <a:off x="542925" y="2071688"/>
            <a:ext cx="2057400" cy="9525"/>
          </a:xfrm>
          <a:prstGeom prst="rect">
            <a:avLst/>
          </a:prstGeom>
          <a:solidFill>
            <a:srgbClr val="261C3B"/>
          </a:solidFill>
          <a:ln/>
        </p:spPr>
      </p:sp>
      <p:sp>
        <p:nvSpPr>
          <p:cNvPr id="13" name="Text 11"/>
          <p:cNvSpPr/>
          <p:nvPr/>
        </p:nvSpPr>
        <p:spPr>
          <a:xfrm>
            <a:off x="733425" y="1671638"/>
            <a:ext cx="265137"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B49CE6"/>
                </a:solidFill>
                <a:latin typeface="Georgia" pitchFamily="34" charset="0"/>
                <a:ea typeface="Georgia" pitchFamily="34" charset="-122"/>
                <a:cs typeface="Georgia" pitchFamily="34" charset="-120"/>
              </a:rPr>
              <a:t>ᛜ</a:t>
            </a:r>
            <a:endParaRPr lang="en-US" sz="1350" dirty="0"/>
          </a:p>
        </p:txBody>
      </p:sp>
      <p:sp>
        <p:nvSpPr>
          <p:cNvPr id="14" name="Text 12"/>
          <p:cNvSpPr/>
          <p:nvPr/>
        </p:nvSpPr>
        <p:spPr>
          <a:xfrm>
            <a:off x="1017612" y="1702594"/>
            <a:ext cx="930399" cy="204787"/>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E6DEF2"/>
                </a:solidFill>
                <a:latin typeface="Georgia" pitchFamily="34" charset="0"/>
                <a:ea typeface="Georgia" pitchFamily="34" charset="-122"/>
                <a:cs typeface="Georgia" pitchFamily="34" charset="-120"/>
              </a:rPr>
              <a:t>THE TABLE</a:t>
            </a:r>
            <a:endParaRPr lang="en-US" sz="1125"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6" name="Text 13"/>
          <p:cNvSpPr/>
          <p:nvPr/>
        </p:nvSpPr>
        <p:spPr>
          <a:xfrm>
            <a:off x="1057275" y="2290763"/>
            <a:ext cx="818927"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Player Card</a:t>
            </a:r>
            <a:endParaRPr lang="en-US" sz="1125"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18" name="Text 14"/>
          <p:cNvSpPr/>
          <p:nvPr/>
        </p:nvSpPr>
        <p:spPr>
          <a:xfrm>
            <a:off x="1057275" y="2719388"/>
            <a:ext cx="369243"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Dice</a:t>
            </a:r>
            <a:endParaRPr lang="en-US" sz="1125" dirty="0"/>
          </a:p>
        </p:txBody>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0" name="Text 15"/>
          <p:cNvSpPr/>
          <p:nvPr/>
        </p:nvSpPr>
        <p:spPr>
          <a:xfrm>
            <a:off x="1057275" y="3148013"/>
            <a:ext cx="539874"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Graphs</a:t>
            </a:r>
            <a:endParaRPr lang="en-US" sz="1125" dirty="0"/>
          </a:p>
        </p:txBody>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2" name="Text 16"/>
          <p:cNvSpPr/>
          <p:nvPr/>
        </p:nvSpPr>
        <p:spPr>
          <a:xfrm>
            <a:off x="1057275" y="3576638"/>
            <a:ext cx="488826" cy="257175"/>
          </a:xfrm>
          <a:prstGeom prst="rect">
            <a:avLst/>
          </a:prstGeom>
          <a:noFill/>
          <a:ln/>
        </p:spPr>
        <p:txBody>
          <a:bodyPr wrap="square" lIns="0" tIns="0" rIns="0" bIns="0" rtlCol="0" anchor="t">
            <a:normAutofit/>
          </a:bodyPr>
          <a:lstStyle/>
          <a:p>
            <a:pPr algn="l" indent="0" marL="0">
              <a:buNone/>
            </a:pPr>
            <a:r>
              <a:rPr lang="en-US" sz="1125" dirty="0">
                <a:solidFill>
                  <a:srgbClr val="847699"/>
                </a:solidFill>
                <a:latin typeface="Georgia" pitchFamily="34" charset="0"/>
                <a:ea typeface="Georgia" pitchFamily="34" charset="-122"/>
                <a:cs typeface="Georgia" pitchFamily="34" charset="-120"/>
              </a:rPr>
              <a:t>Tables</a:t>
            </a:r>
            <a:endParaRPr lang="en-US" sz="1125" dirty="0"/>
          </a:p>
        </p:txBody>
      </p:sp>
      <p:sp>
        <p:nvSpPr>
          <p:cNvPr id="23" name="Shape 17"/>
          <p:cNvSpPr/>
          <p:nvPr/>
        </p:nvSpPr>
        <p:spPr>
          <a:xfrm>
            <a:off x="657225" y="3910013"/>
            <a:ext cx="1828800" cy="409575"/>
          </a:xfrm>
          <a:prstGeom prst="roundRect">
            <a:avLst>
              <a:gd name="adj" fmla="val 6977"/>
            </a:avLst>
          </a:prstGeom>
          <a:solidFill>
            <a:srgbClr val="1E1630"/>
          </a:solidFill>
          <a:ln/>
        </p:spPr>
      </p:sp>
      <p:sp>
        <p:nvSpPr>
          <p:cNvPr id="24" name="Shape 18"/>
          <p:cNvSpPr/>
          <p:nvPr/>
        </p:nvSpPr>
        <p:spPr>
          <a:xfrm>
            <a:off x="657225" y="3910013"/>
            <a:ext cx="19050" cy="409575"/>
          </a:xfrm>
          <a:prstGeom prst="rect">
            <a:avLst/>
          </a:prstGeom>
          <a:solidFill>
            <a:srgbClr val="6B4FB0"/>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0575" y="4033837"/>
            <a:ext cx="161925" cy="161925"/>
          </a:xfrm>
          <a:prstGeom prst="rect">
            <a:avLst/>
          </a:prstGeom>
        </p:spPr>
      </p:pic>
      <p:sp>
        <p:nvSpPr>
          <p:cNvPr id="26" name="Text 19"/>
          <p:cNvSpPr/>
          <p:nvPr/>
        </p:nvSpPr>
        <p:spPr>
          <a:xfrm>
            <a:off x="1057275" y="4005262"/>
            <a:ext cx="703734" cy="257175"/>
          </a:xfrm>
          <a:prstGeom prst="rect">
            <a:avLst/>
          </a:prstGeom>
          <a:noFill/>
          <a:ln/>
        </p:spPr>
        <p:txBody>
          <a:bodyPr wrap="square" lIns="0" tIns="0" rIns="0" bIns="0" rtlCol="0" anchor="t">
            <a:normAutofit/>
          </a:bodyPr>
          <a:lstStyle/>
          <a:p>
            <a:pPr algn="l" indent="0" marL="0">
              <a:buNone/>
            </a:pPr>
            <a:r>
              <a:rPr lang="en-US" sz="1125" dirty="0">
                <a:solidFill>
                  <a:srgbClr val="E6DEF2"/>
                </a:solidFill>
                <a:latin typeface="Georgia" pitchFamily="34" charset="0"/>
                <a:ea typeface="Georgia" pitchFamily="34" charset="-122"/>
                <a:cs typeface="Georgia" pitchFamily="34" charset="-120"/>
              </a:rPr>
              <a:t>Chronicle</a:t>
            </a:r>
            <a:endParaRPr lang="en-US" sz="1125" dirty="0"/>
          </a:p>
        </p:txBody>
      </p:sp>
      <p:sp>
        <p:nvSpPr>
          <p:cNvPr id="27" name="Shape 20"/>
          <p:cNvSpPr/>
          <p:nvPr/>
        </p:nvSpPr>
        <p:spPr>
          <a:xfrm>
            <a:off x="2609850" y="1462088"/>
            <a:ext cx="15135225" cy="504825"/>
          </a:xfrm>
          <a:prstGeom prst="rect">
            <a:avLst/>
          </a:prstGeom>
          <a:solidFill>
            <a:srgbClr val="0B0813"/>
          </a:solidFill>
          <a:ln/>
        </p:spPr>
      </p:sp>
      <p:sp>
        <p:nvSpPr>
          <p:cNvPr id="28" name="Shape 21"/>
          <p:cNvSpPr/>
          <p:nvPr/>
        </p:nvSpPr>
        <p:spPr>
          <a:xfrm>
            <a:off x="2609850" y="1957388"/>
            <a:ext cx="15135225" cy="9525"/>
          </a:xfrm>
          <a:prstGeom prst="rect">
            <a:avLst/>
          </a:prstGeom>
          <a:solidFill>
            <a:srgbClr val="261C3B"/>
          </a:solidFill>
          <a:ln/>
        </p:spPr>
      </p:sp>
      <p:sp>
        <p:nvSpPr>
          <p:cNvPr id="29" name="Text 22"/>
          <p:cNvSpPr/>
          <p:nvPr/>
        </p:nvSpPr>
        <p:spPr>
          <a:xfrm>
            <a:off x="2819400" y="1640681"/>
            <a:ext cx="1751871"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847699"/>
                </a:solidFill>
                <a:latin typeface="Courier New" pitchFamily="34" charset="0"/>
                <a:ea typeface="Courier New" pitchFamily="34" charset="-122"/>
                <a:cs typeface="Courier New" pitchFamily="34" charset="-120"/>
              </a:rPr>
              <a:t>TTRPG · SESSION XII</a:t>
            </a:r>
            <a:endParaRPr lang="en-US" sz="825" dirty="0"/>
          </a:p>
        </p:txBody>
      </p:sp>
      <p:sp>
        <p:nvSpPr>
          <p:cNvPr id="30" name="Text 23"/>
          <p:cNvSpPr/>
          <p:nvPr/>
        </p:nvSpPr>
        <p:spPr>
          <a:xfrm>
            <a:off x="16500277" y="1640681"/>
            <a:ext cx="1111448"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B49CE6"/>
                </a:solidFill>
                <a:latin typeface="Courier New" pitchFamily="34" charset="0"/>
                <a:ea typeface="Courier New" pitchFamily="34" charset="-122"/>
                <a:cs typeface="Courier New" pitchFamily="34" charset="-120"/>
              </a:rPr>
              <a:t>The Chronicle</a:t>
            </a:r>
            <a:endParaRPr lang="en-US" sz="825" dirty="0"/>
          </a:p>
        </p:txBody>
      </p:sp>
      <p:sp>
        <p:nvSpPr>
          <p:cNvPr id="31" name="Shape 24"/>
          <p:cNvSpPr/>
          <p:nvPr/>
        </p:nvSpPr>
        <p:spPr>
          <a:xfrm>
            <a:off x="2609850" y="1966912"/>
            <a:ext cx="15135225" cy="7815263"/>
          </a:xfrm>
          <a:prstGeom prst="rect">
            <a:avLst/>
          </a:prstGeom>
          <a:gradFill rotWithShape="1">
            <a:gsLst>
              <a:gs pos="0">
                <a:srgbClr val="FFFFFF">
                  <a:alpha val="2000"/>
                </a:srgbClr>
              </a:gs>
              <a:gs pos="100000">
                <a:srgbClr val="FFFFFF">
                  <a:alpha val="0"/>
                </a:srgbClr>
              </a:gs>
            </a:gsLst>
            <a:lin ang="5400000" scaled="0"/>
          </a:gradFill>
          <a:ln/>
        </p:spPr>
      </p:sp>
      <p:sp>
        <p:nvSpPr>
          <p:cNvPr id="32" name="Text 25"/>
          <p:cNvSpPr/>
          <p:nvPr/>
        </p:nvSpPr>
        <p:spPr>
          <a:xfrm>
            <a:off x="6557963" y="2271713"/>
            <a:ext cx="79629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E6DEF2"/>
                </a:solidFill>
                <a:latin typeface="Georgia" pitchFamily="34" charset="0"/>
                <a:ea typeface="Georgia" pitchFamily="34" charset="-122"/>
                <a:cs typeface="Georgia" pitchFamily="34" charset="-120"/>
              </a:rPr>
              <a:t>The Chronicle</a:t>
            </a:r>
            <a:endParaRPr lang="en-US" sz="2700" dirty="0"/>
          </a:p>
        </p:txBody>
      </p:sp>
      <p:sp>
        <p:nvSpPr>
          <p:cNvPr id="33" name="Text 26"/>
          <p:cNvSpPr/>
          <p:nvPr/>
        </p:nvSpPr>
        <p:spPr>
          <a:xfrm>
            <a:off x="6557963" y="2738438"/>
            <a:ext cx="7962900" cy="271463"/>
          </a:xfrm>
          <a:prstGeom prst="rect">
            <a:avLst/>
          </a:prstGeom>
          <a:noFill/>
          <a:ln/>
        </p:spPr>
        <p:txBody>
          <a:bodyPr wrap="square" lIns="25400" tIns="25400" rIns="25400" bIns="25400" rtlCol="0" anchor="t">
            <a:normAutofit/>
          </a:bodyPr>
          <a:lstStyle/>
          <a:p>
            <a:pPr algn="l" indent="0" marL="0">
              <a:buNone/>
            </a:pPr>
            <a:r>
              <a:rPr lang="en-US" sz="1200" dirty="0">
                <a:solidFill>
                  <a:srgbClr val="847699"/>
                </a:solidFill>
                <a:latin typeface="Georgia" pitchFamily="34" charset="0"/>
                <a:ea typeface="Georgia" pitchFamily="34" charset="-122"/>
                <a:cs typeface="Georgia" pitchFamily="34" charset="-120"/>
              </a:rPr>
              <a:t>Player chronology · Kára Nightveil</a:t>
            </a:r>
            <a:endParaRPr lang="en-US" sz="1200" dirty="0"/>
          </a:p>
        </p:txBody>
      </p:sp>
      <p:sp>
        <p:nvSpPr>
          <p:cNvPr id="34" name="Shape 27"/>
          <p:cNvSpPr/>
          <p:nvPr/>
        </p:nvSpPr>
        <p:spPr>
          <a:xfrm>
            <a:off x="6557963" y="3238500"/>
            <a:ext cx="7239000" cy="4528914"/>
          </a:xfrm>
          <a:prstGeom prst="roundRect">
            <a:avLst>
              <a:gd name="adj" fmla="val 1052"/>
            </a:avLst>
          </a:prstGeom>
          <a:solidFill>
            <a:srgbClr val="161025"/>
          </a:solidFill>
          <a:ln w="9525">
            <a:solidFill>
              <a:srgbClr val="261C3B"/>
            </a:solidFill>
            <a:prstDash val="solid"/>
          </a:ln>
          <a:effectLst>
            <a:outerShdw sx="100000" sy="100000" kx="0" ky="0" algn="bl" rotWithShape="0" blurRad="133350" dist="38100" dir="5400000">
              <a:srgbClr val="000000">
                <a:alpha val="40000"/>
              </a:srgbClr>
            </a:outerShdw>
          </a:effectLst>
        </p:spPr>
      </p:sp>
      <p:sp>
        <p:nvSpPr>
          <p:cNvPr id="35" name="Shape 28"/>
          <p:cNvSpPr/>
          <p:nvPr/>
        </p:nvSpPr>
        <p:spPr>
          <a:xfrm>
            <a:off x="6881813" y="3552825"/>
            <a:ext cx="9525" cy="3900264"/>
          </a:xfrm>
          <a:prstGeom prst="rect">
            <a:avLst/>
          </a:prstGeom>
          <a:solidFill>
            <a:srgbClr val="33274D"/>
          </a:solidFill>
          <a:ln/>
        </p:spPr>
      </p:sp>
      <p:sp>
        <p:nvSpPr>
          <p:cNvPr id="36" name="Shape 29"/>
          <p:cNvSpPr/>
          <p:nvPr/>
        </p:nvSpPr>
        <p:spPr>
          <a:xfrm>
            <a:off x="6815138" y="3524250"/>
            <a:ext cx="180975" cy="180975"/>
          </a:xfrm>
          <a:prstGeom prst="ellipse">
            <a:avLst/>
          </a:prstGeom>
          <a:solidFill>
            <a:srgbClr val="0B0813"/>
          </a:solidFill>
          <a:ln w="19050">
            <a:solidFill>
              <a:srgbClr val="463663"/>
            </a:solidFill>
            <a:prstDash val="solid"/>
          </a:ln>
        </p:spPr>
      </p:sp>
      <p:sp>
        <p:nvSpPr>
          <p:cNvPr id="37" name="Text 30"/>
          <p:cNvSpPr/>
          <p:nvPr/>
        </p:nvSpPr>
        <p:spPr>
          <a:xfrm>
            <a:off x="7081838" y="3495675"/>
            <a:ext cx="710374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47699"/>
                </a:solidFill>
                <a:latin typeface="Courier New" pitchFamily="34" charset="0"/>
                <a:ea typeface="Courier New" pitchFamily="34" charset="-122"/>
                <a:cs typeface="Courier New" pitchFamily="34" charset="-120"/>
              </a:rPr>
              <a:t>SESSION I</a:t>
            </a:r>
            <a:endParaRPr lang="en-US" sz="900" dirty="0"/>
          </a:p>
        </p:txBody>
      </p:sp>
      <p:sp>
        <p:nvSpPr>
          <p:cNvPr id="38" name="Text 31"/>
          <p:cNvSpPr/>
          <p:nvPr/>
        </p:nvSpPr>
        <p:spPr>
          <a:xfrm>
            <a:off x="7081838" y="3671888"/>
            <a:ext cx="7103745"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E6DEF2"/>
                </a:solidFill>
                <a:latin typeface="Georgia" pitchFamily="34" charset="0"/>
                <a:ea typeface="Georgia" pitchFamily="34" charset="-122"/>
                <a:cs typeface="Georgia" pitchFamily="34" charset="-120"/>
              </a:rPr>
              <a:t>The Crossing</a:t>
            </a:r>
            <a:endParaRPr lang="en-US" sz="1350" dirty="0"/>
          </a:p>
        </p:txBody>
      </p:sp>
      <p:sp>
        <p:nvSpPr>
          <p:cNvPr id="39" name="Text 32"/>
          <p:cNvSpPr/>
          <p:nvPr/>
        </p:nvSpPr>
        <p:spPr>
          <a:xfrm>
            <a:off x="7081838" y="3924300"/>
            <a:ext cx="7103745" cy="244748"/>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AFD3"/>
                </a:solidFill>
                <a:latin typeface="Georgia" pitchFamily="34" charset="0"/>
                <a:ea typeface="Georgia" pitchFamily="34" charset="-122"/>
                <a:cs typeface="Georgia" pitchFamily="34" charset="-120"/>
              </a:rPr>
              <a:t>Arrived at the sea-gate. Sworn to House Ash.</a:t>
            </a:r>
            <a:endParaRPr lang="en-US" sz="1050" dirty="0"/>
          </a:p>
        </p:txBody>
      </p:sp>
      <p:sp>
        <p:nvSpPr>
          <p:cNvPr id="40" name="Shape 33"/>
          <p:cNvSpPr/>
          <p:nvPr/>
        </p:nvSpPr>
        <p:spPr>
          <a:xfrm>
            <a:off x="6815138" y="4369073"/>
            <a:ext cx="180975" cy="180975"/>
          </a:xfrm>
          <a:prstGeom prst="ellipse">
            <a:avLst/>
          </a:prstGeom>
          <a:solidFill>
            <a:srgbClr val="0B0813"/>
          </a:solidFill>
          <a:ln w="19050">
            <a:solidFill>
              <a:srgbClr val="6B4FB0"/>
            </a:solidFill>
            <a:prstDash val="solid"/>
          </a:ln>
          <a:effectLst>
            <a:outerShdw sx="100000" sy="100000" kx="0" ky="0" algn="bl" rotWithShape="0" blurRad="95250" dist="50800" dir="16200000">
              <a:srgbClr val="6B4FB0">
                <a:alpha val="100000"/>
              </a:srgbClr>
            </a:outerShdw>
          </a:effectLst>
        </p:spPr>
      </p:sp>
      <p:sp>
        <p:nvSpPr>
          <p:cNvPr id="41" name="Text 34"/>
          <p:cNvSpPr/>
          <p:nvPr/>
        </p:nvSpPr>
        <p:spPr>
          <a:xfrm>
            <a:off x="7081838" y="4340498"/>
            <a:ext cx="710374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47699"/>
                </a:solidFill>
                <a:latin typeface="Courier New" pitchFamily="34" charset="0"/>
                <a:ea typeface="Courier New" pitchFamily="34" charset="-122"/>
                <a:cs typeface="Courier New" pitchFamily="34" charset="-120"/>
              </a:rPr>
              <a:t>SESSION IV</a:t>
            </a:r>
            <a:endParaRPr lang="en-US" sz="900" dirty="0"/>
          </a:p>
        </p:txBody>
      </p:sp>
      <p:sp>
        <p:nvSpPr>
          <p:cNvPr id="42" name="Text 35"/>
          <p:cNvSpPr/>
          <p:nvPr/>
        </p:nvSpPr>
        <p:spPr>
          <a:xfrm>
            <a:off x="7081838" y="4516710"/>
            <a:ext cx="7103745"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E6DEF2"/>
                </a:solidFill>
                <a:latin typeface="Georgia" pitchFamily="34" charset="0"/>
                <a:ea typeface="Georgia" pitchFamily="34" charset="-122"/>
                <a:cs typeface="Georgia" pitchFamily="34" charset="-120"/>
              </a:rPr>
              <a:t>Oath of Salt</a:t>
            </a:r>
            <a:endParaRPr lang="en-US" sz="1350" dirty="0"/>
          </a:p>
        </p:txBody>
      </p:sp>
      <p:sp>
        <p:nvSpPr>
          <p:cNvPr id="43" name="Text 36"/>
          <p:cNvSpPr/>
          <p:nvPr/>
        </p:nvSpPr>
        <p:spPr>
          <a:xfrm>
            <a:off x="7081838" y="4769123"/>
            <a:ext cx="7103745" cy="244748"/>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AFD3"/>
                </a:solidFill>
                <a:latin typeface="Georgia" pitchFamily="34" charset="0"/>
                <a:ea typeface="Georgia" pitchFamily="34" charset="-122"/>
                <a:cs typeface="Georgia" pitchFamily="34" charset="-120"/>
              </a:rPr>
              <a:t>Bound to read the drowned for the cohort.</a:t>
            </a:r>
            <a:endParaRPr lang="en-US" sz="1050" dirty="0"/>
          </a:p>
        </p:txBody>
      </p:sp>
      <p:sp>
        <p:nvSpPr>
          <p:cNvPr id="44" name="Shape 37"/>
          <p:cNvSpPr/>
          <p:nvPr/>
        </p:nvSpPr>
        <p:spPr>
          <a:xfrm>
            <a:off x="6815138" y="5213896"/>
            <a:ext cx="180975" cy="180975"/>
          </a:xfrm>
          <a:prstGeom prst="ellipse">
            <a:avLst/>
          </a:prstGeom>
          <a:solidFill>
            <a:srgbClr val="0B0813"/>
          </a:solidFill>
          <a:ln w="19050">
            <a:solidFill>
              <a:srgbClr val="463663"/>
            </a:solidFill>
            <a:prstDash val="solid"/>
          </a:ln>
        </p:spPr>
      </p:sp>
      <p:sp>
        <p:nvSpPr>
          <p:cNvPr id="45" name="Text 38"/>
          <p:cNvSpPr/>
          <p:nvPr/>
        </p:nvSpPr>
        <p:spPr>
          <a:xfrm>
            <a:off x="7081838" y="5185321"/>
            <a:ext cx="710374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47699"/>
                </a:solidFill>
                <a:latin typeface="Courier New" pitchFamily="34" charset="0"/>
                <a:ea typeface="Courier New" pitchFamily="34" charset="-122"/>
                <a:cs typeface="Courier New" pitchFamily="34" charset="-120"/>
              </a:rPr>
              <a:t>SESSION VII</a:t>
            </a:r>
            <a:endParaRPr lang="en-US" sz="900" dirty="0"/>
          </a:p>
        </p:txBody>
      </p:sp>
      <p:sp>
        <p:nvSpPr>
          <p:cNvPr id="46" name="Text 39"/>
          <p:cNvSpPr/>
          <p:nvPr/>
        </p:nvSpPr>
        <p:spPr>
          <a:xfrm>
            <a:off x="7081838" y="5361533"/>
            <a:ext cx="7103745"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E6DEF2"/>
                </a:solidFill>
                <a:latin typeface="Georgia" pitchFamily="34" charset="0"/>
                <a:ea typeface="Georgia" pitchFamily="34" charset="-122"/>
                <a:cs typeface="Georgia" pitchFamily="34" charset="-120"/>
              </a:rPr>
              <a:t>The First Summoning</a:t>
            </a:r>
            <a:endParaRPr lang="en-US" sz="1350" dirty="0"/>
          </a:p>
        </p:txBody>
      </p:sp>
      <p:sp>
        <p:nvSpPr>
          <p:cNvPr id="47" name="Text 40"/>
          <p:cNvSpPr/>
          <p:nvPr/>
        </p:nvSpPr>
        <p:spPr>
          <a:xfrm>
            <a:off x="7081838" y="5613946"/>
            <a:ext cx="7103745" cy="244748"/>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AFD3"/>
                </a:solidFill>
                <a:latin typeface="Georgia" pitchFamily="34" charset="0"/>
                <a:ea typeface="Georgia" pitchFamily="34" charset="-122"/>
                <a:cs typeface="Georgia" pitchFamily="34" charset="-120"/>
              </a:rPr>
              <a:t>Raised a drowned sailor. Gained 1 Dread.</a:t>
            </a:r>
            <a:endParaRPr lang="en-US" sz="1050" dirty="0"/>
          </a:p>
        </p:txBody>
      </p:sp>
      <p:sp>
        <p:nvSpPr>
          <p:cNvPr id="48" name="Shape 41"/>
          <p:cNvSpPr/>
          <p:nvPr/>
        </p:nvSpPr>
        <p:spPr>
          <a:xfrm>
            <a:off x="6815138" y="6058719"/>
            <a:ext cx="180975" cy="180975"/>
          </a:xfrm>
          <a:prstGeom prst="ellipse">
            <a:avLst/>
          </a:prstGeom>
          <a:solidFill>
            <a:srgbClr val="0B0813"/>
          </a:solidFill>
          <a:ln w="19050">
            <a:solidFill>
              <a:srgbClr val="8A1F2A"/>
            </a:solidFill>
            <a:prstDash val="solid"/>
          </a:ln>
        </p:spPr>
      </p:sp>
      <p:sp>
        <p:nvSpPr>
          <p:cNvPr id="49" name="Text 42"/>
          <p:cNvSpPr/>
          <p:nvPr/>
        </p:nvSpPr>
        <p:spPr>
          <a:xfrm>
            <a:off x="7081838" y="6030144"/>
            <a:ext cx="710374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47699"/>
                </a:solidFill>
                <a:latin typeface="Courier New" pitchFamily="34" charset="0"/>
                <a:ea typeface="Courier New" pitchFamily="34" charset="-122"/>
                <a:cs typeface="Courier New" pitchFamily="34" charset="-120"/>
              </a:rPr>
              <a:t>SESSION IX</a:t>
            </a:r>
            <a:endParaRPr lang="en-US" sz="900" dirty="0"/>
          </a:p>
        </p:txBody>
      </p:sp>
      <p:sp>
        <p:nvSpPr>
          <p:cNvPr id="50" name="Text 43"/>
          <p:cNvSpPr/>
          <p:nvPr/>
        </p:nvSpPr>
        <p:spPr>
          <a:xfrm>
            <a:off x="7081838" y="6206356"/>
            <a:ext cx="7103745"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E6DEF2"/>
                </a:solidFill>
                <a:latin typeface="Georgia" pitchFamily="34" charset="0"/>
                <a:ea typeface="Georgia" pitchFamily="34" charset="-122"/>
                <a:cs typeface="Georgia" pitchFamily="34" charset="-120"/>
              </a:rPr>
              <a:t>Dragomir Falls</a:t>
            </a:r>
            <a:endParaRPr lang="en-US" sz="1350" dirty="0"/>
          </a:p>
        </p:txBody>
      </p:sp>
      <p:sp>
        <p:nvSpPr>
          <p:cNvPr id="51" name="Text 44"/>
          <p:cNvSpPr/>
          <p:nvPr/>
        </p:nvSpPr>
        <p:spPr>
          <a:xfrm>
            <a:off x="7081838" y="6458769"/>
            <a:ext cx="7103745" cy="244748"/>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AFD3"/>
                </a:solidFill>
                <a:latin typeface="Georgia" pitchFamily="34" charset="0"/>
                <a:ea typeface="Georgia" pitchFamily="34" charset="-122"/>
                <a:cs typeface="Georgia" pitchFamily="34" charset="-120"/>
              </a:rPr>
              <a:t>Witnessed the oathbreaker struck from the ledger.</a:t>
            </a:r>
            <a:endParaRPr lang="en-US" sz="1050" dirty="0"/>
          </a:p>
        </p:txBody>
      </p:sp>
      <p:sp>
        <p:nvSpPr>
          <p:cNvPr id="52" name="Shape 45"/>
          <p:cNvSpPr/>
          <p:nvPr/>
        </p:nvSpPr>
        <p:spPr>
          <a:xfrm>
            <a:off x="6815138" y="6903541"/>
            <a:ext cx="180975" cy="180975"/>
          </a:xfrm>
          <a:prstGeom prst="ellipse">
            <a:avLst/>
          </a:prstGeom>
          <a:solidFill>
            <a:srgbClr val="0B0813"/>
          </a:solidFill>
          <a:ln w="19050">
            <a:solidFill>
              <a:srgbClr val="6B4FB0"/>
            </a:solidFill>
            <a:prstDash val="solid"/>
          </a:ln>
          <a:effectLst>
            <a:outerShdw sx="100000" sy="100000" kx="0" ky="0" algn="bl" rotWithShape="0" blurRad="95250" dist="50800" dir="16200000">
              <a:srgbClr val="6B4FB0">
                <a:alpha val="100000"/>
              </a:srgbClr>
            </a:outerShdw>
          </a:effectLst>
        </p:spPr>
      </p:sp>
      <p:sp>
        <p:nvSpPr>
          <p:cNvPr id="53" name="Text 46"/>
          <p:cNvSpPr/>
          <p:nvPr/>
        </p:nvSpPr>
        <p:spPr>
          <a:xfrm>
            <a:off x="7081838" y="6874966"/>
            <a:ext cx="710374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47699"/>
                </a:solidFill>
                <a:latin typeface="Courier New" pitchFamily="34" charset="0"/>
                <a:ea typeface="Courier New" pitchFamily="34" charset="-122"/>
                <a:cs typeface="Courier New" pitchFamily="34" charset="-120"/>
              </a:rPr>
              <a:t>SESSION XII</a:t>
            </a:r>
            <a:endParaRPr lang="en-US" sz="900" dirty="0"/>
          </a:p>
        </p:txBody>
      </p:sp>
      <p:sp>
        <p:nvSpPr>
          <p:cNvPr id="54" name="Text 47"/>
          <p:cNvSpPr/>
          <p:nvPr/>
        </p:nvSpPr>
        <p:spPr>
          <a:xfrm>
            <a:off x="7081838" y="7051179"/>
            <a:ext cx="7103745"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E6DEF2"/>
                </a:solidFill>
                <a:latin typeface="Georgia" pitchFamily="34" charset="0"/>
                <a:ea typeface="Georgia" pitchFamily="34" charset="-122"/>
                <a:cs typeface="Georgia" pitchFamily="34" charset="-120"/>
              </a:rPr>
              <a:t>Into the Dark</a:t>
            </a:r>
            <a:endParaRPr lang="en-US" sz="1350" dirty="0"/>
          </a:p>
        </p:txBody>
      </p:sp>
      <p:sp>
        <p:nvSpPr>
          <p:cNvPr id="55" name="Text 48"/>
          <p:cNvSpPr/>
          <p:nvPr/>
        </p:nvSpPr>
        <p:spPr>
          <a:xfrm>
            <a:off x="7081838" y="7303591"/>
            <a:ext cx="7103745" cy="244748"/>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AFD3"/>
                </a:solidFill>
                <a:latin typeface="Georgia" pitchFamily="34" charset="0"/>
                <a:ea typeface="Georgia" pitchFamily="34" charset="-122"/>
                <a:cs typeface="Georgia" pitchFamily="34" charset="-120"/>
              </a:rPr>
              <a:t>Descends with the party. Dread at 8 of 10.</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2985924"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TTRPG · MASTER</a:t>
            </a:r>
            <a:endParaRPr lang="en-US" sz="1275" dirty="0"/>
          </a:p>
        </p:txBody>
      </p:sp>
      <p:sp>
        <p:nvSpPr>
          <p:cNvPr id="4" name="Text 2"/>
          <p:cNvSpPr/>
          <p:nvPr/>
        </p:nvSpPr>
        <p:spPr>
          <a:xfrm>
            <a:off x="533400" y="766763"/>
            <a:ext cx="2985924"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Master Screen</a:t>
            </a:r>
            <a:endParaRPr lang="en-US" sz="3450" dirty="0"/>
          </a:p>
        </p:txBody>
      </p:sp>
      <p:sp>
        <p:nvSpPr>
          <p:cNvPr id="5" name="Shape 3"/>
          <p:cNvSpPr/>
          <p:nvPr/>
        </p:nvSpPr>
        <p:spPr>
          <a:xfrm>
            <a:off x="15589523" y="438150"/>
            <a:ext cx="2165077" cy="381000"/>
          </a:xfrm>
          <a:prstGeom prst="roundRect">
            <a:avLst>
              <a:gd name="adj" fmla="val 50000"/>
            </a:avLst>
          </a:prstGeom>
          <a:solidFill>
            <a:srgbClr val="111824"/>
          </a:solidFill>
          <a:ln w="9525">
            <a:solidFill>
              <a:srgbClr val="243349"/>
            </a:solidFill>
            <a:prstDash val="solid"/>
          </a:ln>
        </p:spPr>
      </p:sp>
      <p:sp>
        <p:nvSpPr>
          <p:cNvPr id="6" name="Shape 4"/>
          <p:cNvSpPr/>
          <p:nvPr/>
        </p:nvSpPr>
        <p:spPr>
          <a:xfrm>
            <a:off x="15703823" y="533400"/>
            <a:ext cx="190500" cy="190500"/>
          </a:xfrm>
          <a:prstGeom prst="ellipse">
            <a:avLst/>
          </a:prstGeom>
          <a:solidFill>
            <a:srgbClr val="080C12"/>
          </a:solidFill>
          <a:ln w="9525">
            <a:solidFill>
              <a:srgbClr val="FFFFFF">
                <a:alpha val="18000"/>
              </a:srgbClr>
            </a:solidFill>
            <a:prstDash val="solid"/>
          </a:ln>
        </p:spPr>
      </p:sp>
      <p:sp>
        <p:nvSpPr>
          <p:cNvPr id="7" name="Text 5"/>
          <p:cNvSpPr/>
          <p:nvPr/>
        </p:nvSpPr>
        <p:spPr>
          <a:xfrm>
            <a:off x="15989573" y="533400"/>
            <a:ext cx="1679302" cy="228600"/>
          </a:xfrm>
          <a:prstGeom prst="rect">
            <a:avLst/>
          </a:prstGeom>
          <a:noFill/>
          <a:ln/>
        </p:spPr>
        <p:txBody>
          <a:bodyPr wrap="none" lIns="0" tIns="0" rIns="0" bIns="0" rtlCol="0" anchor="t">
            <a:normAutofit/>
          </a:bodyPr>
          <a:lstStyle/>
          <a:p>
            <a:pPr algn="l" indent="0" marL="0">
              <a:buNone/>
            </a:pPr>
            <a:r>
              <a:rPr lang="en-US" sz="1125" spc="68" kern="0" dirty="0">
                <a:solidFill>
                  <a:srgbClr val="A7BACE"/>
                </a:solidFill>
                <a:latin typeface="Courier New" pitchFamily="34" charset="0"/>
                <a:ea typeface="Courier New" pitchFamily="34" charset="-122"/>
                <a:cs typeface="Courier New" pitchFamily="34" charset="-120"/>
              </a:rPr>
              <a:t>Blue · ttrpg-blue</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7202150" cy="8320088"/>
          </a:xfrm>
          <a:prstGeom prst="rect">
            <a:avLst/>
          </a:prstGeom>
          <a:solidFill>
            <a:srgbClr val="080C12"/>
          </a:solidFill>
          <a:ln/>
        </p:spPr>
      </p:sp>
      <p:sp>
        <p:nvSpPr>
          <p:cNvPr id="10" name="Shape 8"/>
          <p:cNvSpPr/>
          <p:nvPr/>
        </p:nvSpPr>
        <p:spPr>
          <a:xfrm>
            <a:off x="542925" y="1462088"/>
            <a:ext cx="2066925" cy="8320088"/>
          </a:xfrm>
          <a:prstGeom prst="rect">
            <a:avLst/>
          </a:prstGeom>
          <a:solidFill>
            <a:srgbClr val="0C121B"/>
          </a:solidFill>
          <a:ln/>
        </p:spPr>
      </p:sp>
      <p:sp>
        <p:nvSpPr>
          <p:cNvPr id="11" name="Shape 9"/>
          <p:cNvSpPr/>
          <p:nvPr/>
        </p:nvSpPr>
        <p:spPr>
          <a:xfrm>
            <a:off x="2600325" y="1462088"/>
            <a:ext cx="9525" cy="8320088"/>
          </a:xfrm>
          <a:prstGeom prst="rect">
            <a:avLst/>
          </a:prstGeom>
          <a:solidFill>
            <a:srgbClr val="1B2738"/>
          </a:solidFill>
          <a:ln/>
        </p:spPr>
      </p:sp>
      <p:sp>
        <p:nvSpPr>
          <p:cNvPr id="12" name="Shape 10"/>
          <p:cNvSpPr/>
          <p:nvPr/>
        </p:nvSpPr>
        <p:spPr>
          <a:xfrm>
            <a:off x="542925" y="2071688"/>
            <a:ext cx="2057400" cy="9525"/>
          </a:xfrm>
          <a:prstGeom prst="rect">
            <a:avLst/>
          </a:prstGeom>
          <a:solidFill>
            <a:srgbClr val="1B2738"/>
          </a:solidFill>
          <a:ln/>
        </p:spPr>
      </p:sp>
      <p:sp>
        <p:nvSpPr>
          <p:cNvPr id="13" name="Text 11"/>
          <p:cNvSpPr/>
          <p:nvPr/>
        </p:nvSpPr>
        <p:spPr>
          <a:xfrm>
            <a:off x="733425" y="1671638"/>
            <a:ext cx="265137" cy="2667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8BC2E6"/>
                </a:solidFill>
                <a:latin typeface="Georgia" pitchFamily="34" charset="0"/>
                <a:ea typeface="Georgia" pitchFamily="34" charset="-122"/>
                <a:cs typeface="Georgia" pitchFamily="34" charset="-120"/>
              </a:rPr>
              <a:t>ᛜ</a:t>
            </a:r>
            <a:endParaRPr lang="en-US" sz="1350" dirty="0"/>
          </a:p>
        </p:txBody>
      </p:sp>
      <p:sp>
        <p:nvSpPr>
          <p:cNvPr id="14" name="Text 12"/>
          <p:cNvSpPr/>
          <p:nvPr/>
        </p:nvSpPr>
        <p:spPr>
          <a:xfrm>
            <a:off x="1017612" y="1702594"/>
            <a:ext cx="930399" cy="204787"/>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DCE6F0"/>
                </a:solidFill>
                <a:latin typeface="Georgia" pitchFamily="34" charset="0"/>
                <a:ea typeface="Georgia" pitchFamily="34" charset="-122"/>
                <a:cs typeface="Georgia" pitchFamily="34" charset="-120"/>
              </a:rPr>
              <a:t>THE TABLE</a:t>
            </a:r>
            <a:endParaRPr lang="en-US" sz="1125"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575" y="2319338"/>
            <a:ext cx="161925" cy="161925"/>
          </a:xfrm>
          <a:prstGeom prst="rect">
            <a:avLst/>
          </a:prstGeom>
        </p:spPr>
      </p:pic>
      <p:sp>
        <p:nvSpPr>
          <p:cNvPr id="16" name="Text 13"/>
          <p:cNvSpPr/>
          <p:nvPr/>
        </p:nvSpPr>
        <p:spPr>
          <a:xfrm>
            <a:off x="1057275" y="2290763"/>
            <a:ext cx="818927"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Player Card</a:t>
            </a:r>
            <a:endParaRPr lang="en-US" sz="1125"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575" y="2747963"/>
            <a:ext cx="161925" cy="161925"/>
          </a:xfrm>
          <a:prstGeom prst="rect">
            <a:avLst/>
          </a:prstGeom>
        </p:spPr>
      </p:pic>
      <p:sp>
        <p:nvSpPr>
          <p:cNvPr id="18" name="Text 14"/>
          <p:cNvSpPr/>
          <p:nvPr/>
        </p:nvSpPr>
        <p:spPr>
          <a:xfrm>
            <a:off x="1057275" y="2719388"/>
            <a:ext cx="369243"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Dice</a:t>
            </a:r>
            <a:endParaRPr lang="en-US" sz="1125" dirty="0"/>
          </a:p>
        </p:txBody>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0575" y="3176588"/>
            <a:ext cx="161925" cy="161925"/>
          </a:xfrm>
          <a:prstGeom prst="rect">
            <a:avLst/>
          </a:prstGeom>
        </p:spPr>
      </p:pic>
      <p:sp>
        <p:nvSpPr>
          <p:cNvPr id="20" name="Text 15"/>
          <p:cNvSpPr/>
          <p:nvPr/>
        </p:nvSpPr>
        <p:spPr>
          <a:xfrm>
            <a:off x="1057275" y="3148013"/>
            <a:ext cx="539874"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Graphs</a:t>
            </a:r>
            <a:endParaRPr lang="en-US" sz="1125" dirty="0"/>
          </a:p>
        </p:txBody>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575" y="3605213"/>
            <a:ext cx="161925" cy="161925"/>
          </a:xfrm>
          <a:prstGeom prst="rect">
            <a:avLst/>
          </a:prstGeom>
        </p:spPr>
      </p:pic>
      <p:sp>
        <p:nvSpPr>
          <p:cNvPr id="22" name="Text 16"/>
          <p:cNvSpPr/>
          <p:nvPr/>
        </p:nvSpPr>
        <p:spPr>
          <a:xfrm>
            <a:off x="1057275" y="3576638"/>
            <a:ext cx="488826"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Tables</a:t>
            </a:r>
            <a:endParaRPr lang="en-US" sz="1125" dirty="0"/>
          </a:p>
        </p:txBody>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0575" y="4033837"/>
            <a:ext cx="161925" cy="161925"/>
          </a:xfrm>
          <a:prstGeom prst="rect">
            <a:avLst/>
          </a:prstGeom>
        </p:spPr>
      </p:pic>
      <p:sp>
        <p:nvSpPr>
          <p:cNvPr id="24" name="Text 17"/>
          <p:cNvSpPr/>
          <p:nvPr/>
        </p:nvSpPr>
        <p:spPr>
          <a:xfrm>
            <a:off x="1057275" y="4005262"/>
            <a:ext cx="703734" cy="257175"/>
          </a:xfrm>
          <a:prstGeom prst="rect">
            <a:avLst/>
          </a:prstGeom>
          <a:noFill/>
          <a:ln/>
        </p:spPr>
        <p:txBody>
          <a:bodyPr wrap="square" lIns="0" tIns="0" rIns="0" bIns="0" rtlCol="0" anchor="t">
            <a:normAutofit/>
          </a:bodyPr>
          <a:lstStyle/>
          <a:p>
            <a:pPr algn="l" indent="0" marL="0">
              <a:buNone/>
            </a:pPr>
            <a:r>
              <a:rPr lang="en-US" sz="1125" dirty="0">
                <a:solidFill>
                  <a:srgbClr val="6C8199"/>
                </a:solidFill>
                <a:latin typeface="Georgia" pitchFamily="34" charset="0"/>
                <a:ea typeface="Georgia" pitchFamily="34" charset="-122"/>
                <a:cs typeface="Georgia" pitchFamily="34" charset="-120"/>
              </a:rPr>
              <a:t>Chronicle</a:t>
            </a:r>
            <a:endParaRPr lang="en-US" sz="1125" dirty="0"/>
          </a:p>
        </p:txBody>
      </p:sp>
      <p:sp>
        <p:nvSpPr>
          <p:cNvPr id="25" name="Shape 18"/>
          <p:cNvSpPr/>
          <p:nvPr/>
        </p:nvSpPr>
        <p:spPr>
          <a:xfrm>
            <a:off x="657225" y="4338638"/>
            <a:ext cx="1828800" cy="409575"/>
          </a:xfrm>
          <a:prstGeom prst="roundRect">
            <a:avLst>
              <a:gd name="adj" fmla="val 6977"/>
            </a:avLst>
          </a:prstGeom>
          <a:solidFill>
            <a:srgbClr val="16202F"/>
          </a:solidFill>
          <a:ln/>
        </p:spPr>
      </p:sp>
      <p:sp>
        <p:nvSpPr>
          <p:cNvPr id="26" name="Shape 19"/>
          <p:cNvSpPr/>
          <p:nvPr/>
        </p:nvSpPr>
        <p:spPr>
          <a:xfrm>
            <a:off x="657225" y="4338638"/>
            <a:ext cx="19050" cy="409575"/>
          </a:xfrm>
          <a:prstGeom prst="rect">
            <a:avLst/>
          </a:prstGeom>
          <a:solidFill>
            <a:srgbClr val="3E78A8"/>
          </a:solidFill>
          <a:ln/>
        </p:spPr>
      </p:sp>
      <p:pic>
        <p:nvPicPr>
          <p:cNvPr id="2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0575" y="4462463"/>
            <a:ext cx="161925" cy="161925"/>
          </a:xfrm>
          <a:prstGeom prst="rect">
            <a:avLst/>
          </a:prstGeom>
        </p:spPr>
      </p:pic>
      <p:sp>
        <p:nvSpPr>
          <p:cNvPr id="28" name="Text 20"/>
          <p:cNvSpPr/>
          <p:nvPr/>
        </p:nvSpPr>
        <p:spPr>
          <a:xfrm>
            <a:off x="1057275" y="4433888"/>
            <a:ext cx="980926" cy="257175"/>
          </a:xfrm>
          <a:prstGeom prst="rect">
            <a:avLst/>
          </a:prstGeom>
          <a:noFill/>
          <a:ln/>
        </p:spPr>
        <p:txBody>
          <a:bodyPr wrap="square" lIns="0" tIns="0" rIns="0" bIns="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Master Screen</a:t>
            </a:r>
            <a:endParaRPr lang="en-US" sz="1125" dirty="0"/>
          </a:p>
        </p:txBody>
      </p:sp>
      <p:sp>
        <p:nvSpPr>
          <p:cNvPr id="29" name="Shape 21"/>
          <p:cNvSpPr/>
          <p:nvPr/>
        </p:nvSpPr>
        <p:spPr>
          <a:xfrm>
            <a:off x="2609850" y="1462088"/>
            <a:ext cx="15135225" cy="504825"/>
          </a:xfrm>
          <a:prstGeom prst="rect">
            <a:avLst/>
          </a:prstGeom>
          <a:solidFill>
            <a:srgbClr val="080C12"/>
          </a:solidFill>
          <a:ln/>
        </p:spPr>
      </p:sp>
      <p:sp>
        <p:nvSpPr>
          <p:cNvPr id="30" name="Shape 22"/>
          <p:cNvSpPr/>
          <p:nvPr/>
        </p:nvSpPr>
        <p:spPr>
          <a:xfrm>
            <a:off x="2609850" y="1957388"/>
            <a:ext cx="15135225" cy="9525"/>
          </a:xfrm>
          <a:prstGeom prst="rect">
            <a:avLst/>
          </a:prstGeom>
          <a:solidFill>
            <a:srgbClr val="1B2738"/>
          </a:solidFill>
          <a:ln/>
        </p:spPr>
      </p:sp>
      <p:sp>
        <p:nvSpPr>
          <p:cNvPr id="31" name="Text 23"/>
          <p:cNvSpPr/>
          <p:nvPr/>
        </p:nvSpPr>
        <p:spPr>
          <a:xfrm>
            <a:off x="2819400" y="1640681"/>
            <a:ext cx="1249710"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6C8199"/>
                </a:solidFill>
                <a:latin typeface="Courier New" pitchFamily="34" charset="0"/>
                <a:ea typeface="Courier New" pitchFamily="34" charset="-122"/>
                <a:cs typeface="Courier New" pitchFamily="34" charset="-120"/>
              </a:rPr>
              <a:t>TTRPG · MASTER</a:t>
            </a:r>
            <a:endParaRPr lang="en-US" sz="825" dirty="0"/>
          </a:p>
        </p:txBody>
      </p:sp>
      <p:sp>
        <p:nvSpPr>
          <p:cNvPr id="32" name="Text 24"/>
          <p:cNvSpPr/>
          <p:nvPr/>
        </p:nvSpPr>
        <p:spPr>
          <a:xfrm>
            <a:off x="16181784" y="1640681"/>
            <a:ext cx="1489115" cy="176212"/>
          </a:xfrm>
          <a:prstGeom prst="rect">
            <a:avLst/>
          </a:prstGeom>
          <a:noFill/>
          <a:ln/>
        </p:spPr>
        <p:txBody>
          <a:bodyPr wrap="square" lIns="25400" tIns="25400" rIns="25400" bIns="25400" rtlCol="0" anchor="t">
            <a:normAutofit/>
          </a:bodyPr>
          <a:lstStyle/>
          <a:p>
            <a:pPr algn="l" indent="0" marL="0">
              <a:buNone/>
            </a:pPr>
            <a:r>
              <a:rPr lang="en-US" sz="825" spc="132" kern="0" dirty="0">
                <a:solidFill>
                  <a:srgbClr val="8BC2E6"/>
                </a:solidFill>
                <a:latin typeface="Courier New" pitchFamily="34" charset="0"/>
                <a:ea typeface="Courier New" pitchFamily="34" charset="-122"/>
                <a:cs typeface="Courier New" pitchFamily="34" charset="-120"/>
              </a:rPr>
              <a:t>Behind the Screen</a:t>
            </a:r>
            <a:endParaRPr lang="en-US" sz="825" dirty="0"/>
          </a:p>
        </p:txBody>
      </p:sp>
      <p:sp>
        <p:nvSpPr>
          <p:cNvPr id="33" name="Shape 25"/>
          <p:cNvSpPr/>
          <p:nvPr/>
        </p:nvSpPr>
        <p:spPr>
          <a:xfrm>
            <a:off x="2609850" y="1966912"/>
            <a:ext cx="15135225" cy="7815263"/>
          </a:xfrm>
          <a:prstGeom prst="rect">
            <a:avLst/>
          </a:prstGeom>
          <a:gradFill rotWithShape="1">
            <a:gsLst>
              <a:gs pos="0">
                <a:srgbClr val="FFFFFF">
                  <a:alpha val="2000"/>
                </a:srgbClr>
              </a:gs>
              <a:gs pos="100000">
                <a:srgbClr val="FFFFFF">
                  <a:alpha val="0"/>
                </a:srgbClr>
              </a:gs>
            </a:gsLst>
            <a:lin ang="5400000" scaled="0"/>
          </a:gradFill>
          <a:ln/>
        </p:spPr>
      </p:sp>
      <p:sp>
        <p:nvSpPr>
          <p:cNvPr id="34" name="Text 26"/>
          <p:cNvSpPr/>
          <p:nvPr/>
        </p:nvSpPr>
        <p:spPr>
          <a:xfrm>
            <a:off x="5033963" y="2271713"/>
            <a:ext cx="11315700" cy="185738"/>
          </a:xfrm>
          <a:prstGeom prst="rect">
            <a:avLst/>
          </a:prstGeom>
          <a:noFill/>
          <a:ln/>
        </p:spPr>
        <p:txBody>
          <a:bodyPr wrap="square" lIns="25400" tIns="25400" rIns="25400" bIns="25400" rtlCol="0" anchor="t">
            <a:normAutofit/>
          </a:bodyPr>
          <a:lstStyle/>
          <a:p>
            <a:pPr algn="l" indent="0" marL="0">
              <a:buNone/>
            </a:pPr>
            <a:r>
              <a:rPr lang="en-US" sz="900" spc="216" kern="0" dirty="0">
                <a:solidFill>
                  <a:srgbClr val="8BC2E6"/>
                </a:solidFill>
                <a:latin typeface="Courier New" pitchFamily="34" charset="0"/>
                <a:ea typeface="Courier New" pitchFamily="34" charset="-122"/>
                <a:cs typeface="Courier New" pitchFamily="34" charset="-120"/>
              </a:rPr>
              <a:t>MASTER · BEHIND THE SCREEN</a:t>
            </a:r>
            <a:endParaRPr lang="en-US" sz="900" dirty="0"/>
          </a:p>
        </p:txBody>
      </p:sp>
      <p:sp>
        <p:nvSpPr>
          <p:cNvPr id="35" name="Text 27"/>
          <p:cNvSpPr/>
          <p:nvPr/>
        </p:nvSpPr>
        <p:spPr>
          <a:xfrm>
            <a:off x="5033963" y="2495550"/>
            <a:ext cx="113157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DCE6F0"/>
                </a:solidFill>
                <a:latin typeface="Georgia" pitchFamily="34" charset="0"/>
                <a:ea typeface="Georgia" pitchFamily="34" charset="-122"/>
                <a:cs typeface="Georgia" pitchFamily="34" charset="-120"/>
              </a:rPr>
              <a:t>Master Screen</a:t>
            </a:r>
            <a:endParaRPr lang="en-US" sz="2700" dirty="0"/>
          </a:p>
        </p:txBody>
      </p:sp>
      <p:sp>
        <p:nvSpPr>
          <p:cNvPr id="36" name="Shape 28"/>
          <p:cNvSpPr/>
          <p:nvPr/>
        </p:nvSpPr>
        <p:spPr>
          <a:xfrm>
            <a:off x="5033963" y="3114675"/>
            <a:ext cx="5706666" cy="2886075"/>
          </a:xfrm>
          <a:prstGeom prst="roundRect">
            <a:avLst>
              <a:gd name="adj" fmla="val 1650"/>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37" name="Text 29"/>
          <p:cNvSpPr/>
          <p:nvPr/>
        </p:nvSpPr>
        <p:spPr>
          <a:xfrm>
            <a:off x="5043488" y="3276600"/>
            <a:ext cx="1549033"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BC2E6"/>
                </a:solidFill>
                <a:latin typeface="Courier New" pitchFamily="34" charset="0"/>
                <a:ea typeface="Courier New" pitchFamily="34" charset="-122"/>
                <a:cs typeface="Courier New" pitchFamily="34" charset="-120"/>
              </a:rPr>
              <a:t>THIS ENCOUNTER</a:t>
            </a:r>
            <a:endParaRPr lang="en-US" sz="900" dirty="0"/>
          </a:p>
        </p:txBody>
      </p:sp>
      <p:sp>
        <p:nvSpPr>
          <p:cNvPr id="38" name="Text 30"/>
          <p:cNvSpPr/>
          <p:nvPr/>
        </p:nvSpPr>
        <p:spPr>
          <a:xfrm>
            <a:off x="5043488" y="3481388"/>
            <a:ext cx="1549033"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DCE6F0"/>
                </a:solidFill>
                <a:latin typeface="Georgia" pitchFamily="34" charset="0"/>
                <a:ea typeface="Georgia" pitchFamily="34" charset="-122"/>
                <a:cs typeface="Georgia" pitchFamily="34" charset="-120"/>
              </a:rPr>
              <a:t>Initiative</a:t>
            </a:r>
            <a:endParaRPr lang="en-US" sz="1650" dirty="0"/>
          </a:p>
        </p:txBody>
      </p:sp>
      <p:sp>
        <p:nvSpPr>
          <p:cNvPr id="39" name="Shape 31"/>
          <p:cNvSpPr/>
          <p:nvPr/>
        </p:nvSpPr>
        <p:spPr>
          <a:xfrm>
            <a:off x="5043488" y="3743325"/>
            <a:ext cx="5687616" cy="561975"/>
          </a:xfrm>
          <a:prstGeom prst="rect">
            <a:avLst/>
          </a:prstGeom>
          <a:solidFill>
            <a:srgbClr val="3E78A8">
              <a:alpha val="18000"/>
            </a:srgbClr>
          </a:solidFill>
          <a:ln/>
        </p:spPr>
      </p:sp>
      <p:sp>
        <p:nvSpPr>
          <p:cNvPr id="40" name="Shape 32"/>
          <p:cNvSpPr/>
          <p:nvPr/>
        </p:nvSpPr>
        <p:spPr>
          <a:xfrm>
            <a:off x="5043488" y="4295775"/>
            <a:ext cx="5687616" cy="9525"/>
          </a:xfrm>
          <a:prstGeom prst="rect">
            <a:avLst/>
          </a:prstGeom>
          <a:solidFill>
            <a:srgbClr val="1B2738"/>
          </a:solidFill>
          <a:ln/>
        </p:spPr>
      </p:sp>
      <p:sp>
        <p:nvSpPr>
          <p:cNvPr id="41" name="Text 33"/>
          <p:cNvSpPr/>
          <p:nvPr/>
        </p:nvSpPr>
        <p:spPr>
          <a:xfrm>
            <a:off x="5214938" y="3900488"/>
            <a:ext cx="361950"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8BC2E6"/>
                </a:solidFill>
                <a:latin typeface="Georgia" pitchFamily="34" charset="0"/>
                <a:ea typeface="Georgia" pitchFamily="34" charset="-122"/>
                <a:cs typeface="Georgia" pitchFamily="34" charset="-120"/>
              </a:rPr>
              <a:t>21</a:t>
            </a:r>
            <a:endParaRPr lang="en-US" sz="1650" dirty="0"/>
          </a:p>
        </p:txBody>
      </p:sp>
      <p:sp>
        <p:nvSpPr>
          <p:cNvPr id="42" name="Shape 34"/>
          <p:cNvSpPr/>
          <p:nvPr/>
        </p:nvSpPr>
        <p:spPr>
          <a:xfrm>
            <a:off x="5614988" y="3857625"/>
            <a:ext cx="323850" cy="323850"/>
          </a:xfrm>
          <a:prstGeom prst="ellipse">
            <a:avLst/>
          </a:prstGeom>
          <a:solidFill>
            <a:srgbClr val="16202F"/>
          </a:solidFill>
          <a:ln w="9525">
            <a:solidFill>
              <a:srgbClr val="243349"/>
            </a:solidFill>
            <a:prstDash val="solid"/>
          </a:ln>
          <a:effectLst>
            <a:outerShdw sx="100000" sy="100000" kx="0" ky="0" algn="bl" rotWithShape="0" blurRad="19050" dist="9525" dir="5400000">
              <a:srgbClr val="000000">
                <a:alpha val="35000"/>
              </a:srgbClr>
            </a:outerShdw>
          </a:effectLst>
        </p:spPr>
      </p:sp>
      <p:sp>
        <p:nvSpPr>
          <p:cNvPr id="43" name="Text 35"/>
          <p:cNvSpPr/>
          <p:nvPr/>
        </p:nvSpPr>
        <p:spPr>
          <a:xfrm>
            <a:off x="5586413" y="386715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A7BACE"/>
                </a:solidFill>
                <a:latin typeface="Georgia" pitchFamily="34" charset="0"/>
                <a:ea typeface="Georgia" pitchFamily="34" charset="-122"/>
                <a:cs typeface="Georgia" pitchFamily="34" charset="-120"/>
              </a:rPr>
              <a:t>SF</a:t>
            </a:r>
            <a:endParaRPr lang="en-US" sz="975" dirty="0"/>
          </a:p>
        </p:txBody>
      </p:sp>
      <p:sp>
        <p:nvSpPr>
          <p:cNvPr id="44" name="Shape 36"/>
          <p:cNvSpPr/>
          <p:nvPr/>
        </p:nvSpPr>
        <p:spPr>
          <a:xfrm>
            <a:off x="5831086" y="4073723"/>
            <a:ext cx="117277" cy="117277"/>
          </a:xfrm>
          <a:prstGeom prst="ellipse">
            <a:avLst/>
          </a:prstGeom>
          <a:solidFill>
            <a:srgbClr val="5B7A4E"/>
          </a:solidFill>
          <a:ln w="19050">
            <a:solidFill>
              <a:srgbClr val="111824"/>
            </a:solidFill>
            <a:prstDash val="solid"/>
          </a:ln>
        </p:spPr>
      </p:sp>
      <p:sp>
        <p:nvSpPr>
          <p:cNvPr id="45" name="Text 37"/>
          <p:cNvSpPr/>
          <p:nvPr/>
        </p:nvSpPr>
        <p:spPr>
          <a:xfrm>
            <a:off x="6053138" y="3910013"/>
            <a:ext cx="4013292" cy="257175"/>
          </a:xfrm>
          <a:prstGeom prst="rect">
            <a:avLst/>
          </a:prstGeom>
          <a:noFill/>
          <a:ln/>
        </p:spPr>
        <p:txBody>
          <a:bodyPr wrap="square" lIns="25400" tIns="25400" rIns="25400" bIns="2540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Sieglinde Frost</a:t>
            </a:r>
            <a:endParaRPr lang="en-US" sz="1125" dirty="0"/>
          </a:p>
        </p:txBody>
      </p:sp>
      <p:sp>
        <p:nvSpPr>
          <p:cNvPr id="46" name="Shape 38"/>
          <p:cNvSpPr/>
          <p:nvPr/>
        </p:nvSpPr>
        <p:spPr>
          <a:xfrm>
            <a:off x="9815885" y="3910980"/>
            <a:ext cx="743769" cy="217140"/>
          </a:xfrm>
          <a:prstGeom prst="roundRect">
            <a:avLst>
              <a:gd name="adj" fmla="val 50000"/>
            </a:avLst>
          </a:prstGeom>
          <a:solidFill>
            <a:srgbClr val="3E78A8">
              <a:alpha val="18000"/>
            </a:srgbClr>
          </a:solidFill>
          <a:ln/>
        </p:spPr>
      </p:sp>
      <p:sp>
        <p:nvSpPr>
          <p:cNvPr id="47" name="Shape 39"/>
          <p:cNvSpPr/>
          <p:nvPr/>
        </p:nvSpPr>
        <p:spPr>
          <a:xfrm>
            <a:off x="9911135" y="3990975"/>
            <a:ext cx="57150" cy="57150"/>
          </a:xfrm>
          <a:prstGeom prst="ellipse">
            <a:avLst/>
          </a:prstGeom>
          <a:solidFill>
            <a:srgbClr val="8BC2E6"/>
          </a:solidFill>
          <a:ln/>
        </p:spPr>
      </p:sp>
      <p:sp>
        <p:nvSpPr>
          <p:cNvPr id="48" name="Text 40"/>
          <p:cNvSpPr/>
          <p:nvPr/>
        </p:nvSpPr>
        <p:spPr>
          <a:xfrm>
            <a:off x="10025435" y="3939555"/>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8BC2E6"/>
                </a:solidFill>
                <a:latin typeface="Courier New" pitchFamily="34" charset="0"/>
                <a:ea typeface="Courier New" pitchFamily="34" charset="-122"/>
                <a:cs typeface="Courier New" pitchFamily="34" charset="-120"/>
              </a:rPr>
              <a:t>ACTING</a:t>
            </a:r>
            <a:endParaRPr lang="en-US" sz="900" dirty="0"/>
          </a:p>
        </p:txBody>
      </p:sp>
      <p:sp>
        <p:nvSpPr>
          <p:cNvPr id="49" name="Shape 41"/>
          <p:cNvSpPr/>
          <p:nvPr/>
        </p:nvSpPr>
        <p:spPr>
          <a:xfrm>
            <a:off x="5043488" y="4857750"/>
            <a:ext cx="5687616" cy="9525"/>
          </a:xfrm>
          <a:prstGeom prst="rect">
            <a:avLst/>
          </a:prstGeom>
          <a:solidFill>
            <a:srgbClr val="1B2738"/>
          </a:solidFill>
          <a:ln/>
        </p:spPr>
      </p:sp>
      <p:sp>
        <p:nvSpPr>
          <p:cNvPr id="50" name="Text 42"/>
          <p:cNvSpPr/>
          <p:nvPr/>
        </p:nvSpPr>
        <p:spPr>
          <a:xfrm>
            <a:off x="5214938" y="4462463"/>
            <a:ext cx="361950"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6C8199"/>
                </a:solidFill>
                <a:latin typeface="Georgia" pitchFamily="34" charset="0"/>
                <a:ea typeface="Georgia" pitchFamily="34" charset="-122"/>
                <a:cs typeface="Georgia" pitchFamily="34" charset="-120"/>
              </a:rPr>
              <a:t>17</a:t>
            </a:r>
            <a:endParaRPr lang="en-US" sz="1650" dirty="0"/>
          </a:p>
        </p:txBody>
      </p:sp>
      <p:sp>
        <p:nvSpPr>
          <p:cNvPr id="51" name="Shape 43"/>
          <p:cNvSpPr/>
          <p:nvPr/>
        </p:nvSpPr>
        <p:spPr>
          <a:xfrm>
            <a:off x="5614988" y="4419600"/>
            <a:ext cx="323850" cy="323850"/>
          </a:xfrm>
          <a:prstGeom prst="ellipse">
            <a:avLst/>
          </a:prstGeom>
          <a:solidFill>
            <a:srgbClr val="16202F"/>
          </a:solidFill>
          <a:ln w="9525">
            <a:solidFill>
              <a:srgbClr val="243349"/>
            </a:solidFill>
            <a:prstDash val="solid"/>
          </a:ln>
          <a:effectLst>
            <a:outerShdw sx="100000" sy="100000" kx="0" ky="0" algn="bl" rotWithShape="0" blurRad="19050" dist="9525" dir="5400000">
              <a:srgbClr val="000000">
                <a:alpha val="35000"/>
              </a:srgbClr>
            </a:outerShdw>
          </a:effectLst>
        </p:spPr>
      </p:sp>
      <p:sp>
        <p:nvSpPr>
          <p:cNvPr id="52" name="Text 44"/>
          <p:cNvSpPr/>
          <p:nvPr/>
        </p:nvSpPr>
        <p:spPr>
          <a:xfrm>
            <a:off x="5586413" y="4429125"/>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A7BACE"/>
                </a:solidFill>
                <a:latin typeface="Georgia" pitchFamily="34" charset="0"/>
                <a:ea typeface="Georgia" pitchFamily="34" charset="-122"/>
                <a:cs typeface="Georgia" pitchFamily="34" charset="-120"/>
              </a:rPr>
              <a:t>KN</a:t>
            </a:r>
            <a:endParaRPr lang="en-US" sz="975" dirty="0"/>
          </a:p>
        </p:txBody>
      </p:sp>
      <p:sp>
        <p:nvSpPr>
          <p:cNvPr id="53" name="Shape 45"/>
          <p:cNvSpPr/>
          <p:nvPr/>
        </p:nvSpPr>
        <p:spPr>
          <a:xfrm>
            <a:off x="5831086" y="4635698"/>
            <a:ext cx="117277" cy="117277"/>
          </a:xfrm>
          <a:prstGeom prst="ellipse">
            <a:avLst/>
          </a:prstGeom>
          <a:solidFill>
            <a:srgbClr val="5B7A4E"/>
          </a:solidFill>
          <a:ln w="19050">
            <a:solidFill>
              <a:srgbClr val="111824"/>
            </a:solidFill>
            <a:prstDash val="solid"/>
          </a:ln>
        </p:spPr>
      </p:sp>
      <p:sp>
        <p:nvSpPr>
          <p:cNvPr id="54" name="Text 46"/>
          <p:cNvSpPr/>
          <p:nvPr/>
        </p:nvSpPr>
        <p:spPr>
          <a:xfrm>
            <a:off x="6053138" y="4471988"/>
            <a:ext cx="4957167" cy="257175"/>
          </a:xfrm>
          <a:prstGeom prst="rect">
            <a:avLst/>
          </a:prstGeom>
          <a:noFill/>
          <a:ln/>
        </p:spPr>
        <p:txBody>
          <a:bodyPr wrap="square" lIns="25400" tIns="25400" rIns="25400" bIns="2540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Kára Nightveil</a:t>
            </a:r>
            <a:endParaRPr lang="en-US" sz="1125" dirty="0"/>
          </a:p>
        </p:txBody>
      </p:sp>
      <p:sp>
        <p:nvSpPr>
          <p:cNvPr id="55" name="Shape 47"/>
          <p:cNvSpPr/>
          <p:nvPr/>
        </p:nvSpPr>
        <p:spPr>
          <a:xfrm>
            <a:off x="5043488" y="5419725"/>
            <a:ext cx="5687616" cy="9525"/>
          </a:xfrm>
          <a:prstGeom prst="rect">
            <a:avLst/>
          </a:prstGeom>
          <a:solidFill>
            <a:srgbClr val="1B2738"/>
          </a:solidFill>
          <a:ln/>
        </p:spPr>
      </p:sp>
      <p:sp>
        <p:nvSpPr>
          <p:cNvPr id="56" name="Text 48"/>
          <p:cNvSpPr/>
          <p:nvPr/>
        </p:nvSpPr>
        <p:spPr>
          <a:xfrm>
            <a:off x="5214938" y="5024438"/>
            <a:ext cx="361950"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6C8199"/>
                </a:solidFill>
                <a:latin typeface="Georgia" pitchFamily="34" charset="0"/>
                <a:ea typeface="Georgia" pitchFamily="34" charset="-122"/>
                <a:cs typeface="Georgia" pitchFamily="34" charset="-120"/>
              </a:rPr>
              <a:t>14</a:t>
            </a:r>
            <a:endParaRPr lang="en-US" sz="1650" dirty="0"/>
          </a:p>
        </p:txBody>
      </p:sp>
      <p:sp>
        <p:nvSpPr>
          <p:cNvPr id="57" name="Shape 49"/>
          <p:cNvSpPr/>
          <p:nvPr/>
        </p:nvSpPr>
        <p:spPr>
          <a:xfrm>
            <a:off x="5614988" y="4981575"/>
            <a:ext cx="323850" cy="323850"/>
          </a:xfrm>
          <a:prstGeom prst="ellipse">
            <a:avLst/>
          </a:prstGeom>
          <a:solidFill>
            <a:srgbClr val="16202F"/>
          </a:solidFill>
          <a:ln w="9525">
            <a:solidFill>
              <a:srgbClr val="243349"/>
            </a:solidFill>
            <a:prstDash val="solid"/>
          </a:ln>
          <a:effectLst>
            <a:outerShdw sx="100000" sy="100000" kx="0" ky="0" algn="bl" rotWithShape="0" blurRad="19050" dist="9525" dir="5400000">
              <a:srgbClr val="000000">
                <a:alpha val="35000"/>
              </a:srgbClr>
            </a:outerShdw>
          </a:effectLst>
        </p:spPr>
      </p:sp>
      <p:sp>
        <p:nvSpPr>
          <p:cNvPr id="58" name="Text 50"/>
          <p:cNvSpPr/>
          <p:nvPr/>
        </p:nvSpPr>
        <p:spPr>
          <a:xfrm>
            <a:off x="5586413" y="499110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A7BACE"/>
                </a:solidFill>
                <a:latin typeface="Georgia" pitchFamily="34" charset="0"/>
                <a:ea typeface="Georgia" pitchFamily="34" charset="-122"/>
                <a:cs typeface="Georgia" pitchFamily="34" charset="-120"/>
              </a:rPr>
              <a:t>DH</a:t>
            </a:r>
            <a:endParaRPr lang="en-US" sz="975" dirty="0"/>
          </a:p>
        </p:txBody>
      </p:sp>
      <p:sp>
        <p:nvSpPr>
          <p:cNvPr id="59" name="Shape 51"/>
          <p:cNvSpPr/>
          <p:nvPr/>
        </p:nvSpPr>
        <p:spPr>
          <a:xfrm>
            <a:off x="5831086" y="5197673"/>
            <a:ext cx="117277" cy="117277"/>
          </a:xfrm>
          <a:prstGeom prst="ellipse">
            <a:avLst/>
          </a:prstGeom>
          <a:solidFill>
            <a:srgbClr val="B5601F"/>
          </a:solidFill>
          <a:ln w="19050">
            <a:solidFill>
              <a:srgbClr val="111824"/>
            </a:solidFill>
            <a:prstDash val="solid"/>
          </a:ln>
        </p:spPr>
      </p:sp>
      <p:sp>
        <p:nvSpPr>
          <p:cNvPr id="60" name="Text 52"/>
          <p:cNvSpPr/>
          <p:nvPr/>
        </p:nvSpPr>
        <p:spPr>
          <a:xfrm>
            <a:off x="6053138" y="5033963"/>
            <a:ext cx="4957167" cy="257175"/>
          </a:xfrm>
          <a:prstGeom prst="rect">
            <a:avLst/>
          </a:prstGeom>
          <a:noFill/>
          <a:ln/>
        </p:spPr>
        <p:txBody>
          <a:bodyPr wrap="square" lIns="25400" tIns="25400" rIns="25400" bIns="2540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The Drowned Host</a:t>
            </a:r>
            <a:endParaRPr lang="en-US" sz="1125" dirty="0"/>
          </a:p>
        </p:txBody>
      </p:sp>
      <p:sp>
        <p:nvSpPr>
          <p:cNvPr id="61" name="Shape 53"/>
          <p:cNvSpPr/>
          <p:nvPr/>
        </p:nvSpPr>
        <p:spPr>
          <a:xfrm>
            <a:off x="5043488" y="5981700"/>
            <a:ext cx="5687616" cy="9525"/>
          </a:xfrm>
          <a:prstGeom prst="rect">
            <a:avLst/>
          </a:prstGeom>
          <a:solidFill>
            <a:srgbClr val="1B2738"/>
          </a:solidFill>
          <a:ln/>
        </p:spPr>
      </p:sp>
      <p:sp>
        <p:nvSpPr>
          <p:cNvPr id="62" name="Text 54"/>
          <p:cNvSpPr/>
          <p:nvPr/>
        </p:nvSpPr>
        <p:spPr>
          <a:xfrm>
            <a:off x="5214938" y="5586413"/>
            <a:ext cx="361950" cy="276225"/>
          </a:xfrm>
          <a:prstGeom prst="rect">
            <a:avLst/>
          </a:prstGeom>
          <a:noFill/>
          <a:ln/>
        </p:spPr>
        <p:txBody>
          <a:bodyPr wrap="square" lIns="25400" tIns="25400" rIns="25400" bIns="25400" rtlCol="0" anchor="t">
            <a:normAutofit/>
          </a:bodyPr>
          <a:lstStyle/>
          <a:p>
            <a:pPr algn="l" indent="0" marL="0">
              <a:buNone/>
            </a:pPr>
            <a:r>
              <a:rPr lang="en-US" sz="1650" b="1" dirty="0">
                <a:solidFill>
                  <a:srgbClr val="6C8199"/>
                </a:solidFill>
                <a:latin typeface="Georgia" pitchFamily="34" charset="0"/>
                <a:ea typeface="Georgia" pitchFamily="34" charset="-122"/>
                <a:cs typeface="Georgia" pitchFamily="34" charset="-120"/>
              </a:rPr>
              <a:t>9</a:t>
            </a:r>
            <a:endParaRPr lang="en-US" sz="1650" dirty="0"/>
          </a:p>
        </p:txBody>
      </p:sp>
      <p:sp>
        <p:nvSpPr>
          <p:cNvPr id="63" name="Shape 55"/>
          <p:cNvSpPr/>
          <p:nvPr/>
        </p:nvSpPr>
        <p:spPr>
          <a:xfrm>
            <a:off x="5614988" y="5543550"/>
            <a:ext cx="323850" cy="323850"/>
          </a:xfrm>
          <a:prstGeom prst="ellipse">
            <a:avLst/>
          </a:prstGeom>
          <a:solidFill>
            <a:srgbClr val="16202F"/>
          </a:solidFill>
          <a:ln w="9525">
            <a:solidFill>
              <a:srgbClr val="243349"/>
            </a:solidFill>
            <a:prstDash val="solid"/>
          </a:ln>
          <a:effectLst>
            <a:outerShdw sx="100000" sy="100000" kx="0" ky="0" algn="bl" rotWithShape="0" blurRad="19050" dist="9525" dir="5400000">
              <a:srgbClr val="000000">
                <a:alpha val="35000"/>
              </a:srgbClr>
            </a:outerShdw>
          </a:effectLst>
        </p:spPr>
      </p:sp>
      <p:sp>
        <p:nvSpPr>
          <p:cNvPr id="64" name="Text 56"/>
          <p:cNvSpPr/>
          <p:nvPr/>
        </p:nvSpPr>
        <p:spPr>
          <a:xfrm>
            <a:off x="5586413" y="5553075"/>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A7BACE"/>
                </a:solidFill>
                <a:latin typeface="Georgia" pitchFamily="34" charset="0"/>
                <a:ea typeface="Georgia" pitchFamily="34" charset="-122"/>
                <a:cs typeface="Georgia" pitchFamily="34" charset="-120"/>
              </a:rPr>
              <a:t>IV</a:t>
            </a:r>
            <a:endParaRPr lang="en-US" sz="975" dirty="0"/>
          </a:p>
        </p:txBody>
      </p:sp>
      <p:sp>
        <p:nvSpPr>
          <p:cNvPr id="65" name="Shape 57"/>
          <p:cNvSpPr/>
          <p:nvPr/>
        </p:nvSpPr>
        <p:spPr>
          <a:xfrm>
            <a:off x="5831086" y="5759648"/>
            <a:ext cx="117277" cy="117277"/>
          </a:xfrm>
          <a:prstGeom prst="ellipse">
            <a:avLst/>
          </a:prstGeom>
          <a:solidFill>
            <a:srgbClr val="B5601F"/>
          </a:solidFill>
          <a:ln w="19050">
            <a:solidFill>
              <a:srgbClr val="111824"/>
            </a:solidFill>
            <a:prstDash val="solid"/>
          </a:ln>
        </p:spPr>
      </p:sp>
      <p:sp>
        <p:nvSpPr>
          <p:cNvPr id="66" name="Text 58"/>
          <p:cNvSpPr/>
          <p:nvPr/>
        </p:nvSpPr>
        <p:spPr>
          <a:xfrm>
            <a:off x="6053138" y="5595938"/>
            <a:ext cx="4957167" cy="257175"/>
          </a:xfrm>
          <a:prstGeom prst="rect">
            <a:avLst/>
          </a:prstGeom>
          <a:noFill/>
          <a:ln/>
        </p:spPr>
        <p:txBody>
          <a:bodyPr wrap="square" lIns="25400" tIns="25400" rIns="25400" bIns="25400" rtlCol="0" anchor="t">
            <a:normAutofit/>
          </a:bodyPr>
          <a:lstStyle/>
          <a:p>
            <a:pPr algn="l" indent="0" marL="0">
              <a:buNone/>
            </a:pPr>
            <a:r>
              <a:rPr lang="en-US" sz="1125" dirty="0">
                <a:solidFill>
                  <a:srgbClr val="DCE6F0"/>
                </a:solidFill>
                <a:latin typeface="Georgia" pitchFamily="34" charset="0"/>
                <a:ea typeface="Georgia" pitchFamily="34" charset="-122"/>
                <a:cs typeface="Georgia" pitchFamily="34" charset="-120"/>
              </a:rPr>
              <a:t>Ivar the Drowned</a:t>
            </a:r>
            <a:endParaRPr lang="en-US" sz="1125" dirty="0"/>
          </a:p>
        </p:txBody>
      </p:sp>
      <p:sp>
        <p:nvSpPr>
          <p:cNvPr id="67" name="Shape 59"/>
          <p:cNvSpPr/>
          <p:nvPr/>
        </p:nvSpPr>
        <p:spPr>
          <a:xfrm>
            <a:off x="10931128" y="3114675"/>
            <a:ext cx="4389834" cy="3124200"/>
          </a:xfrm>
          <a:prstGeom prst="roundRect">
            <a:avLst>
              <a:gd name="adj" fmla="val 1524"/>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68" name="Text 60"/>
          <p:cNvSpPr/>
          <p:nvPr/>
        </p:nvSpPr>
        <p:spPr>
          <a:xfrm>
            <a:off x="11112103" y="3276600"/>
            <a:ext cx="1231106"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DCE6F0"/>
                </a:solidFill>
                <a:latin typeface="Georgia" pitchFamily="34" charset="0"/>
                <a:ea typeface="Georgia" pitchFamily="34" charset="-122"/>
                <a:cs typeface="Georgia" pitchFamily="34" charset="-120"/>
              </a:rPr>
              <a:t>Master's roll</a:t>
            </a:r>
            <a:endParaRPr lang="en-US" sz="1650" dirty="0"/>
          </a:p>
        </p:txBody>
      </p:sp>
      <p:sp>
        <p:nvSpPr>
          <p:cNvPr id="69" name="Shape 61"/>
          <p:cNvSpPr/>
          <p:nvPr/>
        </p:nvSpPr>
        <p:spPr>
          <a:xfrm>
            <a:off x="11112103" y="3709988"/>
            <a:ext cx="4027884" cy="2347913"/>
          </a:xfrm>
          <a:prstGeom prst="roundRect">
            <a:avLst>
              <a:gd name="adj" fmla="val 2028"/>
            </a:avLst>
          </a:prstGeom>
          <a:solidFill>
            <a:srgbClr val="111824"/>
          </a:solidFill>
          <a:ln w="9525">
            <a:solidFill>
              <a:srgbClr val="1B2738"/>
            </a:solidFill>
            <a:prstDash val="solid"/>
          </a:ln>
          <a:effectLst>
            <a:outerShdw sx="100000" sy="100000" kx="0" ky="0" algn="bl" rotWithShape="0" blurRad="133350" dist="38100" dir="5400000">
              <a:srgbClr val="000000">
                <a:alpha val="40000"/>
              </a:srgbClr>
            </a:outerShdw>
          </a:effectLst>
        </p:spPr>
      </p:sp>
      <p:sp>
        <p:nvSpPr>
          <p:cNvPr id="70" name="Shape 62"/>
          <p:cNvSpPr/>
          <p:nvPr/>
        </p:nvSpPr>
        <p:spPr>
          <a:xfrm>
            <a:off x="11350228" y="3948112"/>
            <a:ext cx="388739" cy="290513"/>
          </a:xfrm>
          <a:prstGeom prst="roundRect">
            <a:avLst>
              <a:gd name="adj" fmla="val 9836"/>
            </a:avLst>
          </a:prstGeom>
          <a:solidFill>
            <a:srgbClr val="16202F"/>
          </a:solidFill>
          <a:ln w="9525">
            <a:solidFill>
              <a:srgbClr val="243349"/>
            </a:solidFill>
            <a:prstDash val="solid"/>
          </a:ln>
        </p:spPr>
      </p:sp>
      <p:sp>
        <p:nvSpPr>
          <p:cNvPr id="71" name="Text 63"/>
          <p:cNvSpPr/>
          <p:nvPr/>
        </p:nvSpPr>
        <p:spPr>
          <a:xfrm>
            <a:off x="11426428" y="4005262"/>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A7BACE"/>
                </a:solidFill>
                <a:latin typeface="Courier New" pitchFamily="34" charset="0"/>
                <a:ea typeface="Courier New" pitchFamily="34" charset="-122"/>
                <a:cs typeface="Courier New" pitchFamily="34" charset="-120"/>
              </a:rPr>
              <a:t>d 6</a:t>
            </a:r>
            <a:endParaRPr lang="en-US" sz="1050" dirty="0"/>
          </a:p>
        </p:txBody>
      </p:sp>
      <p:sp>
        <p:nvSpPr>
          <p:cNvPr id="72" name="Shape 64"/>
          <p:cNvSpPr/>
          <p:nvPr/>
        </p:nvSpPr>
        <p:spPr>
          <a:xfrm>
            <a:off x="11796117" y="3948112"/>
            <a:ext cx="388739" cy="290513"/>
          </a:xfrm>
          <a:prstGeom prst="roundRect">
            <a:avLst>
              <a:gd name="adj" fmla="val 9836"/>
            </a:avLst>
          </a:prstGeom>
          <a:solidFill>
            <a:srgbClr val="16202F"/>
          </a:solidFill>
          <a:ln w="9525">
            <a:solidFill>
              <a:srgbClr val="243349"/>
            </a:solidFill>
            <a:prstDash val="solid"/>
          </a:ln>
        </p:spPr>
      </p:sp>
      <p:sp>
        <p:nvSpPr>
          <p:cNvPr id="73" name="Text 65"/>
          <p:cNvSpPr/>
          <p:nvPr/>
        </p:nvSpPr>
        <p:spPr>
          <a:xfrm>
            <a:off x="11872317" y="4005262"/>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A7BACE"/>
                </a:solidFill>
                <a:latin typeface="Courier New" pitchFamily="34" charset="0"/>
                <a:ea typeface="Courier New" pitchFamily="34" charset="-122"/>
                <a:cs typeface="Courier New" pitchFamily="34" charset="-120"/>
              </a:rPr>
              <a:t>d 8</a:t>
            </a:r>
            <a:endParaRPr lang="en-US" sz="1050" dirty="0"/>
          </a:p>
        </p:txBody>
      </p:sp>
      <p:sp>
        <p:nvSpPr>
          <p:cNvPr id="74" name="Shape 66"/>
          <p:cNvSpPr/>
          <p:nvPr/>
        </p:nvSpPr>
        <p:spPr>
          <a:xfrm>
            <a:off x="12242006" y="3948112"/>
            <a:ext cx="468734" cy="290513"/>
          </a:xfrm>
          <a:prstGeom prst="roundRect">
            <a:avLst>
              <a:gd name="adj" fmla="val 9836"/>
            </a:avLst>
          </a:prstGeom>
          <a:solidFill>
            <a:srgbClr val="16202F"/>
          </a:solidFill>
          <a:ln w="9525">
            <a:solidFill>
              <a:srgbClr val="243349"/>
            </a:solidFill>
            <a:prstDash val="solid"/>
          </a:ln>
        </p:spPr>
      </p:sp>
      <p:sp>
        <p:nvSpPr>
          <p:cNvPr id="75" name="Text 67"/>
          <p:cNvSpPr/>
          <p:nvPr/>
        </p:nvSpPr>
        <p:spPr>
          <a:xfrm>
            <a:off x="12318206" y="4005262"/>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A7BACE"/>
                </a:solidFill>
                <a:latin typeface="Courier New" pitchFamily="34" charset="0"/>
                <a:ea typeface="Courier New" pitchFamily="34" charset="-122"/>
                <a:cs typeface="Courier New" pitchFamily="34" charset="-120"/>
              </a:rPr>
              <a:t>d 12</a:t>
            </a:r>
            <a:endParaRPr lang="en-US" sz="1050" dirty="0"/>
          </a:p>
        </p:txBody>
      </p:sp>
      <p:sp>
        <p:nvSpPr>
          <p:cNvPr id="76" name="Shape 68"/>
          <p:cNvSpPr/>
          <p:nvPr/>
        </p:nvSpPr>
        <p:spPr>
          <a:xfrm>
            <a:off x="12767890" y="3948112"/>
            <a:ext cx="468734" cy="290513"/>
          </a:xfrm>
          <a:prstGeom prst="roundRect">
            <a:avLst>
              <a:gd name="adj" fmla="val 9836"/>
            </a:avLst>
          </a:prstGeom>
          <a:solidFill>
            <a:srgbClr val="3E78A8">
              <a:alpha val="18000"/>
            </a:srgbClr>
          </a:solidFill>
          <a:ln w="9525">
            <a:solidFill>
              <a:srgbClr val="3E78A8"/>
            </a:solidFill>
            <a:prstDash val="solid"/>
          </a:ln>
        </p:spPr>
      </p:sp>
      <p:sp>
        <p:nvSpPr>
          <p:cNvPr id="77" name="Text 69"/>
          <p:cNvSpPr/>
          <p:nvPr/>
        </p:nvSpPr>
        <p:spPr>
          <a:xfrm>
            <a:off x="12844090" y="4005262"/>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8BC2E6"/>
                </a:solidFill>
                <a:latin typeface="Courier New" pitchFamily="34" charset="0"/>
                <a:ea typeface="Courier New" pitchFamily="34" charset="-122"/>
                <a:cs typeface="Courier New" pitchFamily="34" charset="-120"/>
              </a:rPr>
              <a:t>d 20</a:t>
            </a:r>
            <a:endParaRPr lang="en-US" sz="1050" dirty="0"/>
          </a:p>
        </p:txBody>
      </p:sp>
      <p:sp>
        <p:nvSpPr>
          <p:cNvPr id="78" name="Shape 70"/>
          <p:cNvSpPr/>
          <p:nvPr/>
        </p:nvSpPr>
        <p:spPr>
          <a:xfrm>
            <a:off x="11350228" y="4371975"/>
            <a:ext cx="914400" cy="914400"/>
          </a:xfrm>
          <a:prstGeom prst="roundRect">
            <a:avLst>
              <a:gd name="adj" fmla="val 5208"/>
            </a:avLst>
          </a:prstGeom>
          <a:solidFill>
            <a:srgbClr val="0C121B"/>
          </a:solidFill>
          <a:ln w="19050">
            <a:solidFill>
              <a:srgbClr val="32465F"/>
            </a:solidFill>
            <a:prstDash val="solid"/>
          </a:ln>
        </p:spPr>
      </p:sp>
      <p:sp>
        <p:nvSpPr>
          <p:cNvPr id="79" name="Text 71"/>
          <p:cNvSpPr/>
          <p:nvPr/>
        </p:nvSpPr>
        <p:spPr>
          <a:xfrm>
            <a:off x="11450092" y="4524375"/>
            <a:ext cx="79087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DCE6F0"/>
                </a:solidFill>
                <a:latin typeface="Georgia" pitchFamily="34" charset="0"/>
                <a:ea typeface="Georgia" pitchFamily="34" charset="-122"/>
                <a:cs typeface="Georgia" pitchFamily="34" charset="-120"/>
              </a:rPr>
              <a:t>20</a:t>
            </a:r>
            <a:endParaRPr lang="en-US" sz="4800" dirty="0"/>
          </a:p>
        </p:txBody>
      </p:sp>
      <p:sp>
        <p:nvSpPr>
          <p:cNvPr id="80" name="Text 72"/>
          <p:cNvSpPr/>
          <p:nvPr/>
        </p:nvSpPr>
        <p:spPr>
          <a:xfrm>
            <a:off x="12417028" y="4549601"/>
            <a:ext cx="2733318"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BC2E6"/>
                </a:solidFill>
                <a:latin typeface="Courier New" pitchFamily="34" charset="0"/>
                <a:ea typeface="Courier New" pitchFamily="34" charset="-122"/>
                <a:cs typeface="Courier New" pitchFamily="34" charset="-120"/>
              </a:rPr>
              <a:t>AWAITING THE THROW</a:t>
            </a:r>
            <a:endParaRPr lang="en-US" sz="900" dirty="0"/>
          </a:p>
        </p:txBody>
      </p:sp>
      <p:sp>
        <p:nvSpPr>
          <p:cNvPr id="81" name="Text 73"/>
          <p:cNvSpPr/>
          <p:nvPr/>
        </p:nvSpPr>
        <p:spPr>
          <a:xfrm>
            <a:off x="12417028" y="4697239"/>
            <a:ext cx="2733318" cy="449535"/>
          </a:xfrm>
          <a:prstGeom prst="rect">
            <a:avLst/>
          </a:prstGeom>
          <a:noFill/>
          <a:ln/>
        </p:spPr>
        <p:txBody>
          <a:bodyPr wrap="square" lIns="25400" tIns="25400" rIns="25400" bIns="25400" rtlCol="0" anchor="t">
            <a:normAutofit/>
          </a:bodyPr>
          <a:lstStyle/>
          <a:p>
            <a:pPr algn="l" indent="0" marL="0">
              <a:lnSpc>
                <a:spcPct val="120000"/>
              </a:lnSpc>
              <a:buNone/>
            </a:pPr>
            <a:r>
              <a:rPr lang="en-US" sz="2700" b="1" dirty="0">
                <a:solidFill>
                  <a:srgbClr val="DCE6F0"/>
                </a:solidFill>
                <a:latin typeface="Georgia" pitchFamily="34" charset="0"/>
                <a:ea typeface="Georgia" pitchFamily="34" charset="-122"/>
                <a:cs typeface="Georgia" pitchFamily="34" charset="-120"/>
              </a:rPr>
              <a:t>—</a:t>
            </a:r>
            <a:endParaRPr lang="en-US" sz="2700" dirty="0"/>
          </a:p>
        </p:txBody>
      </p:sp>
      <p:sp>
        <p:nvSpPr>
          <p:cNvPr id="82" name="Shape 74"/>
          <p:cNvSpPr/>
          <p:nvPr/>
        </p:nvSpPr>
        <p:spPr>
          <a:xfrm>
            <a:off x="11350228" y="5419725"/>
            <a:ext cx="3551634" cy="400050"/>
          </a:xfrm>
          <a:prstGeom prst="roundRect">
            <a:avLst>
              <a:gd name="adj" fmla="val 7143"/>
            </a:avLst>
          </a:prstGeom>
          <a:solidFill>
            <a:srgbClr val="3E78A8"/>
          </a:solidFill>
          <a:ln w="9525">
            <a:solidFill>
              <a:srgbClr val="3E78A8"/>
            </a:solidFill>
            <a:prstDash val="solid"/>
          </a:ln>
        </p:spPr>
      </p:sp>
      <p:sp>
        <p:nvSpPr>
          <p:cNvPr id="83" name="Text 75"/>
          <p:cNvSpPr/>
          <p:nvPr/>
        </p:nvSpPr>
        <p:spPr>
          <a:xfrm>
            <a:off x="11411254" y="5534025"/>
            <a:ext cx="3429583" cy="20955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061018"/>
                </a:solidFill>
                <a:latin typeface="Georgia" pitchFamily="34" charset="0"/>
                <a:ea typeface="Georgia" pitchFamily="34" charset="-122"/>
                <a:cs typeface="Georgia" pitchFamily="34" charset="-120"/>
              </a:rPr>
              <a:t>Roll d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4289554"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LIBRARY</a:t>
            </a:r>
            <a:endParaRPr lang="en-US" sz="1275" dirty="0"/>
          </a:p>
        </p:txBody>
      </p:sp>
      <p:sp>
        <p:nvSpPr>
          <p:cNvPr id="4" name="Text 2"/>
          <p:cNvSpPr/>
          <p:nvPr/>
        </p:nvSpPr>
        <p:spPr>
          <a:xfrm>
            <a:off x="533400" y="766763"/>
            <a:ext cx="4289554"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UI Elements — Dark</a:t>
            </a:r>
            <a:endParaRPr lang="en-US" sz="3450" dirty="0"/>
          </a:p>
        </p:txBody>
      </p:sp>
      <p:sp>
        <p:nvSpPr>
          <p:cNvPr id="5" name="Shape 3"/>
          <p:cNvSpPr/>
          <p:nvPr/>
        </p:nvSpPr>
        <p:spPr>
          <a:xfrm>
            <a:off x="16155293" y="438150"/>
            <a:ext cx="1599307" cy="381000"/>
          </a:xfrm>
          <a:prstGeom prst="roundRect">
            <a:avLst>
              <a:gd name="adj" fmla="val 50000"/>
            </a:avLst>
          </a:prstGeom>
          <a:solidFill>
            <a:srgbClr val="16151D"/>
          </a:solidFill>
          <a:ln w="9525">
            <a:solidFill>
              <a:srgbClr val="35343F"/>
            </a:solidFill>
            <a:prstDash val="solid"/>
          </a:ln>
        </p:spPr>
      </p:sp>
      <p:sp>
        <p:nvSpPr>
          <p:cNvPr id="6" name="Shape 4"/>
          <p:cNvSpPr/>
          <p:nvPr/>
        </p:nvSpPr>
        <p:spPr>
          <a:xfrm>
            <a:off x="16269593" y="533400"/>
            <a:ext cx="190500" cy="190500"/>
          </a:xfrm>
          <a:prstGeom prst="ellipse">
            <a:avLst/>
          </a:prstGeom>
          <a:solidFill>
            <a:srgbClr val="0B0A0F"/>
          </a:solidFill>
          <a:ln w="9525">
            <a:solidFill>
              <a:srgbClr val="FFFFFF">
                <a:alpha val="18000"/>
              </a:srgbClr>
            </a:solidFill>
            <a:prstDash val="solid"/>
          </a:ln>
        </p:spPr>
      </p:sp>
      <p:sp>
        <p:nvSpPr>
          <p:cNvPr id="7" name="Text 5"/>
          <p:cNvSpPr/>
          <p:nvPr/>
        </p:nvSpPr>
        <p:spPr>
          <a:xfrm>
            <a:off x="16555343" y="533400"/>
            <a:ext cx="1113532" cy="228600"/>
          </a:xfrm>
          <a:prstGeom prst="rect">
            <a:avLst/>
          </a:prstGeom>
          <a:noFill/>
          <a:ln/>
        </p:spPr>
        <p:txBody>
          <a:bodyPr wrap="none" lIns="0" tIns="0" rIns="0" bIns="0" rtlCol="0" anchor="t">
            <a:normAutofit/>
          </a:bodyPr>
          <a:lstStyle/>
          <a:p>
            <a:pPr algn="l" indent="0" marL="0">
              <a:buNone/>
            </a:pPr>
            <a:r>
              <a:rPr lang="en-US" sz="1125" spc="68" kern="0" dirty="0">
                <a:solidFill>
                  <a:srgbClr val="C5BDA6"/>
                </a:solidFill>
                <a:latin typeface="Courier New" pitchFamily="34" charset="0"/>
                <a:ea typeface="Courier New" pitchFamily="34" charset="-122"/>
                <a:cs typeface="Courier New" pitchFamily="34" charset="-120"/>
              </a:rPr>
              <a:t>Dark · dark</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8116550" cy="9005888"/>
          </a:xfrm>
          <a:prstGeom prst="rect">
            <a:avLst/>
          </a:prstGeom>
          <a:solidFill>
            <a:srgbClr val="0B0A0F"/>
          </a:solidFill>
          <a:ln/>
        </p:spPr>
      </p:sp>
      <p:sp>
        <p:nvSpPr>
          <p:cNvPr id="10" name="Text 8"/>
          <p:cNvSpPr/>
          <p:nvPr/>
        </p:nvSpPr>
        <p:spPr>
          <a:xfrm>
            <a:off x="1000125" y="1804988"/>
            <a:ext cx="6786964"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BUTTONS</a:t>
            </a:r>
            <a:endParaRPr lang="en-US" sz="825" dirty="0"/>
          </a:p>
        </p:txBody>
      </p:sp>
      <p:sp>
        <p:nvSpPr>
          <p:cNvPr id="11" name="Shape 9"/>
          <p:cNvSpPr/>
          <p:nvPr/>
        </p:nvSpPr>
        <p:spPr>
          <a:xfrm>
            <a:off x="1000125" y="2076450"/>
            <a:ext cx="1478087" cy="361950"/>
          </a:xfrm>
          <a:prstGeom prst="roundRect">
            <a:avLst>
              <a:gd name="adj" fmla="val 7895"/>
            </a:avLst>
          </a:prstGeom>
          <a:solidFill>
            <a:srgbClr val="9B1C1C"/>
          </a:solidFill>
          <a:ln w="9525">
            <a:solidFill>
              <a:srgbClr val="9B1C1C"/>
            </a:solidFill>
            <a:prstDash val="solid"/>
          </a:ln>
          <a:effectLst>
            <a:outerShdw sx="100000" sy="100000" kx="0" ky="0" algn="bl" rotWithShape="0" blurRad="19050" dist="9525" dir="5400000">
              <a:srgbClr val="000000">
                <a:alpha val="35000"/>
              </a:srgbClr>
            </a:outerShdw>
          </a:effectLst>
        </p:spPr>
      </p:sp>
      <p:sp>
        <p:nvSpPr>
          <p:cNvPr id="12" name="Text 10"/>
          <p:cNvSpPr/>
          <p:nvPr/>
        </p:nvSpPr>
        <p:spPr>
          <a:xfrm>
            <a:off x="1143000" y="2181225"/>
            <a:ext cx="1192337"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F6F1E4"/>
                </a:solidFill>
                <a:latin typeface="Georgia" pitchFamily="34" charset="0"/>
                <a:ea typeface="Georgia" pitchFamily="34" charset="-122"/>
                <a:cs typeface="Georgia" pitchFamily="34" charset="-120"/>
              </a:rPr>
              <a:t>Swear the Oath</a:t>
            </a:r>
            <a:endParaRPr lang="en-US" sz="1200" dirty="0"/>
          </a:p>
        </p:txBody>
      </p:sp>
      <p:sp>
        <p:nvSpPr>
          <p:cNvPr id="13" name="Shape 11"/>
          <p:cNvSpPr/>
          <p:nvPr/>
        </p:nvSpPr>
        <p:spPr>
          <a:xfrm>
            <a:off x="2592512" y="2076450"/>
            <a:ext cx="1084511" cy="361950"/>
          </a:xfrm>
          <a:prstGeom prst="roundRect">
            <a:avLst>
              <a:gd name="adj" fmla="val 7895"/>
            </a:avLst>
          </a:prstGeom>
          <a:solidFill>
            <a:srgbClr val="1C1B24"/>
          </a:solidFill>
          <a:ln w="9525">
            <a:solidFill>
              <a:srgbClr val="46454F"/>
            </a:solidFill>
            <a:prstDash val="solid"/>
          </a:ln>
          <a:effectLst>
            <a:outerShdw sx="100000" sy="100000" kx="0" ky="0" algn="bl" rotWithShape="0" blurRad="19050" dist="9525" dir="5400000">
              <a:srgbClr val="000000">
                <a:alpha val="35000"/>
              </a:srgbClr>
            </a:outerShdw>
          </a:effectLst>
        </p:spPr>
      </p:sp>
      <p:sp>
        <p:nvSpPr>
          <p:cNvPr id="14" name="Text 12"/>
          <p:cNvSpPr/>
          <p:nvPr/>
        </p:nvSpPr>
        <p:spPr>
          <a:xfrm>
            <a:off x="2735387" y="2181225"/>
            <a:ext cx="798761"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ECE6D6"/>
                </a:solidFill>
                <a:latin typeface="Georgia" pitchFamily="34" charset="0"/>
                <a:ea typeface="Georgia" pitchFamily="34" charset="-122"/>
                <a:cs typeface="Georgia" pitchFamily="34" charset="-120"/>
              </a:rPr>
              <a:t>Withdraw</a:t>
            </a:r>
            <a:endParaRPr lang="en-US" sz="1200" dirty="0"/>
          </a:p>
        </p:txBody>
      </p:sp>
      <p:sp>
        <p:nvSpPr>
          <p:cNvPr id="15" name="Text 13"/>
          <p:cNvSpPr/>
          <p:nvPr/>
        </p:nvSpPr>
        <p:spPr>
          <a:xfrm>
            <a:off x="3934197" y="2181225"/>
            <a:ext cx="563984"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C5BDA6"/>
                </a:solidFill>
                <a:latin typeface="Georgia" pitchFamily="34" charset="0"/>
                <a:ea typeface="Georgia" pitchFamily="34" charset="-122"/>
                <a:cs typeface="Georgia" pitchFamily="34" charset="-120"/>
              </a:rPr>
              <a:t>Cancel</a:t>
            </a:r>
            <a:endParaRPr lang="en-US" sz="1200" dirty="0"/>
          </a:p>
        </p:txBody>
      </p:sp>
      <p:sp>
        <p:nvSpPr>
          <p:cNvPr id="16" name="Shape 14"/>
          <p:cNvSpPr/>
          <p:nvPr/>
        </p:nvSpPr>
        <p:spPr>
          <a:xfrm>
            <a:off x="1000125" y="2552700"/>
            <a:ext cx="1360363" cy="361950"/>
          </a:xfrm>
          <a:prstGeom prst="roundRect">
            <a:avLst>
              <a:gd name="adj" fmla="val 7895"/>
            </a:avLst>
          </a:prstGeom>
          <a:ln w="9525">
            <a:solidFill>
              <a:srgbClr val="8A1F2A"/>
            </a:solidFill>
            <a:prstDash val="solid"/>
          </a:ln>
        </p:spPr>
      </p:sp>
      <p:sp>
        <p:nvSpPr>
          <p:cNvPr id="17" name="Text 15"/>
          <p:cNvSpPr/>
          <p:nvPr/>
        </p:nvSpPr>
        <p:spPr>
          <a:xfrm>
            <a:off x="1143000" y="2657475"/>
            <a:ext cx="1074613"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8A1F2A"/>
                </a:solidFill>
                <a:latin typeface="Georgia" pitchFamily="34" charset="0"/>
                <a:ea typeface="Georgia" pitchFamily="34" charset="-122"/>
                <a:cs typeface="Georgia" pitchFamily="34" charset="-120"/>
              </a:rPr>
              <a:t>Strike Record</a:t>
            </a:r>
            <a:endParaRPr lang="en-US" sz="1200" dirty="0"/>
          </a:p>
        </p:txBody>
      </p:sp>
      <p:sp>
        <p:nvSpPr>
          <p:cNvPr id="18" name="Shape 16"/>
          <p:cNvSpPr/>
          <p:nvPr/>
        </p:nvSpPr>
        <p:spPr>
          <a:xfrm>
            <a:off x="2474788" y="2552700"/>
            <a:ext cx="902271" cy="361950"/>
          </a:xfrm>
          <a:prstGeom prst="roundRect">
            <a:avLst>
              <a:gd name="adj" fmla="val 7895"/>
            </a:avLst>
          </a:prstGeom>
          <a:solidFill>
            <a:srgbClr val="9B1C1C"/>
          </a:solidFill>
          <a:ln w="9525">
            <a:solidFill>
              <a:srgbClr val="9B1C1C"/>
            </a:solidFill>
            <a:prstDash val="solid"/>
          </a:ln>
          <a:effectLst>
            <a:outerShdw sx="100000" sy="100000" kx="0" ky="0" algn="bl" rotWithShape="0" blurRad="19050" dist="9525" dir="5400000">
              <a:srgbClr val="000000">
                <a:alpha val="35000"/>
              </a:srgbClr>
            </a:outerShdw>
          </a:effectLst>
        </p:spPr>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55763" y="2662238"/>
            <a:ext cx="142875" cy="142875"/>
          </a:xfrm>
          <a:prstGeom prst="rect">
            <a:avLst/>
          </a:prstGeom>
        </p:spPr>
      </p:pic>
      <p:sp>
        <p:nvSpPr>
          <p:cNvPr id="20" name="Text 17"/>
          <p:cNvSpPr/>
          <p:nvPr/>
        </p:nvSpPr>
        <p:spPr>
          <a:xfrm>
            <a:off x="2836738" y="2657475"/>
            <a:ext cx="397446"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F6F1E4"/>
                </a:solidFill>
                <a:latin typeface="Georgia" pitchFamily="34" charset="0"/>
                <a:ea typeface="Georgia" pitchFamily="34" charset="-122"/>
                <a:cs typeface="Georgia" pitchFamily="34" charset="-120"/>
              </a:rPr>
              <a:t>New</a:t>
            </a:r>
            <a:endParaRPr lang="en-US" sz="1200" dirty="0"/>
          </a:p>
        </p:txBody>
      </p:sp>
      <p:sp>
        <p:nvSpPr>
          <p:cNvPr id="21" name="Shape 18"/>
          <p:cNvSpPr/>
          <p:nvPr/>
        </p:nvSpPr>
        <p:spPr>
          <a:xfrm>
            <a:off x="3491359" y="2552700"/>
            <a:ext cx="361950" cy="361950"/>
          </a:xfrm>
          <a:prstGeom prst="roundRect">
            <a:avLst>
              <a:gd name="adj" fmla="val 7895"/>
            </a:avLst>
          </a:prstGeom>
          <a:solidFill>
            <a:srgbClr val="1C1B24"/>
          </a:solidFill>
          <a:ln w="9525">
            <a:solidFill>
              <a:srgbClr val="35343F"/>
            </a:solidFill>
            <a:prstDash val="solid"/>
          </a:ln>
        </p:spPr>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00896" y="2662238"/>
            <a:ext cx="142875" cy="142875"/>
          </a:xfrm>
          <a:prstGeom prst="rect">
            <a:avLst/>
          </a:prstGeom>
        </p:spPr>
      </p:pic>
      <p:sp>
        <p:nvSpPr>
          <p:cNvPr id="23" name="Shape 19"/>
          <p:cNvSpPr/>
          <p:nvPr/>
        </p:nvSpPr>
        <p:spPr>
          <a:xfrm>
            <a:off x="3967609" y="2552700"/>
            <a:ext cx="361950" cy="361950"/>
          </a:xfrm>
          <a:prstGeom prst="roundRect">
            <a:avLst>
              <a:gd name="adj" fmla="val 7895"/>
            </a:avLst>
          </a:prstGeom>
          <a:solidFill>
            <a:srgbClr val="9B1C1C"/>
          </a:solidFill>
          <a:ln w="9525">
            <a:solidFill>
              <a:srgbClr val="9B1C1C"/>
            </a:solidFill>
            <a:prstDash val="solid"/>
          </a:ln>
        </p:spPr>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77146" y="2662238"/>
            <a:ext cx="142875" cy="142875"/>
          </a:xfrm>
          <a:prstGeom prst="rect">
            <a:avLst/>
          </a:prstGeom>
        </p:spPr>
      </p:pic>
      <p:sp>
        <p:nvSpPr>
          <p:cNvPr id="25" name="Text 20"/>
          <p:cNvSpPr/>
          <p:nvPr/>
        </p:nvSpPr>
        <p:spPr>
          <a:xfrm>
            <a:off x="1000125" y="3200400"/>
            <a:ext cx="6786964"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BADGES &amp; TAGS</a:t>
            </a:r>
            <a:endParaRPr lang="en-US" sz="825" dirty="0"/>
          </a:p>
        </p:txBody>
      </p:sp>
      <p:sp>
        <p:nvSpPr>
          <p:cNvPr id="26" name="Shape 21"/>
          <p:cNvSpPr/>
          <p:nvPr/>
        </p:nvSpPr>
        <p:spPr>
          <a:xfrm>
            <a:off x="1000125" y="3471863"/>
            <a:ext cx="743769" cy="217140"/>
          </a:xfrm>
          <a:prstGeom prst="roundRect">
            <a:avLst>
              <a:gd name="adj" fmla="val 50000"/>
            </a:avLst>
          </a:prstGeom>
          <a:solidFill>
            <a:srgbClr val="9B1C1C">
              <a:alpha val="16000"/>
            </a:srgbClr>
          </a:solidFill>
          <a:ln/>
        </p:spPr>
      </p:sp>
      <p:sp>
        <p:nvSpPr>
          <p:cNvPr id="27" name="Shape 22"/>
          <p:cNvSpPr/>
          <p:nvPr/>
        </p:nvSpPr>
        <p:spPr>
          <a:xfrm>
            <a:off x="1095375" y="3551858"/>
            <a:ext cx="57150" cy="57150"/>
          </a:xfrm>
          <a:prstGeom prst="ellipse">
            <a:avLst/>
          </a:prstGeom>
          <a:solidFill>
            <a:srgbClr val="DB4A3F"/>
          </a:solidFill>
          <a:ln/>
        </p:spPr>
      </p:sp>
      <p:sp>
        <p:nvSpPr>
          <p:cNvPr id="28" name="Text 23"/>
          <p:cNvSpPr/>
          <p:nvPr/>
        </p:nvSpPr>
        <p:spPr>
          <a:xfrm>
            <a:off x="1209675" y="350043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DB4A3F"/>
                </a:solidFill>
                <a:latin typeface="Courier New" pitchFamily="34" charset="0"/>
                <a:ea typeface="Courier New" pitchFamily="34" charset="-122"/>
                <a:cs typeface="Courier New" pitchFamily="34" charset="-120"/>
              </a:rPr>
              <a:t>ACTIVE</a:t>
            </a:r>
            <a:endParaRPr lang="en-US" sz="900" dirty="0"/>
          </a:p>
        </p:txBody>
      </p:sp>
      <p:sp>
        <p:nvSpPr>
          <p:cNvPr id="29" name="Shape 24"/>
          <p:cNvSpPr/>
          <p:nvPr/>
        </p:nvSpPr>
        <p:spPr>
          <a:xfrm>
            <a:off x="1839144" y="3471863"/>
            <a:ext cx="670620" cy="217140"/>
          </a:xfrm>
          <a:prstGeom prst="roundRect">
            <a:avLst>
              <a:gd name="adj" fmla="val 50000"/>
            </a:avLst>
          </a:prstGeom>
          <a:solidFill>
            <a:srgbClr val="5B7A4E">
              <a:alpha val="16000"/>
            </a:srgbClr>
          </a:solidFill>
          <a:ln/>
        </p:spPr>
      </p:sp>
      <p:sp>
        <p:nvSpPr>
          <p:cNvPr id="30" name="Shape 25"/>
          <p:cNvSpPr/>
          <p:nvPr/>
        </p:nvSpPr>
        <p:spPr>
          <a:xfrm>
            <a:off x="1934394" y="3551858"/>
            <a:ext cx="57150" cy="57150"/>
          </a:xfrm>
          <a:prstGeom prst="ellipse">
            <a:avLst/>
          </a:prstGeom>
          <a:solidFill>
            <a:srgbClr val="5B7A4E"/>
          </a:solidFill>
          <a:ln/>
        </p:spPr>
      </p:sp>
      <p:sp>
        <p:nvSpPr>
          <p:cNvPr id="31" name="Text 26"/>
          <p:cNvSpPr/>
          <p:nvPr/>
        </p:nvSpPr>
        <p:spPr>
          <a:xfrm>
            <a:off x="2048694" y="3500438"/>
            <a:ext cx="442020"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32" name="Shape 27"/>
          <p:cNvSpPr/>
          <p:nvPr/>
        </p:nvSpPr>
        <p:spPr>
          <a:xfrm>
            <a:off x="2605013" y="3471863"/>
            <a:ext cx="816918" cy="217140"/>
          </a:xfrm>
          <a:prstGeom prst="roundRect">
            <a:avLst>
              <a:gd name="adj" fmla="val 50000"/>
            </a:avLst>
          </a:prstGeom>
          <a:solidFill>
            <a:srgbClr val="B5601F">
              <a:alpha val="16000"/>
            </a:srgbClr>
          </a:solidFill>
          <a:ln/>
        </p:spPr>
      </p:sp>
      <p:sp>
        <p:nvSpPr>
          <p:cNvPr id="33" name="Shape 28"/>
          <p:cNvSpPr/>
          <p:nvPr/>
        </p:nvSpPr>
        <p:spPr>
          <a:xfrm>
            <a:off x="2700263" y="3551858"/>
            <a:ext cx="57150" cy="57150"/>
          </a:xfrm>
          <a:prstGeom prst="ellipse">
            <a:avLst/>
          </a:prstGeom>
          <a:solidFill>
            <a:srgbClr val="B5601F"/>
          </a:solidFill>
          <a:ln/>
        </p:spPr>
      </p:sp>
      <p:sp>
        <p:nvSpPr>
          <p:cNvPr id="34" name="Text 29"/>
          <p:cNvSpPr/>
          <p:nvPr/>
        </p:nvSpPr>
        <p:spPr>
          <a:xfrm>
            <a:off x="2814563" y="3500438"/>
            <a:ext cx="588318"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B5601F"/>
                </a:solidFill>
                <a:latin typeface="Courier New" pitchFamily="34" charset="0"/>
                <a:ea typeface="Courier New" pitchFamily="34" charset="-122"/>
                <a:cs typeface="Courier New" pitchFamily="34" charset="-120"/>
              </a:rPr>
              <a:t>WOUNDED</a:t>
            </a:r>
            <a:endParaRPr lang="en-US" sz="900" dirty="0"/>
          </a:p>
        </p:txBody>
      </p:sp>
      <p:sp>
        <p:nvSpPr>
          <p:cNvPr id="35" name="Shape 30"/>
          <p:cNvSpPr/>
          <p:nvPr/>
        </p:nvSpPr>
        <p:spPr>
          <a:xfrm>
            <a:off x="3517181" y="3471863"/>
            <a:ext cx="743769" cy="217140"/>
          </a:xfrm>
          <a:prstGeom prst="roundRect">
            <a:avLst>
              <a:gd name="adj" fmla="val 50000"/>
            </a:avLst>
          </a:prstGeom>
          <a:solidFill>
            <a:srgbClr val="8A1F2A">
              <a:alpha val="18000"/>
            </a:srgbClr>
          </a:solidFill>
          <a:ln/>
        </p:spPr>
      </p:sp>
      <p:sp>
        <p:nvSpPr>
          <p:cNvPr id="36" name="Shape 31"/>
          <p:cNvSpPr/>
          <p:nvPr/>
        </p:nvSpPr>
        <p:spPr>
          <a:xfrm>
            <a:off x="3612431" y="3551858"/>
            <a:ext cx="57150" cy="57150"/>
          </a:xfrm>
          <a:prstGeom prst="ellipse">
            <a:avLst/>
          </a:prstGeom>
          <a:solidFill>
            <a:srgbClr val="8A1F2A"/>
          </a:solidFill>
          <a:ln/>
        </p:spPr>
      </p:sp>
      <p:sp>
        <p:nvSpPr>
          <p:cNvPr id="37" name="Text 32"/>
          <p:cNvSpPr/>
          <p:nvPr/>
        </p:nvSpPr>
        <p:spPr>
          <a:xfrm>
            <a:off x="3726731" y="350043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8A1F2A"/>
                </a:solidFill>
                <a:latin typeface="Courier New" pitchFamily="34" charset="0"/>
                <a:ea typeface="Courier New" pitchFamily="34" charset="-122"/>
                <a:cs typeface="Courier New" pitchFamily="34" charset="-120"/>
              </a:rPr>
              <a:t>FALLEN</a:t>
            </a:r>
            <a:endParaRPr lang="en-US" sz="900" dirty="0"/>
          </a:p>
        </p:txBody>
      </p:sp>
      <p:sp>
        <p:nvSpPr>
          <p:cNvPr id="38" name="Shape 33"/>
          <p:cNvSpPr/>
          <p:nvPr/>
        </p:nvSpPr>
        <p:spPr>
          <a:xfrm>
            <a:off x="4356199" y="3471863"/>
            <a:ext cx="629469" cy="217140"/>
          </a:xfrm>
          <a:prstGeom prst="roundRect">
            <a:avLst>
              <a:gd name="adj" fmla="val 50000"/>
            </a:avLst>
          </a:prstGeom>
          <a:ln w="9525">
            <a:solidFill>
              <a:srgbClr val="C99A5B"/>
            </a:solidFill>
            <a:prstDash val="solid"/>
          </a:ln>
        </p:spPr>
      </p:sp>
      <p:sp>
        <p:nvSpPr>
          <p:cNvPr id="39" name="Text 34"/>
          <p:cNvSpPr/>
          <p:nvPr/>
        </p:nvSpPr>
        <p:spPr>
          <a:xfrm>
            <a:off x="4451449" y="350043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E0BA80"/>
                </a:solidFill>
                <a:latin typeface="Courier New" pitchFamily="34" charset="0"/>
                <a:ea typeface="Courier New" pitchFamily="34" charset="-122"/>
                <a:cs typeface="Courier New" pitchFamily="34" charset="-120"/>
              </a:rPr>
              <a:t>MASTER</a:t>
            </a:r>
            <a:endParaRPr lang="en-US" sz="900" dirty="0"/>
          </a:p>
        </p:txBody>
      </p:sp>
      <p:sp>
        <p:nvSpPr>
          <p:cNvPr id="40" name="Shape 35"/>
          <p:cNvSpPr/>
          <p:nvPr/>
        </p:nvSpPr>
        <p:spPr>
          <a:xfrm>
            <a:off x="1000125" y="3803303"/>
            <a:ext cx="789533" cy="300038"/>
          </a:xfrm>
          <a:prstGeom prst="roundRect">
            <a:avLst>
              <a:gd name="adj" fmla="val 9524"/>
            </a:avLst>
          </a:prstGeom>
          <a:solidFill>
            <a:srgbClr val="1C1B24"/>
          </a:solidFill>
          <a:ln w="9525">
            <a:solidFill>
              <a:srgbClr val="35343F"/>
            </a:solidFill>
            <a:prstDash val="solid"/>
          </a:ln>
        </p:spPr>
      </p:sp>
      <p:sp>
        <p:nvSpPr>
          <p:cNvPr id="41" name="Text 36"/>
          <p:cNvSpPr/>
          <p:nvPr/>
        </p:nvSpPr>
        <p:spPr>
          <a:xfrm>
            <a:off x="1104900" y="3850928"/>
            <a:ext cx="656183" cy="242888"/>
          </a:xfrm>
          <a:prstGeom prst="rect">
            <a:avLst/>
          </a:prstGeom>
          <a:noFill/>
          <a:ln/>
        </p:spPr>
        <p:txBody>
          <a:bodyPr wrap="square" lIns="25400" tIns="25400" rIns="25400" bIns="25400" rtlCol="0" anchor="t">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Runecraft</a:t>
            </a:r>
            <a:endParaRPr lang="en-US" sz="1050" dirty="0"/>
          </a:p>
        </p:txBody>
      </p:sp>
      <p:sp>
        <p:nvSpPr>
          <p:cNvPr id="42" name="Shape 37"/>
          <p:cNvSpPr/>
          <p:nvPr/>
        </p:nvSpPr>
        <p:spPr>
          <a:xfrm>
            <a:off x="1884908" y="3803303"/>
            <a:ext cx="701501" cy="300038"/>
          </a:xfrm>
          <a:prstGeom prst="roundRect">
            <a:avLst>
              <a:gd name="adj" fmla="val 9524"/>
            </a:avLst>
          </a:prstGeom>
          <a:solidFill>
            <a:srgbClr val="9B1C1C"/>
          </a:solidFill>
          <a:ln w="9525">
            <a:solidFill>
              <a:srgbClr val="9B1C1C"/>
            </a:solidFill>
            <a:prstDash val="solid"/>
          </a:ln>
        </p:spPr>
      </p:sp>
      <p:sp>
        <p:nvSpPr>
          <p:cNvPr id="43" name="Text 38"/>
          <p:cNvSpPr/>
          <p:nvPr/>
        </p:nvSpPr>
        <p:spPr>
          <a:xfrm>
            <a:off x="1989683" y="3850928"/>
            <a:ext cx="568151" cy="242888"/>
          </a:xfrm>
          <a:prstGeom prst="rect">
            <a:avLst/>
          </a:prstGeom>
          <a:noFill/>
          <a:ln/>
        </p:spPr>
        <p:txBody>
          <a:bodyPr wrap="square" lIns="25400" tIns="25400" rIns="25400" bIns="25400" rtlCol="0" anchor="t">
            <a:normAutofit/>
          </a:bodyPr>
          <a:lstStyle/>
          <a:p>
            <a:pPr algn="l" indent="0" marL="0">
              <a:buNone/>
            </a:pPr>
            <a:r>
              <a:rPr lang="en-US" sz="1050" dirty="0">
                <a:solidFill>
                  <a:srgbClr val="F6F1E4"/>
                </a:solidFill>
                <a:latin typeface="Georgia" pitchFamily="34" charset="0"/>
                <a:ea typeface="Georgia" pitchFamily="34" charset="-122"/>
                <a:cs typeface="Georgia" pitchFamily="34" charset="-120"/>
              </a:rPr>
              <a:t>Selected</a:t>
            </a:r>
            <a:endParaRPr lang="en-US" sz="1050" dirty="0"/>
          </a:p>
        </p:txBody>
      </p:sp>
      <p:sp>
        <p:nvSpPr>
          <p:cNvPr id="44" name="Shape 39"/>
          <p:cNvSpPr/>
          <p:nvPr/>
        </p:nvSpPr>
        <p:spPr>
          <a:xfrm>
            <a:off x="2681660" y="3803303"/>
            <a:ext cx="1036886" cy="300038"/>
          </a:xfrm>
          <a:prstGeom prst="roundRect">
            <a:avLst>
              <a:gd name="adj" fmla="val 9524"/>
            </a:avLst>
          </a:prstGeom>
          <a:solidFill>
            <a:srgbClr val="1C1B24"/>
          </a:solidFill>
          <a:ln w="9525">
            <a:solidFill>
              <a:srgbClr val="35343F"/>
            </a:solidFill>
            <a:prstDash val="solid"/>
          </a:ln>
        </p:spPr>
      </p:sp>
      <p:sp>
        <p:nvSpPr>
          <p:cNvPr id="45" name="Text 40"/>
          <p:cNvSpPr/>
          <p:nvPr/>
        </p:nvSpPr>
        <p:spPr>
          <a:xfrm>
            <a:off x="2786435" y="3850928"/>
            <a:ext cx="722561" cy="242888"/>
          </a:xfrm>
          <a:prstGeom prst="rect">
            <a:avLst/>
          </a:prstGeom>
          <a:noFill/>
          <a:ln/>
        </p:spPr>
        <p:txBody>
          <a:bodyPr wrap="square" lIns="25400" tIns="25400" rIns="25400" bIns="25400" rtlCol="0" anchor="t">
            <a:normAutofit/>
          </a:bodyPr>
          <a:lstStyle/>
          <a:p>
            <a:pPr algn="l" indent="0" marL="0">
              <a:buNone/>
            </a:pPr>
            <a:r>
              <a:rPr lang="en-US" sz="1050" dirty="0">
                <a:solidFill>
                  <a:srgbClr val="C5BDA6"/>
                </a:solidFill>
                <a:latin typeface="Georgia" pitchFamily="34" charset="0"/>
                <a:ea typeface="Georgia" pitchFamily="34" charset="-122"/>
                <a:cs typeface="Georgia" pitchFamily="34" charset="-120"/>
              </a:rPr>
              <a:t>Removable</a:t>
            </a:r>
            <a:endParaRPr lang="en-US" sz="1050" dirty="0"/>
          </a:p>
        </p:txBody>
      </p:sp>
      <p:pic>
        <p:nvPicPr>
          <p:cNvPr id="4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08995" y="3900934"/>
            <a:ext cx="104775" cy="104775"/>
          </a:xfrm>
          <a:prstGeom prst="rect">
            <a:avLst/>
          </a:prstGeom>
        </p:spPr>
      </p:pic>
      <p:sp>
        <p:nvSpPr>
          <p:cNvPr id="47" name="Text 41"/>
          <p:cNvSpPr/>
          <p:nvPr/>
        </p:nvSpPr>
        <p:spPr>
          <a:xfrm>
            <a:off x="1000125" y="4389090"/>
            <a:ext cx="6786964"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FORM CONTROLS</a:t>
            </a:r>
            <a:endParaRPr lang="en-US" sz="825" dirty="0"/>
          </a:p>
        </p:txBody>
      </p:sp>
      <p:sp>
        <p:nvSpPr>
          <p:cNvPr id="48" name="Shape 42"/>
          <p:cNvSpPr/>
          <p:nvPr/>
        </p:nvSpPr>
        <p:spPr>
          <a:xfrm>
            <a:off x="1000125" y="4660553"/>
            <a:ext cx="3695700" cy="442913"/>
          </a:xfrm>
          <a:prstGeom prst="roundRect">
            <a:avLst>
              <a:gd name="adj" fmla="val 6452"/>
            </a:avLst>
          </a:prstGeom>
          <a:solidFill>
            <a:srgbClr val="100F15"/>
          </a:solidFill>
          <a:ln w="9525">
            <a:solidFill>
              <a:srgbClr val="35343F"/>
            </a:solidFill>
            <a:prstDash val="solid"/>
          </a:ln>
        </p:spPr>
      </p:sp>
      <p:pic>
        <p:nvPicPr>
          <p:cNvPr id="49" name="Image 4" descr="preencoded.png">    </p:cNvPr>
          <p:cNvPicPr>
            <a:picLocks noChangeAspect="1"/>
          </p:cNvPicPr>
          <p:nvPr/>
        </p:nvPicPr>
        <p:blipFill>
          <a:blip r:embed="rId9"/>
          <a:stretch>
            <a:fillRect/>
          </a:stretch>
        </p:blipFill>
        <p:spPr>
          <a:xfrm>
            <a:off x="1000125" y="4660553"/>
            <a:ext cx="3695700" cy="442913"/>
          </a:xfrm>
          <a:prstGeom prst="rect">
            <a:avLst/>
          </a:prstGeom>
        </p:spPr>
      </p:pic>
      <p:sp>
        <p:nvSpPr>
          <p:cNvPr id="50" name="Shape 43"/>
          <p:cNvSpPr/>
          <p:nvPr/>
        </p:nvSpPr>
        <p:spPr>
          <a:xfrm>
            <a:off x="1000125" y="5236815"/>
            <a:ext cx="3429000" cy="442913"/>
          </a:xfrm>
          <a:prstGeom prst="roundRect">
            <a:avLst>
              <a:gd name="adj" fmla="val 6452"/>
            </a:avLst>
          </a:prstGeom>
          <a:solidFill>
            <a:srgbClr val="100F15"/>
          </a:solidFill>
          <a:ln w="9525">
            <a:solidFill>
              <a:srgbClr val="35343F"/>
            </a:solidFill>
            <a:prstDash val="solid"/>
          </a:ln>
        </p:spPr>
      </p:sp>
      <p:pic>
        <p:nvPicPr>
          <p:cNvPr id="51" name="Image 5" descr="preencoded.png">    </p:cNvPr>
          <p:cNvPicPr>
            <a:picLocks noChangeAspect="1"/>
          </p:cNvPicPr>
          <p:nvPr/>
        </p:nvPicPr>
        <p:blipFill>
          <a:blip r:embed="rId10"/>
          <a:stretch>
            <a:fillRect/>
          </a:stretch>
        </p:blipFill>
        <p:spPr>
          <a:xfrm>
            <a:off x="1000125" y="5236815"/>
            <a:ext cx="3429000" cy="442913"/>
          </a:xfrm>
          <a:prstGeom prst="rect">
            <a:avLst/>
          </a:prstGeom>
        </p:spPr>
      </p:pic>
      <p:pic>
        <p:nvPicPr>
          <p:cNvPr id="52"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91000" y="5401121"/>
            <a:ext cx="114300" cy="114300"/>
          </a:xfrm>
          <a:prstGeom prst="rect">
            <a:avLst/>
          </a:prstGeom>
        </p:spPr>
      </p:pic>
      <p:sp>
        <p:nvSpPr>
          <p:cNvPr id="53" name="Shape 44"/>
          <p:cNvSpPr/>
          <p:nvPr/>
        </p:nvSpPr>
        <p:spPr>
          <a:xfrm>
            <a:off x="1000125" y="5824984"/>
            <a:ext cx="209550" cy="209550"/>
          </a:xfrm>
          <a:prstGeom prst="roundRect">
            <a:avLst>
              <a:gd name="adj" fmla="val 9091"/>
            </a:avLst>
          </a:prstGeom>
          <a:solidFill>
            <a:srgbClr val="9B1C1C"/>
          </a:solidFill>
          <a:ln w="9525">
            <a:solidFill>
              <a:srgbClr val="9B1C1C"/>
            </a:solidFill>
            <a:prstDash val="solid"/>
          </a:ln>
        </p:spPr>
      </p:sp>
      <p:pic>
        <p:nvPicPr>
          <p:cNvPr id="54"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2988" y="5867846"/>
            <a:ext cx="123825" cy="123825"/>
          </a:xfrm>
          <a:prstGeom prst="rect">
            <a:avLst/>
          </a:prstGeom>
        </p:spPr>
      </p:pic>
      <p:sp>
        <p:nvSpPr>
          <p:cNvPr id="55" name="Text 45"/>
          <p:cNvSpPr/>
          <p:nvPr/>
        </p:nvSpPr>
        <p:spPr>
          <a:xfrm>
            <a:off x="1304925" y="5813078"/>
            <a:ext cx="842665" cy="271463"/>
          </a:xfrm>
          <a:prstGeom prst="rect">
            <a:avLst/>
          </a:prstGeom>
          <a:noFill/>
          <a:ln/>
        </p:spPr>
        <p:txBody>
          <a:bodyPr wrap="square" lIns="25400" tIns="25400" rIns="25400" bIns="25400" rtlCol="0" anchor="t">
            <a:normAutofit/>
          </a:bodyPr>
          <a:lstStyle/>
          <a:p>
            <a:pPr algn="l" indent="0" marL="0">
              <a:buNone/>
            </a:pPr>
            <a:r>
              <a:rPr lang="en-US" sz="1200" dirty="0">
                <a:solidFill>
                  <a:srgbClr val="ECE6D6"/>
                </a:solidFill>
                <a:latin typeface="Georgia" pitchFamily="34" charset="0"/>
                <a:ea typeface="Georgia" pitchFamily="34" charset="-122"/>
                <a:cs typeface="Georgia" pitchFamily="34" charset="-120"/>
              </a:rPr>
              <a:t>Oathbound</a:t>
            </a:r>
            <a:endParaRPr lang="en-US" sz="1200" dirty="0"/>
          </a:p>
        </p:txBody>
      </p:sp>
      <p:sp>
        <p:nvSpPr>
          <p:cNvPr id="56" name="Shape 46"/>
          <p:cNvSpPr/>
          <p:nvPr/>
        </p:nvSpPr>
        <p:spPr>
          <a:xfrm>
            <a:off x="2299990" y="5834509"/>
            <a:ext cx="323850" cy="190500"/>
          </a:xfrm>
          <a:prstGeom prst="roundRect">
            <a:avLst>
              <a:gd name="adj" fmla="val 50000"/>
            </a:avLst>
          </a:prstGeom>
          <a:solidFill>
            <a:srgbClr val="9B1C1C"/>
          </a:solidFill>
          <a:ln w="9525">
            <a:solidFill>
              <a:srgbClr val="9B1C1C"/>
            </a:solidFill>
            <a:prstDash val="solid"/>
          </a:ln>
        </p:spPr>
      </p:sp>
      <p:sp>
        <p:nvSpPr>
          <p:cNvPr id="57" name="Shape 47"/>
          <p:cNvSpPr/>
          <p:nvPr/>
        </p:nvSpPr>
        <p:spPr>
          <a:xfrm>
            <a:off x="2461915" y="5863084"/>
            <a:ext cx="133350" cy="133350"/>
          </a:xfrm>
          <a:prstGeom prst="ellipse">
            <a:avLst/>
          </a:prstGeom>
          <a:solidFill>
            <a:srgbClr val="F6F1E4"/>
          </a:solidFill>
          <a:ln/>
          <a:effectLst>
            <a:outerShdw sx="100000" sy="100000" kx="0" ky="0" algn="bl" rotWithShape="0" blurRad="19050" dist="9525" dir="5400000">
              <a:srgbClr val="000000">
                <a:alpha val="35000"/>
              </a:srgbClr>
            </a:outerShdw>
          </a:effectLst>
        </p:spPr>
      </p:sp>
      <p:sp>
        <p:nvSpPr>
          <p:cNvPr id="58" name="Text 48"/>
          <p:cNvSpPr/>
          <p:nvPr/>
        </p:nvSpPr>
        <p:spPr>
          <a:xfrm>
            <a:off x="2738140" y="5813078"/>
            <a:ext cx="960611" cy="271463"/>
          </a:xfrm>
          <a:prstGeom prst="rect">
            <a:avLst/>
          </a:prstGeom>
          <a:noFill/>
          <a:ln/>
        </p:spPr>
        <p:txBody>
          <a:bodyPr wrap="square" lIns="25400" tIns="25400" rIns="25400" bIns="25400" rtlCol="0" anchor="t">
            <a:normAutofit/>
          </a:bodyPr>
          <a:lstStyle/>
          <a:p>
            <a:pPr algn="l" indent="0" marL="0">
              <a:buNone/>
            </a:pPr>
            <a:r>
              <a:rPr lang="en-US" sz="1200" dirty="0">
                <a:solidFill>
                  <a:srgbClr val="ECE6D6"/>
                </a:solidFill>
                <a:latin typeface="Georgia" pitchFamily="34" charset="0"/>
                <a:ea typeface="Georgia" pitchFamily="34" charset="-122"/>
                <a:cs typeface="Georgia" pitchFamily="34" charset="-120"/>
              </a:rPr>
              <a:t>Master mode</a:t>
            </a:r>
            <a:endParaRPr lang="en-US" sz="1200" dirty="0"/>
          </a:p>
        </p:txBody>
      </p:sp>
      <p:sp>
        <p:nvSpPr>
          <p:cNvPr id="59" name="Text 49"/>
          <p:cNvSpPr/>
          <p:nvPr/>
        </p:nvSpPr>
        <p:spPr>
          <a:xfrm>
            <a:off x="1000125" y="6332190"/>
            <a:ext cx="6786964"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TABS</a:t>
            </a:r>
            <a:endParaRPr lang="en-US" sz="825" dirty="0"/>
          </a:p>
        </p:txBody>
      </p:sp>
      <p:sp>
        <p:nvSpPr>
          <p:cNvPr id="60" name="Shape 50"/>
          <p:cNvSpPr/>
          <p:nvPr/>
        </p:nvSpPr>
        <p:spPr>
          <a:xfrm>
            <a:off x="1000125" y="7017990"/>
            <a:ext cx="6169968" cy="9525"/>
          </a:xfrm>
          <a:prstGeom prst="rect">
            <a:avLst/>
          </a:prstGeom>
          <a:solidFill>
            <a:srgbClr val="2A2933"/>
          </a:solidFill>
          <a:ln/>
        </p:spPr>
      </p:sp>
      <p:sp>
        <p:nvSpPr>
          <p:cNvPr id="61" name="Text 51"/>
          <p:cNvSpPr/>
          <p:nvPr/>
        </p:nvSpPr>
        <p:spPr>
          <a:xfrm>
            <a:off x="1152525" y="6734621"/>
            <a:ext cx="430262" cy="190500"/>
          </a:xfrm>
          <a:prstGeom prst="rect">
            <a:avLst/>
          </a:prstGeom>
          <a:noFill/>
          <a:ln/>
        </p:spPr>
        <p:txBody>
          <a:bodyPr wrap="square" lIns="0" tIns="0" rIns="0" bIns="0" rtlCol="0" anchor="t">
            <a:normAutofit/>
          </a:bodyPr>
          <a:lstStyle/>
          <a:p>
            <a:pPr algn="ctr" indent="0" marL="0">
              <a:buNone/>
            </a:pPr>
            <a:r>
              <a:rPr lang="en-US" sz="1050" b="1" spc="42" kern="0" dirty="0">
                <a:solidFill>
                  <a:srgbClr val="ECE6D6"/>
                </a:solidFill>
                <a:latin typeface="Georgia" pitchFamily="34" charset="0"/>
                <a:ea typeface="Georgia" pitchFamily="34" charset="-122"/>
                <a:cs typeface="Georgia" pitchFamily="34" charset="-120"/>
              </a:rPr>
              <a:t>Sheet</a:t>
            </a:r>
            <a:endParaRPr lang="en-US" sz="1050" dirty="0"/>
          </a:p>
        </p:txBody>
      </p:sp>
      <p:sp>
        <p:nvSpPr>
          <p:cNvPr id="62" name="Shape 52"/>
          <p:cNvSpPr/>
          <p:nvPr/>
        </p:nvSpPr>
        <p:spPr>
          <a:xfrm>
            <a:off x="1000125" y="7008465"/>
            <a:ext cx="658862" cy="19050"/>
          </a:xfrm>
          <a:prstGeom prst="rect">
            <a:avLst/>
          </a:prstGeom>
          <a:solidFill>
            <a:srgbClr val="9B1C1C"/>
          </a:solidFill>
          <a:ln/>
        </p:spPr>
      </p:sp>
      <p:sp>
        <p:nvSpPr>
          <p:cNvPr id="63" name="Text 53"/>
          <p:cNvSpPr/>
          <p:nvPr/>
        </p:nvSpPr>
        <p:spPr>
          <a:xfrm>
            <a:off x="1849487" y="6708428"/>
            <a:ext cx="709910" cy="242888"/>
          </a:xfrm>
          <a:prstGeom prst="rect">
            <a:avLst/>
          </a:prstGeom>
          <a:noFill/>
          <a:ln/>
        </p:spPr>
        <p:txBody>
          <a:bodyPr wrap="square" lIns="0" tIns="0" rIns="0" bIns="0" rtlCol="0" anchor="t">
            <a:normAutofit/>
          </a:bodyPr>
          <a:lstStyle/>
          <a:p>
            <a:pPr algn="ctr" indent="0" marL="0">
              <a:buNone/>
            </a:pPr>
            <a:r>
              <a:rPr lang="en-US" sz="1050" spc="42" kern="0" dirty="0">
                <a:solidFill>
                  <a:srgbClr val="837B66"/>
                </a:solidFill>
                <a:latin typeface="Georgia" pitchFamily="34" charset="0"/>
                <a:ea typeface="Georgia" pitchFamily="34" charset="-122"/>
                <a:cs typeface="Georgia" pitchFamily="34" charset="-120"/>
              </a:rPr>
              <a:t>Chronicle</a:t>
            </a:r>
            <a:endParaRPr lang="en-US" sz="1050" dirty="0"/>
          </a:p>
        </p:txBody>
      </p:sp>
      <p:sp>
        <p:nvSpPr>
          <p:cNvPr id="64" name="Shape 54"/>
          <p:cNvSpPr/>
          <p:nvPr/>
        </p:nvSpPr>
        <p:spPr>
          <a:xfrm>
            <a:off x="2549872" y="6727478"/>
            <a:ext cx="281211" cy="166688"/>
          </a:xfrm>
          <a:prstGeom prst="roundRect">
            <a:avLst>
              <a:gd name="adj" fmla="val 50000"/>
            </a:avLst>
          </a:prstGeom>
          <a:solidFill>
            <a:srgbClr val="1C1B24"/>
          </a:solidFill>
          <a:ln/>
        </p:spPr>
      </p:sp>
      <p:sp>
        <p:nvSpPr>
          <p:cNvPr id="65" name="Text 55"/>
          <p:cNvSpPr/>
          <p:nvPr/>
        </p:nvSpPr>
        <p:spPr>
          <a:xfrm>
            <a:off x="2602487" y="6737003"/>
            <a:ext cx="175982" cy="185737"/>
          </a:xfrm>
          <a:prstGeom prst="rect">
            <a:avLst/>
          </a:prstGeom>
          <a:noFill/>
          <a:ln/>
        </p:spPr>
        <p:txBody>
          <a:bodyPr wrap="square" lIns="25400" tIns="25400" rIns="25400" bIns="25400" rtlCol="0" anchor="t">
            <a:normAutofit/>
          </a:bodyPr>
          <a:lstStyle/>
          <a:p>
            <a:pPr algn="ctr" indent="0" marL="0">
              <a:buNone/>
            </a:pPr>
            <a:r>
              <a:rPr lang="en-US" sz="900" spc="42" kern="0" dirty="0">
                <a:solidFill>
                  <a:srgbClr val="837B66"/>
                </a:solidFill>
                <a:latin typeface="Courier New" pitchFamily="34" charset="0"/>
                <a:ea typeface="Courier New" pitchFamily="34" charset="-122"/>
                <a:cs typeface="Courier New" pitchFamily="34" charset="-120"/>
              </a:rPr>
              <a:t>12</a:t>
            </a:r>
            <a:endParaRPr lang="en-US" sz="900" dirty="0"/>
          </a:p>
        </p:txBody>
      </p:sp>
      <p:sp>
        <p:nvSpPr>
          <p:cNvPr id="66" name="Text 56"/>
          <p:cNvSpPr/>
          <p:nvPr/>
        </p:nvSpPr>
        <p:spPr>
          <a:xfrm>
            <a:off x="3173983" y="6708428"/>
            <a:ext cx="627757" cy="242888"/>
          </a:xfrm>
          <a:prstGeom prst="rect">
            <a:avLst/>
          </a:prstGeom>
          <a:noFill/>
          <a:ln/>
        </p:spPr>
        <p:txBody>
          <a:bodyPr wrap="square" lIns="0" tIns="0" rIns="0" bIns="0" rtlCol="0" anchor="t">
            <a:normAutofit/>
          </a:bodyPr>
          <a:lstStyle/>
          <a:p>
            <a:pPr algn="ctr" indent="0" marL="0">
              <a:buNone/>
            </a:pPr>
            <a:r>
              <a:rPr lang="en-US" sz="1050" spc="42" kern="0" dirty="0">
                <a:solidFill>
                  <a:srgbClr val="837B66"/>
                </a:solidFill>
                <a:latin typeface="Georgia" pitchFamily="34" charset="0"/>
                <a:ea typeface="Georgia" pitchFamily="34" charset="-122"/>
                <a:cs typeface="Georgia" pitchFamily="34" charset="-120"/>
              </a:rPr>
              <a:t>Remarks</a:t>
            </a:r>
            <a:endParaRPr lang="en-US" sz="1050" dirty="0"/>
          </a:p>
        </p:txBody>
      </p:sp>
      <p:sp>
        <p:nvSpPr>
          <p:cNvPr id="67" name="Shape 57"/>
          <p:cNvSpPr/>
          <p:nvPr/>
        </p:nvSpPr>
        <p:spPr>
          <a:xfrm>
            <a:off x="3792215" y="6727478"/>
            <a:ext cx="207318" cy="166688"/>
          </a:xfrm>
          <a:prstGeom prst="ellipse">
            <a:avLst/>
          </a:prstGeom>
          <a:solidFill>
            <a:srgbClr val="1C1B24"/>
          </a:solidFill>
          <a:ln/>
        </p:spPr>
      </p:sp>
      <p:sp>
        <p:nvSpPr>
          <p:cNvPr id="68" name="Text 58"/>
          <p:cNvSpPr/>
          <p:nvPr/>
        </p:nvSpPr>
        <p:spPr>
          <a:xfrm>
            <a:off x="3848524" y="6737003"/>
            <a:ext cx="94699" cy="185737"/>
          </a:xfrm>
          <a:prstGeom prst="rect">
            <a:avLst/>
          </a:prstGeom>
          <a:noFill/>
          <a:ln/>
        </p:spPr>
        <p:txBody>
          <a:bodyPr wrap="square" lIns="25400" tIns="25400" rIns="25400" bIns="25400" rtlCol="0" anchor="t">
            <a:normAutofit/>
          </a:bodyPr>
          <a:lstStyle/>
          <a:p>
            <a:pPr algn="ctr" indent="0" marL="0">
              <a:buNone/>
            </a:pPr>
            <a:r>
              <a:rPr lang="en-US" sz="900" spc="42" kern="0" dirty="0">
                <a:solidFill>
                  <a:srgbClr val="837B66"/>
                </a:solidFill>
                <a:latin typeface="Courier New" pitchFamily="34" charset="0"/>
                <a:ea typeface="Courier New" pitchFamily="34" charset="-122"/>
                <a:cs typeface="Courier New" pitchFamily="34" charset="-120"/>
              </a:rPr>
              <a:t>4</a:t>
            </a:r>
            <a:endParaRPr lang="en-US" sz="900" dirty="0"/>
          </a:p>
        </p:txBody>
      </p:sp>
      <p:sp>
        <p:nvSpPr>
          <p:cNvPr id="69" name="Text 59"/>
          <p:cNvSpPr/>
          <p:nvPr/>
        </p:nvSpPr>
        <p:spPr>
          <a:xfrm>
            <a:off x="7589193" y="1804988"/>
            <a:ext cx="5901779"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CHARACTER CARD</a:t>
            </a:r>
            <a:endParaRPr lang="en-US" sz="825" dirty="0"/>
          </a:p>
        </p:txBody>
      </p:sp>
      <p:sp>
        <p:nvSpPr>
          <p:cNvPr id="70" name="Shape 60"/>
          <p:cNvSpPr/>
          <p:nvPr/>
        </p:nvSpPr>
        <p:spPr>
          <a:xfrm>
            <a:off x="7589193" y="2076450"/>
            <a:ext cx="5365254" cy="1520130"/>
          </a:xfrm>
          <a:prstGeom prst="roundRect">
            <a:avLst>
              <a:gd name="adj" fmla="val 3133"/>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71" name="Shape 61"/>
          <p:cNvSpPr/>
          <p:nvPr/>
        </p:nvSpPr>
        <p:spPr>
          <a:xfrm>
            <a:off x="7598718" y="2085975"/>
            <a:ext cx="28575" cy="1501080"/>
          </a:xfrm>
          <a:prstGeom prst="rect">
            <a:avLst/>
          </a:prstGeom>
          <a:solidFill>
            <a:srgbClr val="9B1C1C"/>
          </a:solidFill>
          <a:ln/>
        </p:spPr>
      </p:sp>
      <p:sp>
        <p:nvSpPr>
          <p:cNvPr id="72" name="Shape 62"/>
          <p:cNvSpPr/>
          <p:nvPr/>
        </p:nvSpPr>
        <p:spPr>
          <a:xfrm>
            <a:off x="7770168" y="2238375"/>
            <a:ext cx="628650" cy="628650"/>
          </a:xfrm>
          <a:prstGeom prst="roundRect">
            <a:avLst>
              <a:gd name="adj" fmla="val 4545"/>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73" name="Text 63"/>
          <p:cNvSpPr/>
          <p:nvPr/>
        </p:nvSpPr>
        <p:spPr>
          <a:xfrm>
            <a:off x="7741593" y="2247900"/>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C5BDA6"/>
                </a:solidFill>
                <a:latin typeface="Georgia" pitchFamily="34" charset="0"/>
                <a:ea typeface="Georgia" pitchFamily="34" charset="-122"/>
                <a:cs typeface="Georgia" pitchFamily="34" charset="-120"/>
              </a:rPr>
              <a:t>KN</a:t>
            </a:r>
            <a:endParaRPr lang="en-US" sz="1950" dirty="0"/>
          </a:p>
        </p:txBody>
      </p:sp>
      <p:sp>
        <p:nvSpPr>
          <p:cNvPr id="74" name="Shape 64"/>
          <p:cNvSpPr/>
          <p:nvPr/>
        </p:nvSpPr>
        <p:spPr>
          <a:xfrm>
            <a:off x="8211815" y="2747590"/>
            <a:ext cx="196528" cy="196528"/>
          </a:xfrm>
          <a:prstGeom prst="ellipse">
            <a:avLst/>
          </a:prstGeom>
          <a:solidFill>
            <a:srgbClr val="5B7A4E"/>
          </a:solidFill>
          <a:ln w="19050">
            <a:solidFill>
              <a:srgbClr val="16151D"/>
            </a:solidFill>
            <a:prstDash val="solid"/>
          </a:ln>
        </p:spPr>
      </p:sp>
      <p:sp>
        <p:nvSpPr>
          <p:cNvPr id="75" name="Text 65"/>
          <p:cNvSpPr/>
          <p:nvPr/>
        </p:nvSpPr>
        <p:spPr>
          <a:xfrm>
            <a:off x="8532168" y="2238375"/>
            <a:ext cx="1477246"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ECE6D6"/>
                </a:solidFill>
                <a:latin typeface="Georgia" pitchFamily="34" charset="0"/>
                <a:ea typeface="Georgia" pitchFamily="34" charset="-122"/>
                <a:cs typeface="Georgia" pitchFamily="34" charset="-120"/>
              </a:rPr>
              <a:t>Kára Nightveil</a:t>
            </a:r>
            <a:endParaRPr lang="en-US" sz="1650" dirty="0"/>
          </a:p>
        </p:txBody>
      </p:sp>
      <p:sp>
        <p:nvSpPr>
          <p:cNvPr id="76" name="Text 66"/>
          <p:cNvSpPr/>
          <p:nvPr/>
        </p:nvSpPr>
        <p:spPr>
          <a:xfrm>
            <a:off x="12430497" y="2285033"/>
            <a:ext cx="419174" cy="185738"/>
          </a:xfrm>
          <a:prstGeom prst="rect">
            <a:avLst/>
          </a:prstGeom>
          <a:noFill/>
          <a:ln/>
        </p:spPr>
        <p:txBody>
          <a:bodyPr wrap="square" lIns="25400" tIns="25400" rIns="25400" bIns="25400" rtlCol="0" anchor="t">
            <a:normAutofit/>
          </a:bodyPr>
          <a:lstStyle/>
          <a:p>
            <a:pPr algn="l" indent="0" marL="0">
              <a:buNone/>
            </a:pPr>
            <a:r>
              <a:rPr lang="en-US" sz="900" dirty="0">
                <a:solidFill>
                  <a:srgbClr val="837B66"/>
                </a:solidFill>
                <a:latin typeface="Courier New" pitchFamily="34" charset="0"/>
                <a:ea typeface="Courier New" pitchFamily="34" charset="-122"/>
                <a:cs typeface="Courier New" pitchFamily="34" charset="-120"/>
              </a:rPr>
              <a:t>LVL 6</a:t>
            </a:r>
            <a:endParaRPr lang="en-US" sz="900" dirty="0"/>
          </a:p>
        </p:txBody>
      </p:sp>
      <p:sp>
        <p:nvSpPr>
          <p:cNvPr id="77" name="Text 67"/>
          <p:cNvSpPr/>
          <p:nvPr/>
        </p:nvSpPr>
        <p:spPr>
          <a:xfrm>
            <a:off x="8532168" y="2488853"/>
            <a:ext cx="4665434" cy="190500"/>
          </a:xfrm>
          <a:prstGeom prst="rect">
            <a:avLst/>
          </a:prstGeom>
          <a:noFill/>
          <a:ln/>
        </p:spPr>
        <p:txBody>
          <a:bodyPr wrap="square" lIns="25400" tIns="25400" rIns="25400" bIns="25400" rtlCol="0" anchor="t">
            <a:normAutofit/>
          </a:bodyPr>
          <a:lstStyle/>
          <a:p>
            <a:pPr algn="l" indent="0" marL="0">
              <a:buNone/>
            </a:pPr>
            <a:r>
              <a:rPr lang="en-US" sz="1050" i="1" dirty="0">
                <a:solidFill>
                  <a:srgbClr val="837B66"/>
                </a:solidFill>
                <a:latin typeface="Georgia" pitchFamily="34" charset="0"/>
                <a:ea typeface="Georgia" pitchFamily="34" charset="-122"/>
                <a:cs typeface="Georgia" pitchFamily="34" charset="-120"/>
              </a:rPr>
              <a:t>Reader of the drowned</a:t>
            </a:r>
            <a:endParaRPr lang="en-US" sz="1050" dirty="0"/>
          </a:p>
        </p:txBody>
      </p:sp>
      <p:sp>
        <p:nvSpPr>
          <p:cNvPr id="78" name="Shape 68"/>
          <p:cNvSpPr/>
          <p:nvPr/>
        </p:nvSpPr>
        <p:spPr>
          <a:xfrm>
            <a:off x="8532168" y="2717453"/>
            <a:ext cx="848916" cy="217140"/>
          </a:xfrm>
          <a:prstGeom prst="roundRect">
            <a:avLst>
              <a:gd name="adj" fmla="val 50000"/>
            </a:avLst>
          </a:prstGeom>
          <a:ln w="9525">
            <a:solidFill>
              <a:srgbClr val="C99A5B"/>
            </a:solidFill>
            <a:prstDash val="solid"/>
          </a:ln>
        </p:spPr>
      </p:sp>
      <p:sp>
        <p:nvSpPr>
          <p:cNvPr id="79" name="Text 69"/>
          <p:cNvSpPr/>
          <p:nvPr/>
        </p:nvSpPr>
        <p:spPr>
          <a:xfrm>
            <a:off x="8627418" y="2746028"/>
            <a:ext cx="734616" cy="198090"/>
          </a:xfrm>
          <a:prstGeom prst="rect">
            <a:avLst/>
          </a:prstGeom>
          <a:noFill/>
          <a:ln/>
        </p:spPr>
        <p:txBody>
          <a:bodyPr wrap="square" lIns="25400" tIns="25400" rIns="25400" bIns="25400" rtlCol="0" anchor="ctr">
            <a:normAutofit/>
          </a:bodyPr>
          <a:lstStyle/>
          <a:p>
            <a:pPr algn="l" indent="0" marL="0">
              <a:lnSpc>
                <a:spcPct val="140000"/>
              </a:lnSpc>
              <a:buNone/>
            </a:pPr>
            <a:r>
              <a:rPr lang="en-US" sz="900" spc="36" kern="0" dirty="0">
                <a:solidFill>
                  <a:srgbClr val="E0BA80"/>
                </a:solidFill>
                <a:latin typeface="Courier New" pitchFamily="34" charset="0"/>
                <a:ea typeface="Courier New" pitchFamily="34" charset="-122"/>
                <a:cs typeface="Courier New" pitchFamily="34" charset="-120"/>
              </a:rPr>
              <a:t>HOUSE ASH</a:t>
            </a:r>
            <a:endParaRPr lang="en-US" sz="900" dirty="0"/>
          </a:p>
        </p:txBody>
      </p:sp>
      <p:sp>
        <p:nvSpPr>
          <p:cNvPr id="80" name="Shape 70"/>
          <p:cNvSpPr/>
          <p:nvPr/>
        </p:nvSpPr>
        <p:spPr>
          <a:xfrm>
            <a:off x="9457283" y="2717453"/>
            <a:ext cx="670620" cy="217140"/>
          </a:xfrm>
          <a:prstGeom prst="roundRect">
            <a:avLst>
              <a:gd name="adj" fmla="val 50000"/>
            </a:avLst>
          </a:prstGeom>
          <a:solidFill>
            <a:srgbClr val="5B7A4E">
              <a:alpha val="16000"/>
            </a:srgbClr>
          </a:solidFill>
          <a:ln/>
        </p:spPr>
      </p:sp>
      <p:sp>
        <p:nvSpPr>
          <p:cNvPr id="81" name="Shape 71"/>
          <p:cNvSpPr/>
          <p:nvPr/>
        </p:nvSpPr>
        <p:spPr>
          <a:xfrm>
            <a:off x="9552533" y="2797448"/>
            <a:ext cx="57150" cy="57150"/>
          </a:xfrm>
          <a:prstGeom prst="ellipse">
            <a:avLst/>
          </a:prstGeom>
          <a:solidFill>
            <a:srgbClr val="5B7A4E"/>
          </a:solidFill>
          <a:ln/>
        </p:spPr>
      </p:sp>
      <p:sp>
        <p:nvSpPr>
          <p:cNvPr id="82" name="Text 72"/>
          <p:cNvSpPr/>
          <p:nvPr/>
        </p:nvSpPr>
        <p:spPr>
          <a:xfrm>
            <a:off x="9666833" y="2750790"/>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83" name="Shape 73"/>
          <p:cNvSpPr/>
          <p:nvPr/>
        </p:nvSpPr>
        <p:spPr>
          <a:xfrm>
            <a:off x="7598718" y="3086993"/>
            <a:ext cx="5346204" cy="500063"/>
          </a:xfrm>
          <a:prstGeom prst="rect">
            <a:avLst/>
          </a:prstGeom>
          <a:solidFill>
            <a:srgbClr val="100F15"/>
          </a:solidFill>
          <a:ln/>
        </p:spPr>
      </p:sp>
      <p:sp>
        <p:nvSpPr>
          <p:cNvPr id="84" name="Shape 74"/>
          <p:cNvSpPr/>
          <p:nvPr/>
        </p:nvSpPr>
        <p:spPr>
          <a:xfrm>
            <a:off x="7598718" y="3086993"/>
            <a:ext cx="5346204" cy="9525"/>
          </a:xfrm>
          <a:prstGeom prst="rect">
            <a:avLst/>
          </a:prstGeom>
          <a:solidFill>
            <a:srgbClr val="2A2933"/>
          </a:solidFill>
          <a:ln/>
        </p:spPr>
      </p:sp>
      <p:sp>
        <p:nvSpPr>
          <p:cNvPr id="85" name="Text 75"/>
          <p:cNvSpPr/>
          <p:nvPr/>
        </p:nvSpPr>
        <p:spPr>
          <a:xfrm>
            <a:off x="7572799" y="3182243"/>
            <a:ext cx="1827505"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HP</a:t>
            </a:r>
            <a:endParaRPr lang="en-US" sz="750" dirty="0"/>
          </a:p>
        </p:txBody>
      </p:sp>
      <p:sp>
        <p:nvSpPr>
          <p:cNvPr id="86" name="Text 76"/>
          <p:cNvSpPr/>
          <p:nvPr/>
        </p:nvSpPr>
        <p:spPr>
          <a:xfrm>
            <a:off x="7572799" y="3306068"/>
            <a:ext cx="1827505"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21</a:t>
            </a:r>
            <a:endParaRPr lang="en-US" sz="1350" dirty="0"/>
          </a:p>
        </p:txBody>
      </p:sp>
      <p:sp>
        <p:nvSpPr>
          <p:cNvPr id="87" name="Shape 77"/>
          <p:cNvSpPr/>
          <p:nvPr/>
        </p:nvSpPr>
        <p:spPr>
          <a:xfrm>
            <a:off x="9374386" y="3096518"/>
            <a:ext cx="9525" cy="490538"/>
          </a:xfrm>
          <a:prstGeom prst="rect">
            <a:avLst/>
          </a:prstGeom>
          <a:solidFill>
            <a:srgbClr val="2A2933"/>
          </a:solidFill>
          <a:ln/>
        </p:spPr>
      </p:sp>
      <p:sp>
        <p:nvSpPr>
          <p:cNvPr id="88" name="Text 78"/>
          <p:cNvSpPr/>
          <p:nvPr/>
        </p:nvSpPr>
        <p:spPr>
          <a:xfrm>
            <a:off x="9357989" y="3182243"/>
            <a:ext cx="1827587"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ARMOUR</a:t>
            </a:r>
            <a:endParaRPr lang="en-US" sz="750" dirty="0"/>
          </a:p>
        </p:txBody>
      </p:sp>
      <p:sp>
        <p:nvSpPr>
          <p:cNvPr id="89" name="Text 79"/>
          <p:cNvSpPr/>
          <p:nvPr/>
        </p:nvSpPr>
        <p:spPr>
          <a:xfrm>
            <a:off x="9357989" y="3306068"/>
            <a:ext cx="1827587"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2</a:t>
            </a:r>
            <a:endParaRPr lang="en-US" sz="1350" dirty="0"/>
          </a:p>
        </p:txBody>
      </p:sp>
      <p:sp>
        <p:nvSpPr>
          <p:cNvPr id="90" name="Shape 80"/>
          <p:cNvSpPr/>
          <p:nvPr/>
        </p:nvSpPr>
        <p:spPr>
          <a:xfrm>
            <a:off x="11159654" y="3096518"/>
            <a:ext cx="9525" cy="490538"/>
          </a:xfrm>
          <a:prstGeom prst="rect">
            <a:avLst/>
          </a:prstGeom>
          <a:solidFill>
            <a:srgbClr val="2A2933"/>
          </a:solidFill>
          <a:ln/>
        </p:spPr>
      </p:sp>
      <p:sp>
        <p:nvSpPr>
          <p:cNvPr id="91" name="Text 81"/>
          <p:cNvSpPr/>
          <p:nvPr/>
        </p:nvSpPr>
        <p:spPr>
          <a:xfrm>
            <a:off x="11143257" y="3182243"/>
            <a:ext cx="1827587"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837B66"/>
                </a:solidFill>
                <a:latin typeface="Courier New" pitchFamily="34" charset="0"/>
                <a:ea typeface="Courier New" pitchFamily="34" charset="-122"/>
                <a:cs typeface="Courier New" pitchFamily="34" charset="-120"/>
              </a:rPr>
              <a:t>STANDING</a:t>
            </a:r>
            <a:endParaRPr lang="en-US" sz="750" dirty="0"/>
          </a:p>
        </p:txBody>
      </p:sp>
      <p:sp>
        <p:nvSpPr>
          <p:cNvPr id="92" name="Text 82"/>
          <p:cNvSpPr/>
          <p:nvPr/>
        </p:nvSpPr>
        <p:spPr>
          <a:xfrm>
            <a:off x="11143257" y="3306068"/>
            <a:ext cx="1827587"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ECE6D6"/>
                </a:solidFill>
                <a:latin typeface="Georgia" pitchFamily="34" charset="0"/>
                <a:ea typeface="Georgia" pitchFamily="34" charset="-122"/>
                <a:cs typeface="Georgia" pitchFamily="34" charset="-120"/>
              </a:rPr>
              <a:t>88</a:t>
            </a:r>
            <a:endParaRPr lang="en-US" sz="1350" dirty="0"/>
          </a:p>
        </p:txBody>
      </p:sp>
      <p:sp>
        <p:nvSpPr>
          <p:cNvPr id="93" name="Text 83"/>
          <p:cNvSpPr/>
          <p:nvPr/>
        </p:nvSpPr>
        <p:spPr>
          <a:xfrm>
            <a:off x="7589193" y="3882330"/>
            <a:ext cx="5901779"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ATTRIBUTES</a:t>
            </a:r>
            <a:endParaRPr lang="en-US" sz="825" dirty="0"/>
          </a:p>
        </p:txBody>
      </p:sp>
      <p:sp>
        <p:nvSpPr>
          <p:cNvPr id="94" name="Shape 84"/>
          <p:cNvSpPr/>
          <p:nvPr/>
        </p:nvSpPr>
        <p:spPr>
          <a:xfrm>
            <a:off x="7589193" y="4153793"/>
            <a:ext cx="1712193" cy="969615"/>
          </a:xfrm>
          <a:prstGeom prst="roundRect">
            <a:avLst>
              <a:gd name="adj" fmla="val 2947"/>
            </a:avLst>
          </a:prstGeom>
          <a:solidFill>
            <a:srgbClr val="100F15"/>
          </a:solidFill>
          <a:ln w="9525">
            <a:solidFill>
              <a:srgbClr val="2A2933"/>
            </a:solidFill>
            <a:prstDash val="solid"/>
          </a:ln>
        </p:spPr>
      </p:sp>
      <p:sp>
        <p:nvSpPr>
          <p:cNvPr id="95" name="Text 85"/>
          <p:cNvSpPr/>
          <p:nvPr/>
        </p:nvSpPr>
        <p:spPr>
          <a:xfrm>
            <a:off x="7660745" y="4277618"/>
            <a:ext cx="1569087"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37B66"/>
                </a:solidFill>
                <a:latin typeface="Courier New" pitchFamily="34" charset="0"/>
                <a:ea typeface="Courier New" pitchFamily="34" charset="-122"/>
                <a:cs typeface="Courier New" pitchFamily="34" charset="-120"/>
              </a:rPr>
              <a:t>STR</a:t>
            </a:r>
            <a:endParaRPr lang="en-US" sz="900" dirty="0"/>
          </a:p>
        </p:txBody>
      </p:sp>
      <p:sp>
        <p:nvSpPr>
          <p:cNvPr id="96" name="Text 86"/>
          <p:cNvSpPr/>
          <p:nvPr/>
        </p:nvSpPr>
        <p:spPr>
          <a:xfrm>
            <a:off x="7660745" y="4444305"/>
            <a:ext cx="1569087"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CE6D6"/>
                </a:solidFill>
                <a:latin typeface="Georgia" pitchFamily="34" charset="0"/>
                <a:ea typeface="Georgia" pitchFamily="34" charset="-122"/>
                <a:cs typeface="Georgia" pitchFamily="34" charset="-120"/>
              </a:rPr>
              <a:t>9</a:t>
            </a:r>
            <a:endParaRPr lang="en-US" sz="2700" dirty="0"/>
          </a:p>
        </p:txBody>
      </p:sp>
      <p:sp>
        <p:nvSpPr>
          <p:cNvPr id="97" name="Text 87"/>
          <p:cNvSpPr/>
          <p:nvPr/>
        </p:nvSpPr>
        <p:spPr>
          <a:xfrm>
            <a:off x="7660745" y="4823371"/>
            <a:ext cx="1569087"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8A1F2A"/>
                </a:solidFill>
                <a:latin typeface="Courier New" pitchFamily="34" charset="0"/>
                <a:ea typeface="Courier New" pitchFamily="34" charset="-122"/>
                <a:cs typeface="Courier New" pitchFamily="34" charset="-120"/>
              </a:rPr>
              <a:t>-1</a:t>
            </a:r>
            <a:endParaRPr lang="en-US" sz="1050" dirty="0"/>
          </a:p>
        </p:txBody>
      </p:sp>
      <p:sp>
        <p:nvSpPr>
          <p:cNvPr id="98" name="Shape 88"/>
          <p:cNvSpPr/>
          <p:nvPr/>
        </p:nvSpPr>
        <p:spPr>
          <a:xfrm>
            <a:off x="9415686" y="4153793"/>
            <a:ext cx="1712193" cy="969615"/>
          </a:xfrm>
          <a:prstGeom prst="roundRect">
            <a:avLst>
              <a:gd name="adj" fmla="val 2947"/>
            </a:avLst>
          </a:prstGeom>
          <a:solidFill>
            <a:srgbClr val="100F15"/>
          </a:solidFill>
          <a:ln w="9525">
            <a:solidFill>
              <a:srgbClr val="2A2933"/>
            </a:solidFill>
            <a:prstDash val="solid"/>
          </a:ln>
        </p:spPr>
      </p:sp>
      <p:sp>
        <p:nvSpPr>
          <p:cNvPr id="99" name="Text 89"/>
          <p:cNvSpPr/>
          <p:nvPr/>
        </p:nvSpPr>
        <p:spPr>
          <a:xfrm>
            <a:off x="9487239" y="4277618"/>
            <a:ext cx="1569087"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37B66"/>
                </a:solidFill>
                <a:latin typeface="Courier New" pitchFamily="34" charset="0"/>
                <a:ea typeface="Courier New" pitchFamily="34" charset="-122"/>
                <a:cs typeface="Courier New" pitchFamily="34" charset="-120"/>
              </a:rPr>
              <a:t>DEX</a:t>
            </a:r>
            <a:endParaRPr lang="en-US" sz="900" dirty="0"/>
          </a:p>
        </p:txBody>
      </p:sp>
      <p:sp>
        <p:nvSpPr>
          <p:cNvPr id="100" name="Text 90"/>
          <p:cNvSpPr/>
          <p:nvPr/>
        </p:nvSpPr>
        <p:spPr>
          <a:xfrm>
            <a:off x="9487239" y="4444305"/>
            <a:ext cx="1569087"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CE6D6"/>
                </a:solidFill>
                <a:latin typeface="Georgia" pitchFamily="34" charset="0"/>
                <a:ea typeface="Georgia" pitchFamily="34" charset="-122"/>
                <a:cs typeface="Georgia" pitchFamily="34" charset="-120"/>
              </a:rPr>
              <a:t>14</a:t>
            </a:r>
            <a:endParaRPr lang="en-US" sz="2700" dirty="0"/>
          </a:p>
        </p:txBody>
      </p:sp>
      <p:sp>
        <p:nvSpPr>
          <p:cNvPr id="101" name="Text 91"/>
          <p:cNvSpPr/>
          <p:nvPr/>
        </p:nvSpPr>
        <p:spPr>
          <a:xfrm>
            <a:off x="9487239" y="4823371"/>
            <a:ext cx="1569087"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+2</a:t>
            </a:r>
            <a:endParaRPr lang="en-US" sz="1050" dirty="0"/>
          </a:p>
        </p:txBody>
      </p:sp>
      <p:sp>
        <p:nvSpPr>
          <p:cNvPr id="102" name="Shape 92"/>
          <p:cNvSpPr/>
          <p:nvPr/>
        </p:nvSpPr>
        <p:spPr>
          <a:xfrm>
            <a:off x="11242179" y="4153793"/>
            <a:ext cx="1712268" cy="969615"/>
          </a:xfrm>
          <a:prstGeom prst="roundRect">
            <a:avLst>
              <a:gd name="adj" fmla="val 2947"/>
            </a:avLst>
          </a:prstGeom>
          <a:solidFill>
            <a:srgbClr val="100F15"/>
          </a:solidFill>
          <a:ln w="9525">
            <a:solidFill>
              <a:srgbClr val="2A2933"/>
            </a:solidFill>
            <a:prstDash val="solid"/>
          </a:ln>
        </p:spPr>
      </p:sp>
      <p:sp>
        <p:nvSpPr>
          <p:cNvPr id="103" name="Text 93"/>
          <p:cNvSpPr/>
          <p:nvPr/>
        </p:nvSpPr>
        <p:spPr>
          <a:xfrm>
            <a:off x="11313728" y="4277618"/>
            <a:ext cx="1569169"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37B66"/>
                </a:solidFill>
                <a:latin typeface="Courier New" pitchFamily="34" charset="0"/>
                <a:ea typeface="Courier New" pitchFamily="34" charset="-122"/>
                <a:cs typeface="Courier New" pitchFamily="34" charset="-120"/>
              </a:rPr>
              <a:t>CON</a:t>
            </a:r>
            <a:endParaRPr lang="en-US" sz="900" dirty="0"/>
          </a:p>
        </p:txBody>
      </p:sp>
      <p:sp>
        <p:nvSpPr>
          <p:cNvPr id="104" name="Text 94"/>
          <p:cNvSpPr/>
          <p:nvPr/>
        </p:nvSpPr>
        <p:spPr>
          <a:xfrm>
            <a:off x="11313728" y="4444305"/>
            <a:ext cx="1569169"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CE6D6"/>
                </a:solidFill>
                <a:latin typeface="Georgia" pitchFamily="34" charset="0"/>
                <a:ea typeface="Georgia" pitchFamily="34" charset="-122"/>
                <a:cs typeface="Georgia" pitchFamily="34" charset="-120"/>
              </a:rPr>
              <a:t>12</a:t>
            </a:r>
            <a:endParaRPr lang="en-US" sz="2700" dirty="0"/>
          </a:p>
        </p:txBody>
      </p:sp>
      <p:sp>
        <p:nvSpPr>
          <p:cNvPr id="105" name="Text 95"/>
          <p:cNvSpPr/>
          <p:nvPr/>
        </p:nvSpPr>
        <p:spPr>
          <a:xfrm>
            <a:off x="11313728" y="4823371"/>
            <a:ext cx="1569169"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+1</a:t>
            </a:r>
            <a:endParaRPr lang="en-US" sz="1050" dirty="0"/>
          </a:p>
        </p:txBody>
      </p:sp>
      <p:sp>
        <p:nvSpPr>
          <p:cNvPr id="106" name="Shape 96"/>
          <p:cNvSpPr/>
          <p:nvPr/>
        </p:nvSpPr>
        <p:spPr>
          <a:xfrm>
            <a:off x="7589193" y="5237708"/>
            <a:ext cx="1712193" cy="969615"/>
          </a:xfrm>
          <a:prstGeom prst="roundRect">
            <a:avLst>
              <a:gd name="adj" fmla="val 2947"/>
            </a:avLst>
          </a:prstGeom>
          <a:solidFill>
            <a:srgbClr val="100F15"/>
          </a:solidFill>
          <a:ln w="9525">
            <a:solidFill>
              <a:srgbClr val="2A2933"/>
            </a:solidFill>
            <a:prstDash val="solid"/>
          </a:ln>
        </p:spPr>
      </p:sp>
      <p:sp>
        <p:nvSpPr>
          <p:cNvPr id="107" name="Text 97"/>
          <p:cNvSpPr/>
          <p:nvPr/>
        </p:nvSpPr>
        <p:spPr>
          <a:xfrm>
            <a:off x="7660745" y="5361533"/>
            <a:ext cx="1569087"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37B66"/>
                </a:solidFill>
                <a:latin typeface="Courier New" pitchFamily="34" charset="0"/>
                <a:ea typeface="Courier New" pitchFamily="34" charset="-122"/>
                <a:cs typeface="Courier New" pitchFamily="34" charset="-120"/>
              </a:rPr>
              <a:t>INT</a:t>
            </a:r>
            <a:endParaRPr lang="en-US" sz="900" dirty="0"/>
          </a:p>
        </p:txBody>
      </p:sp>
      <p:sp>
        <p:nvSpPr>
          <p:cNvPr id="108" name="Text 98"/>
          <p:cNvSpPr/>
          <p:nvPr/>
        </p:nvSpPr>
        <p:spPr>
          <a:xfrm>
            <a:off x="7660745" y="5528221"/>
            <a:ext cx="1569087"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CE6D6"/>
                </a:solidFill>
                <a:latin typeface="Georgia" pitchFamily="34" charset="0"/>
                <a:ea typeface="Georgia" pitchFamily="34" charset="-122"/>
                <a:cs typeface="Georgia" pitchFamily="34" charset="-120"/>
              </a:rPr>
              <a:t>17</a:t>
            </a:r>
            <a:endParaRPr lang="en-US" sz="2700" dirty="0"/>
          </a:p>
        </p:txBody>
      </p:sp>
      <p:sp>
        <p:nvSpPr>
          <p:cNvPr id="109" name="Text 99"/>
          <p:cNvSpPr/>
          <p:nvPr/>
        </p:nvSpPr>
        <p:spPr>
          <a:xfrm>
            <a:off x="7660745" y="5907286"/>
            <a:ext cx="1569087"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+3</a:t>
            </a:r>
            <a:endParaRPr lang="en-US" sz="1050" dirty="0"/>
          </a:p>
        </p:txBody>
      </p:sp>
      <p:sp>
        <p:nvSpPr>
          <p:cNvPr id="110" name="Shape 100"/>
          <p:cNvSpPr/>
          <p:nvPr/>
        </p:nvSpPr>
        <p:spPr>
          <a:xfrm>
            <a:off x="9415686" y="5237708"/>
            <a:ext cx="1712193" cy="969615"/>
          </a:xfrm>
          <a:prstGeom prst="roundRect">
            <a:avLst>
              <a:gd name="adj" fmla="val 2947"/>
            </a:avLst>
          </a:prstGeom>
          <a:solidFill>
            <a:srgbClr val="100F15"/>
          </a:solidFill>
          <a:ln w="9525">
            <a:solidFill>
              <a:srgbClr val="2A2933"/>
            </a:solidFill>
            <a:prstDash val="solid"/>
          </a:ln>
        </p:spPr>
      </p:sp>
      <p:sp>
        <p:nvSpPr>
          <p:cNvPr id="111" name="Text 101"/>
          <p:cNvSpPr/>
          <p:nvPr/>
        </p:nvSpPr>
        <p:spPr>
          <a:xfrm>
            <a:off x="9487239" y="5361533"/>
            <a:ext cx="1569087"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37B66"/>
                </a:solidFill>
                <a:latin typeface="Courier New" pitchFamily="34" charset="0"/>
                <a:ea typeface="Courier New" pitchFamily="34" charset="-122"/>
                <a:cs typeface="Courier New" pitchFamily="34" charset="-120"/>
              </a:rPr>
              <a:t>WIS</a:t>
            </a:r>
            <a:endParaRPr lang="en-US" sz="900" dirty="0"/>
          </a:p>
        </p:txBody>
      </p:sp>
      <p:sp>
        <p:nvSpPr>
          <p:cNvPr id="112" name="Text 102"/>
          <p:cNvSpPr/>
          <p:nvPr/>
        </p:nvSpPr>
        <p:spPr>
          <a:xfrm>
            <a:off x="9487239" y="5528221"/>
            <a:ext cx="1569087"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CE6D6"/>
                </a:solidFill>
                <a:latin typeface="Georgia" pitchFamily="34" charset="0"/>
                <a:ea typeface="Georgia" pitchFamily="34" charset="-122"/>
                <a:cs typeface="Georgia" pitchFamily="34" charset="-120"/>
              </a:rPr>
              <a:t>16</a:t>
            </a:r>
            <a:endParaRPr lang="en-US" sz="2700" dirty="0"/>
          </a:p>
        </p:txBody>
      </p:sp>
      <p:sp>
        <p:nvSpPr>
          <p:cNvPr id="113" name="Text 103"/>
          <p:cNvSpPr/>
          <p:nvPr/>
        </p:nvSpPr>
        <p:spPr>
          <a:xfrm>
            <a:off x="9487239" y="5907286"/>
            <a:ext cx="1569087"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+3</a:t>
            </a:r>
            <a:endParaRPr lang="en-US" sz="1050" dirty="0"/>
          </a:p>
        </p:txBody>
      </p:sp>
      <p:sp>
        <p:nvSpPr>
          <p:cNvPr id="114" name="Shape 104"/>
          <p:cNvSpPr/>
          <p:nvPr/>
        </p:nvSpPr>
        <p:spPr>
          <a:xfrm>
            <a:off x="11242179" y="5237708"/>
            <a:ext cx="1712268" cy="969615"/>
          </a:xfrm>
          <a:prstGeom prst="roundRect">
            <a:avLst>
              <a:gd name="adj" fmla="val 2947"/>
            </a:avLst>
          </a:prstGeom>
          <a:solidFill>
            <a:srgbClr val="100F15"/>
          </a:solidFill>
          <a:ln w="9525">
            <a:solidFill>
              <a:srgbClr val="2A2933"/>
            </a:solidFill>
            <a:prstDash val="solid"/>
          </a:ln>
        </p:spPr>
      </p:sp>
      <p:sp>
        <p:nvSpPr>
          <p:cNvPr id="115" name="Text 105"/>
          <p:cNvSpPr/>
          <p:nvPr/>
        </p:nvSpPr>
        <p:spPr>
          <a:xfrm>
            <a:off x="11313728" y="5361533"/>
            <a:ext cx="1569169"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837B66"/>
                </a:solidFill>
                <a:latin typeface="Courier New" pitchFamily="34" charset="0"/>
                <a:ea typeface="Courier New" pitchFamily="34" charset="-122"/>
                <a:cs typeface="Courier New" pitchFamily="34" charset="-120"/>
              </a:rPr>
              <a:t>CHA</a:t>
            </a:r>
            <a:endParaRPr lang="en-US" sz="900" dirty="0"/>
          </a:p>
        </p:txBody>
      </p:sp>
      <p:sp>
        <p:nvSpPr>
          <p:cNvPr id="116" name="Text 106"/>
          <p:cNvSpPr/>
          <p:nvPr/>
        </p:nvSpPr>
        <p:spPr>
          <a:xfrm>
            <a:off x="11313728" y="5528221"/>
            <a:ext cx="1569169"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ECE6D6"/>
                </a:solidFill>
                <a:latin typeface="Georgia" pitchFamily="34" charset="0"/>
                <a:ea typeface="Georgia" pitchFamily="34" charset="-122"/>
                <a:cs typeface="Georgia" pitchFamily="34" charset="-120"/>
              </a:rPr>
              <a:t>11</a:t>
            </a:r>
            <a:endParaRPr lang="en-US" sz="2700" dirty="0"/>
          </a:p>
        </p:txBody>
      </p:sp>
      <p:sp>
        <p:nvSpPr>
          <p:cNvPr id="117" name="Text 107"/>
          <p:cNvSpPr/>
          <p:nvPr/>
        </p:nvSpPr>
        <p:spPr>
          <a:xfrm>
            <a:off x="11313728" y="5907286"/>
            <a:ext cx="1569169"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+0</a:t>
            </a:r>
            <a:endParaRPr lang="en-US" sz="1050" dirty="0"/>
          </a:p>
        </p:txBody>
      </p:sp>
      <p:sp>
        <p:nvSpPr>
          <p:cNvPr id="118" name="Text 108"/>
          <p:cNvSpPr/>
          <p:nvPr/>
        </p:nvSpPr>
        <p:spPr>
          <a:xfrm>
            <a:off x="7589193" y="6493073"/>
            <a:ext cx="5901779"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AVATARS</a:t>
            </a:r>
            <a:endParaRPr lang="en-US" sz="825" dirty="0"/>
          </a:p>
        </p:txBody>
      </p:sp>
      <p:sp>
        <p:nvSpPr>
          <p:cNvPr id="119" name="Shape 109"/>
          <p:cNvSpPr/>
          <p:nvPr/>
        </p:nvSpPr>
        <p:spPr>
          <a:xfrm>
            <a:off x="7589193" y="6859786"/>
            <a:ext cx="438150" cy="438150"/>
          </a:xfrm>
          <a:prstGeom prst="ellipse">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120" name="Text 110"/>
          <p:cNvSpPr/>
          <p:nvPr/>
        </p:nvSpPr>
        <p:spPr>
          <a:xfrm>
            <a:off x="7560618" y="6869311"/>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C5BDA6"/>
                </a:solidFill>
                <a:latin typeface="Georgia" pitchFamily="34" charset="0"/>
                <a:ea typeface="Georgia" pitchFamily="34" charset="-122"/>
                <a:cs typeface="Georgia" pitchFamily="34" charset="-120"/>
              </a:rPr>
              <a:t>IV</a:t>
            </a:r>
            <a:endParaRPr lang="en-US" sz="1350" dirty="0"/>
          </a:p>
        </p:txBody>
      </p:sp>
      <p:sp>
        <p:nvSpPr>
          <p:cNvPr id="121" name="Shape 111"/>
          <p:cNvSpPr/>
          <p:nvPr/>
        </p:nvSpPr>
        <p:spPr>
          <a:xfrm>
            <a:off x="7889825" y="7160419"/>
            <a:ext cx="147042" cy="147042"/>
          </a:xfrm>
          <a:prstGeom prst="ellipse">
            <a:avLst/>
          </a:prstGeom>
          <a:solidFill>
            <a:srgbClr val="B5601F"/>
          </a:solidFill>
          <a:ln w="19050">
            <a:solidFill>
              <a:srgbClr val="16151D"/>
            </a:solidFill>
            <a:prstDash val="solid"/>
          </a:ln>
        </p:spPr>
      </p:sp>
      <p:sp>
        <p:nvSpPr>
          <p:cNvPr id="122" name="Shape 112"/>
          <p:cNvSpPr/>
          <p:nvPr/>
        </p:nvSpPr>
        <p:spPr>
          <a:xfrm>
            <a:off x="8141643" y="6850261"/>
            <a:ext cx="457200" cy="457200"/>
          </a:xfrm>
          <a:prstGeom prst="ellipse">
            <a:avLst/>
          </a:prstGeom>
          <a:solidFill>
            <a:srgbClr val="1C1B24"/>
          </a:solidFill>
          <a:ln w="19050">
            <a:solidFill>
              <a:srgbClr val="9B1C1C"/>
            </a:solidFill>
            <a:prstDash val="solid"/>
          </a:ln>
          <a:effectLst>
            <a:outerShdw sx="100000" sy="100000" kx="0" ky="0" algn="bl" rotWithShape="0" blurRad="19050" dist="9525" dir="5400000">
              <a:srgbClr val="000000">
                <a:alpha val="35000"/>
              </a:srgbClr>
            </a:outerShdw>
          </a:effectLst>
        </p:spPr>
      </p:sp>
      <p:sp>
        <p:nvSpPr>
          <p:cNvPr id="123" name="Text 113"/>
          <p:cNvSpPr/>
          <p:nvPr/>
        </p:nvSpPr>
        <p:spPr>
          <a:xfrm>
            <a:off x="8122593" y="6869311"/>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C5BDA6"/>
                </a:solidFill>
                <a:latin typeface="Georgia" pitchFamily="34" charset="0"/>
                <a:ea typeface="Georgia" pitchFamily="34" charset="-122"/>
                <a:cs typeface="Georgia" pitchFamily="34" charset="-120"/>
              </a:rPr>
              <a:t>KN</a:t>
            </a:r>
            <a:endParaRPr lang="en-US" sz="1350" dirty="0"/>
          </a:p>
        </p:txBody>
      </p:sp>
      <p:sp>
        <p:nvSpPr>
          <p:cNvPr id="124" name="Shape 114"/>
          <p:cNvSpPr/>
          <p:nvPr/>
        </p:nvSpPr>
        <p:spPr>
          <a:xfrm>
            <a:off x="8461325" y="7169944"/>
            <a:ext cx="147042" cy="147042"/>
          </a:xfrm>
          <a:prstGeom prst="ellipse">
            <a:avLst/>
          </a:prstGeom>
          <a:solidFill>
            <a:srgbClr val="5B7A4E"/>
          </a:solidFill>
          <a:ln w="19050">
            <a:solidFill>
              <a:srgbClr val="16151D"/>
            </a:solidFill>
            <a:prstDash val="solid"/>
          </a:ln>
        </p:spPr>
      </p:sp>
      <p:sp>
        <p:nvSpPr>
          <p:cNvPr id="125" name="Shape 115"/>
          <p:cNvSpPr/>
          <p:nvPr/>
        </p:nvSpPr>
        <p:spPr>
          <a:xfrm>
            <a:off x="8713143" y="6859786"/>
            <a:ext cx="438150" cy="438150"/>
          </a:xfrm>
          <a:prstGeom prst="roundRect">
            <a:avLst>
              <a:gd name="adj" fmla="val 6522"/>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126" name="Text 116"/>
          <p:cNvSpPr/>
          <p:nvPr/>
        </p:nvSpPr>
        <p:spPr>
          <a:xfrm>
            <a:off x="8684568" y="6869311"/>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C5BDA6"/>
                </a:solidFill>
                <a:latin typeface="Georgia" pitchFamily="34" charset="0"/>
                <a:ea typeface="Georgia" pitchFamily="34" charset="-122"/>
                <a:cs typeface="Georgia" pitchFamily="34" charset="-120"/>
              </a:rPr>
              <a:t>DV</a:t>
            </a:r>
            <a:endParaRPr lang="en-US" sz="1350" dirty="0"/>
          </a:p>
        </p:txBody>
      </p:sp>
      <p:sp>
        <p:nvSpPr>
          <p:cNvPr id="127" name="Shape 117"/>
          <p:cNvSpPr/>
          <p:nvPr/>
        </p:nvSpPr>
        <p:spPr>
          <a:xfrm>
            <a:off x="9013775" y="7160419"/>
            <a:ext cx="147042" cy="147042"/>
          </a:xfrm>
          <a:prstGeom prst="ellipse">
            <a:avLst/>
          </a:prstGeom>
          <a:solidFill>
            <a:srgbClr val="8A1F2A"/>
          </a:solidFill>
          <a:ln w="19050">
            <a:solidFill>
              <a:srgbClr val="16151D"/>
            </a:solidFill>
            <a:prstDash val="solid"/>
          </a:ln>
        </p:spPr>
      </p:sp>
      <p:sp>
        <p:nvSpPr>
          <p:cNvPr id="128" name="Shape 118"/>
          <p:cNvSpPr/>
          <p:nvPr/>
        </p:nvSpPr>
        <p:spPr>
          <a:xfrm>
            <a:off x="9265593" y="6764536"/>
            <a:ext cx="628650" cy="628650"/>
          </a:xfrm>
          <a:prstGeom prst="ellipse">
            <a:avLst/>
          </a:prstGeom>
          <a:solidFill>
            <a:srgbClr val="1C1B24"/>
          </a:solidFill>
          <a:ln w="9525">
            <a:solidFill>
              <a:srgbClr val="35343F"/>
            </a:solidFill>
            <a:prstDash val="solid"/>
          </a:ln>
          <a:effectLst>
            <a:outerShdw sx="100000" sy="100000" kx="0" ky="0" algn="bl" rotWithShape="0" blurRad="19050" dist="9525" dir="5400000">
              <a:srgbClr val="000000">
                <a:alpha val="35000"/>
              </a:srgbClr>
            </a:outerShdw>
          </a:effectLst>
        </p:spPr>
      </p:sp>
      <p:sp>
        <p:nvSpPr>
          <p:cNvPr id="129" name="Text 119"/>
          <p:cNvSpPr/>
          <p:nvPr/>
        </p:nvSpPr>
        <p:spPr>
          <a:xfrm>
            <a:off x="9237018" y="6774061"/>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C5BDA6"/>
                </a:solidFill>
                <a:latin typeface="Georgia" pitchFamily="34" charset="0"/>
                <a:ea typeface="Georgia" pitchFamily="34" charset="-122"/>
                <a:cs typeface="Georgia" pitchFamily="34" charset="-120"/>
              </a:rPr>
              <a:t>SF</a:t>
            </a:r>
            <a:endParaRPr lang="en-US" sz="1950" dirty="0"/>
          </a:p>
        </p:txBody>
      </p:sp>
      <p:sp>
        <p:nvSpPr>
          <p:cNvPr id="130" name="Text 120"/>
          <p:cNvSpPr/>
          <p:nvPr/>
        </p:nvSpPr>
        <p:spPr>
          <a:xfrm>
            <a:off x="13373546" y="1804988"/>
            <a:ext cx="5311520"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DICE</a:t>
            </a:r>
            <a:endParaRPr lang="en-US" sz="825" dirty="0"/>
          </a:p>
        </p:txBody>
      </p:sp>
      <p:sp>
        <p:nvSpPr>
          <p:cNvPr id="131" name="Shape 121"/>
          <p:cNvSpPr/>
          <p:nvPr/>
        </p:nvSpPr>
        <p:spPr>
          <a:xfrm>
            <a:off x="13373546" y="2076450"/>
            <a:ext cx="4828654" cy="2347913"/>
          </a:xfrm>
          <a:prstGeom prst="roundRect">
            <a:avLst>
              <a:gd name="adj" fmla="val 2028"/>
            </a:avLst>
          </a:prstGeom>
          <a:solidFill>
            <a:srgbClr val="16151D"/>
          </a:solidFill>
          <a:ln w="9525">
            <a:solidFill>
              <a:srgbClr val="2A2933"/>
            </a:solidFill>
            <a:prstDash val="solid"/>
          </a:ln>
          <a:effectLst>
            <a:outerShdw sx="100000" sy="100000" kx="0" ky="0" algn="bl" rotWithShape="0" blurRad="133350" dist="38100" dir="5400000">
              <a:srgbClr val="000000">
                <a:alpha val="40000"/>
              </a:srgbClr>
            </a:outerShdw>
          </a:effectLst>
        </p:spPr>
      </p:sp>
      <p:sp>
        <p:nvSpPr>
          <p:cNvPr id="132" name="Shape 122"/>
          <p:cNvSpPr/>
          <p:nvPr/>
        </p:nvSpPr>
        <p:spPr>
          <a:xfrm>
            <a:off x="13611671" y="2314575"/>
            <a:ext cx="388739" cy="290513"/>
          </a:xfrm>
          <a:prstGeom prst="roundRect">
            <a:avLst>
              <a:gd name="adj" fmla="val 9836"/>
            </a:avLst>
          </a:prstGeom>
          <a:solidFill>
            <a:srgbClr val="1C1B24"/>
          </a:solidFill>
          <a:ln w="9525">
            <a:solidFill>
              <a:srgbClr val="35343F"/>
            </a:solidFill>
            <a:prstDash val="solid"/>
          </a:ln>
        </p:spPr>
      </p:sp>
      <p:sp>
        <p:nvSpPr>
          <p:cNvPr id="133" name="Text 123"/>
          <p:cNvSpPr/>
          <p:nvPr/>
        </p:nvSpPr>
        <p:spPr>
          <a:xfrm>
            <a:off x="13687871" y="2371725"/>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C5BDA6"/>
                </a:solidFill>
                <a:latin typeface="Courier New" pitchFamily="34" charset="0"/>
                <a:ea typeface="Courier New" pitchFamily="34" charset="-122"/>
                <a:cs typeface="Courier New" pitchFamily="34" charset="-120"/>
              </a:rPr>
              <a:t>d 6</a:t>
            </a:r>
            <a:endParaRPr lang="en-US" sz="1050" dirty="0"/>
          </a:p>
        </p:txBody>
      </p:sp>
      <p:sp>
        <p:nvSpPr>
          <p:cNvPr id="134" name="Shape 124"/>
          <p:cNvSpPr/>
          <p:nvPr/>
        </p:nvSpPr>
        <p:spPr>
          <a:xfrm>
            <a:off x="14057561" y="2314575"/>
            <a:ext cx="388739" cy="290513"/>
          </a:xfrm>
          <a:prstGeom prst="roundRect">
            <a:avLst>
              <a:gd name="adj" fmla="val 9836"/>
            </a:avLst>
          </a:prstGeom>
          <a:solidFill>
            <a:srgbClr val="1C1B24"/>
          </a:solidFill>
          <a:ln w="9525">
            <a:solidFill>
              <a:srgbClr val="35343F"/>
            </a:solidFill>
            <a:prstDash val="solid"/>
          </a:ln>
        </p:spPr>
      </p:sp>
      <p:sp>
        <p:nvSpPr>
          <p:cNvPr id="135" name="Text 125"/>
          <p:cNvSpPr/>
          <p:nvPr/>
        </p:nvSpPr>
        <p:spPr>
          <a:xfrm>
            <a:off x="14133761" y="2371725"/>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C5BDA6"/>
                </a:solidFill>
                <a:latin typeface="Courier New" pitchFamily="34" charset="0"/>
                <a:ea typeface="Courier New" pitchFamily="34" charset="-122"/>
                <a:cs typeface="Courier New" pitchFamily="34" charset="-120"/>
              </a:rPr>
              <a:t>d 8</a:t>
            </a:r>
            <a:endParaRPr lang="en-US" sz="1050" dirty="0"/>
          </a:p>
        </p:txBody>
      </p:sp>
      <p:sp>
        <p:nvSpPr>
          <p:cNvPr id="136" name="Shape 126"/>
          <p:cNvSpPr/>
          <p:nvPr/>
        </p:nvSpPr>
        <p:spPr>
          <a:xfrm>
            <a:off x="14503450" y="2314575"/>
            <a:ext cx="468734" cy="290513"/>
          </a:xfrm>
          <a:prstGeom prst="roundRect">
            <a:avLst>
              <a:gd name="adj" fmla="val 9836"/>
            </a:avLst>
          </a:prstGeom>
          <a:solidFill>
            <a:srgbClr val="1C1B24"/>
          </a:solidFill>
          <a:ln w="9525">
            <a:solidFill>
              <a:srgbClr val="35343F"/>
            </a:solidFill>
            <a:prstDash val="solid"/>
          </a:ln>
        </p:spPr>
      </p:sp>
      <p:sp>
        <p:nvSpPr>
          <p:cNvPr id="137" name="Text 127"/>
          <p:cNvSpPr/>
          <p:nvPr/>
        </p:nvSpPr>
        <p:spPr>
          <a:xfrm>
            <a:off x="14579650" y="2371725"/>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C5BDA6"/>
                </a:solidFill>
                <a:latin typeface="Courier New" pitchFamily="34" charset="0"/>
                <a:ea typeface="Courier New" pitchFamily="34" charset="-122"/>
                <a:cs typeface="Courier New" pitchFamily="34" charset="-120"/>
              </a:rPr>
              <a:t>d 12</a:t>
            </a:r>
            <a:endParaRPr lang="en-US" sz="1050" dirty="0"/>
          </a:p>
        </p:txBody>
      </p:sp>
      <p:sp>
        <p:nvSpPr>
          <p:cNvPr id="138" name="Shape 128"/>
          <p:cNvSpPr/>
          <p:nvPr/>
        </p:nvSpPr>
        <p:spPr>
          <a:xfrm>
            <a:off x="15029334" y="2314575"/>
            <a:ext cx="468734" cy="290513"/>
          </a:xfrm>
          <a:prstGeom prst="roundRect">
            <a:avLst>
              <a:gd name="adj" fmla="val 9836"/>
            </a:avLst>
          </a:prstGeom>
          <a:solidFill>
            <a:srgbClr val="9B1C1C">
              <a:alpha val="16000"/>
            </a:srgbClr>
          </a:solidFill>
          <a:ln w="9525">
            <a:solidFill>
              <a:srgbClr val="9B1C1C"/>
            </a:solidFill>
            <a:prstDash val="solid"/>
          </a:ln>
        </p:spPr>
      </p:sp>
      <p:sp>
        <p:nvSpPr>
          <p:cNvPr id="139" name="Text 129"/>
          <p:cNvSpPr/>
          <p:nvPr/>
        </p:nvSpPr>
        <p:spPr>
          <a:xfrm>
            <a:off x="15105534" y="2371725"/>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DB4A3F"/>
                </a:solidFill>
                <a:latin typeface="Courier New" pitchFamily="34" charset="0"/>
                <a:ea typeface="Courier New" pitchFamily="34" charset="-122"/>
                <a:cs typeface="Courier New" pitchFamily="34" charset="-120"/>
              </a:rPr>
              <a:t>d 20</a:t>
            </a:r>
            <a:endParaRPr lang="en-US" sz="1050" dirty="0"/>
          </a:p>
        </p:txBody>
      </p:sp>
      <p:sp>
        <p:nvSpPr>
          <p:cNvPr id="140" name="Shape 130"/>
          <p:cNvSpPr/>
          <p:nvPr/>
        </p:nvSpPr>
        <p:spPr>
          <a:xfrm>
            <a:off x="13611671" y="2738438"/>
            <a:ext cx="914400" cy="914400"/>
          </a:xfrm>
          <a:prstGeom prst="roundRect">
            <a:avLst>
              <a:gd name="adj" fmla="val 5208"/>
            </a:avLst>
          </a:prstGeom>
          <a:solidFill>
            <a:srgbClr val="100F15"/>
          </a:solidFill>
          <a:ln w="19050">
            <a:solidFill>
              <a:srgbClr val="46454F"/>
            </a:solidFill>
            <a:prstDash val="solid"/>
          </a:ln>
        </p:spPr>
      </p:sp>
      <p:sp>
        <p:nvSpPr>
          <p:cNvPr id="141" name="Text 131"/>
          <p:cNvSpPr/>
          <p:nvPr/>
        </p:nvSpPr>
        <p:spPr>
          <a:xfrm>
            <a:off x="13711535" y="2890838"/>
            <a:ext cx="79087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ECE6D6"/>
                </a:solidFill>
                <a:latin typeface="Georgia" pitchFamily="34" charset="0"/>
                <a:ea typeface="Georgia" pitchFamily="34" charset="-122"/>
                <a:cs typeface="Georgia" pitchFamily="34" charset="-120"/>
              </a:rPr>
              <a:t>20</a:t>
            </a:r>
            <a:endParaRPr lang="en-US" sz="4800" dirty="0"/>
          </a:p>
        </p:txBody>
      </p:sp>
      <p:sp>
        <p:nvSpPr>
          <p:cNvPr id="142" name="Text 132"/>
          <p:cNvSpPr/>
          <p:nvPr/>
        </p:nvSpPr>
        <p:spPr>
          <a:xfrm>
            <a:off x="14678471" y="2916064"/>
            <a:ext cx="361416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DB4A3F"/>
                </a:solidFill>
                <a:latin typeface="Courier New" pitchFamily="34" charset="0"/>
                <a:ea typeface="Courier New" pitchFamily="34" charset="-122"/>
                <a:cs typeface="Courier New" pitchFamily="34" charset="-120"/>
              </a:rPr>
              <a:t>AWAITING THE THROW</a:t>
            </a:r>
            <a:endParaRPr lang="en-US" sz="900" dirty="0"/>
          </a:p>
        </p:txBody>
      </p:sp>
      <p:sp>
        <p:nvSpPr>
          <p:cNvPr id="143" name="Text 133"/>
          <p:cNvSpPr/>
          <p:nvPr/>
        </p:nvSpPr>
        <p:spPr>
          <a:xfrm>
            <a:off x="14678471" y="3063701"/>
            <a:ext cx="3614165" cy="449535"/>
          </a:xfrm>
          <a:prstGeom prst="rect">
            <a:avLst/>
          </a:prstGeom>
          <a:noFill/>
          <a:ln/>
        </p:spPr>
        <p:txBody>
          <a:bodyPr wrap="square" lIns="25400" tIns="25400" rIns="25400" bIns="25400" rtlCol="0" anchor="t">
            <a:normAutofit/>
          </a:bodyPr>
          <a:lstStyle/>
          <a:p>
            <a:pPr algn="l" indent="0" marL="0">
              <a:lnSpc>
                <a:spcPct val="120000"/>
              </a:lnSpc>
              <a:buNone/>
            </a:pPr>
            <a:r>
              <a:rPr lang="en-US" sz="2700" b="1" dirty="0">
                <a:solidFill>
                  <a:srgbClr val="ECE6D6"/>
                </a:solidFill>
                <a:latin typeface="Georgia" pitchFamily="34" charset="0"/>
                <a:ea typeface="Georgia" pitchFamily="34" charset="-122"/>
                <a:cs typeface="Georgia" pitchFamily="34" charset="-120"/>
              </a:rPr>
              <a:t>—</a:t>
            </a:r>
            <a:endParaRPr lang="en-US" sz="2700" dirty="0"/>
          </a:p>
        </p:txBody>
      </p:sp>
      <p:sp>
        <p:nvSpPr>
          <p:cNvPr id="144" name="Shape 134"/>
          <p:cNvSpPr/>
          <p:nvPr/>
        </p:nvSpPr>
        <p:spPr>
          <a:xfrm>
            <a:off x="13611671" y="3786188"/>
            <a:ext cx="4352404" cy="400050"/>
          </a:xfrm>
          <a:prstGeom prst="roundRect">
            <a:avLst>
              <a:gd name="adj" fmla="val 7143"/>
            </a:avLst>
          </a:prstGeom>
          <a:solidFill>
            <a:srgbClr val="9B1C1C"/>
          </a:solidFill>
          <a:ln w="9525">
            <a:solidFill>
              <a:srgbClr val="9B1C1C"/>
            </a:solidFill>
            <a:prstDash val="solid"/>
          </a:ln>
        </p:spPr>
      </p:sp>
      <p:sp>
        <p:nvSpPr>
          <p:cNvPr id="145" name="Text 135"/>
          <p:cNvSpPr/>
          <p:nvPr/>
        </p:nvSpPr>
        <p:spPr>
          <a:xfrm>
            <a:off x="13660685" y="3900488"/>
            <a:ext cx="4254376" cy="20955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F6F1E4"/>
                </a:solidFill>
                <a:latin typeface="Georgia" pitchFamily="34" charset="0"/>
                <a:ea typeface="Georgia" pitchFamily="34" charset="-122"/>
                <a:cs typeface="Georgia" pitchFamily="34" charset="-120"/>
              </a:rPr>
              <a:t>Roll d 20</a:t>
            </a:r>
            <a:endParaRPr lang="en-US" sz="1200" dirty="0"/>
          </a:p>
        </p:txBody>
      </p:sp>
      <p:sp>
        <p:nvSpPr>
          <p:cNvPr id="146" name="Text 136"/>
          <p:cNvSpPr/>
          <p:nvPr/>
        </p:nvSpPr>
        <p:spPr>
          <a:xfrm>
            <a:off x="13373546" y="4710113"/>
            <a:ext cx="5311520"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B4A3F"/>
                </a:solidFill>
                <a:latin typeface="Courier New" pitchFamily="34" charset="0"/>
                <a:ea typeface="Courier New" pitchFamily="34" charset="-122"/>
                <a:cs typeface="Courier New" pitchFamily="34" charset="-120"/>
              </a:rPr>
              <a:t>CHRONICLE</a:t>
            </a:r>
            <a:endParaRPr lang="en-US" sz="825" dirty="0"/>
          </a:p>
        </p:txBody>
      </p:sp>
      <p:sp>
        <p:nvSpPr>
          <p:cNvPr id="147" name="Shape 137"/>
          <p:cNvSpPr/>
          <p:nvPr/>
        </p:nvSpPr>
        <p:spPr>
          <a:xfrm>
            <a:off x="13440221" y="5038725"/>
            <a:ext cx="9525" cy="1476375"/>
          </a:xfrm>
          <a:prstGeom prst="rect">
            <a:avLst/>
          </a:prstGeom>
          <a:solidFill>
            <a:srgbClr val="35343F"/>
          </a:solidFill>
          <a:ln/>
        </p:spPr>
      </p:sp>
      <p:sp>
        <p:nvSpPr>
          <p:cNvPr id="148" name="Shape 138"/>
          <p:cNvSpPr/>
          <p:nvPr/>
        </p:nvSpPr>
        <p:spPr>
          <a:xfrm>
            <a:off x="13373546" y="5010150"/>
            <a:ext cx="180975" cy="180975"/>
          </a:xfrm>
          <a:prstGeom prst="ellipse">
            <a:avLst/>
          </a:prstGeom>
          <a:solidFill>
            <a:srgbClr val="0B0A0F"/>
          </a:solidFill>
          <a:ln w="19050">
            <a:solidFill>
              <a:srgbClr val="46454F"/>
            </a:solidFill>
            <a:prstDash val="solid"/>
          </a:ln>
        </p:spPr>
      </p:sp>
      <p:sp>
        <p:nvSpPr>
          <p:cNvPr id="149" name="Text 139"/>
          <p:cNvSpPr/>
          <p:nvPr/>
        </p:nvSpPr>
        <p:spPr>
          <a:xfrm>
            <a:off x="13640246" y="4981575"/>
            <a:ext cx="50181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37B66"/>
                </a:solidFill>
                <a:latin typeface="Courier New" pitchFamily="34" charset="0"/>
                <a:ea typeface="Courier New" pitchFamily="34" charset="-122"/>
                <a:cs typeface="Courier New" pitchFamily="34" charset="-120"/>
              </a:rPr>
              <a:t>YEAR I</a:t>
            </a:r>
            <a:endParaRPr lang="en-US" sz="900" dirty="0"/>
          </a:p>
        </p:txBody>
      </p:sp>
      <p:sp>
        <p:nvSpPr>
          <p:cNvPr id="150" name="Text 140"/>
          <p:cNvSpPr/>
          <p:nvPr/>
        </p:nvSpPr>
        <p:spPr>
          <a:xfrm>
            <a:off x="13640246" y="5157788"/>
            <a:ext cx="5018150"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ECE6D6"/>
                </a:solidFill>
                <a:latin typeface="Georgia" pitchFamily="34" charset="0"/>
                <a:ea typeface="Georgia" pitchFamily="34" charset="-122"/>
                <a:cs typeface="Georgia" pitchFamily="34" charset="-120"/>
              </a:rPr>
              <a:t>The Crossing</a:t>
            </a:r>
            <a:endParaRPr lang="en-US" sz="1350" dirty="0"/>
          </a:p>
        </p:txBody>
      </p:sp>
      <p:sp>
        <p:nvSpPr>
          <p:cNvPr id="151" name="Shape 141"/>
          <p:cNvSpPr/>
          <p:nvPr/>
        </p:nvSpPr>
        <p:spPr>
          <a:xfrm>
            <a:off x="13373546" y="5610225"/>
            <a:ext cx="180975" cy="180975"/>
          </a:xfrm>
          <a:prstGeom prst="ellipse">
            <a:avLst/>
          </a:prstGeom>
          <a:solidFill>
            <a:srgbClr val="0B0A0F"/>
          </a:solidFill>
          <a:ln w="19050">
            <a:solidFill>
              <a:srgbClr val="9B1C1C"/>
            </a:solidFill>
            <a:prstDash val="solid"/>
          </a:ln>
          <a:effectLst>
            <a:outerShdw sx="100000" sy="100000" kx="0" ky="0" algn="bl" rotWithShape="0" blurRad="95250" dist="50800" dir="16200000">
              <a:srgbClr val="9B1C1C">
                <a:alpha val="100000"/>
              </a:srgbClr>
            </a:outerShdw>
          </a:effectLst>
        </p:spPr>
      </p:sp>
      <p:sp>
        <p:nvSpPr>
          <p:cNvPr id="152" name="Text 142"/>
          <p:cNvSpPr/>
          <p:nvPr/>
        </p:nvSpPr>
        <p:spPr>
          <a:xfrm>
            <a:off x="13640246" y="5581650"/>
            <a:ext cx="50181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37B66"/>
                </a:solidFill>
                <a:latin typeface="Courier New" pitchFamily="34" charset="0"/>
                <a:ea typeface="Courier New" pitchFamily="34" charset="-122"/>
                <a:cs typeface="Courier New" pitchFamily="34" charset="-120"/>
              </a:rPr>
              <a:t>YEAR III</a:t>
            </a:r>
            <a:endParaRPr lang="en-US" sz="900" dirty="0"/>
          </a:p>
        </p:txBody>
      </p:sp>
      <p:sp>
        <p:nvSpPr>
          <p:cNvPr id="153" name="Text 143"/>
          <p:cNvSpPr/>
          <p:nvPr/>
        </p:nvSpPr>
        <p:spPr>
          <a:xfrm>
            <a:off x="13640246" y="5757863"/>
            <a:ext cx="5018150"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ECE6D6"/>
                </a:solidFill>
                <a:latin typeface="Georgia" pitchFamily="34" charset="0"/>
                <a:ea typeface="Georgia" pitchFamily="34" charset="-122"/>
                <a:cs typeface="Georgia" pitchFamily="34" charset="-120"/>
              </a:rPr>
              <a:t>Oath of Salt</a:t>
            </a:r>
            <a:endParaRPr lang="en-US" sz="1350" dirty="0"/>
          </a:p>
        </p:txBody>
      </p:sp>
      <p:sp>
        <p:nvSpPr>
          <p:cNvPr id="154" name="Shape 144"/>
          <p:cNvSpPr/>
          <p:nvPr/>
        </p:nvSpPr>
        <p:spPr>
          <a:xfrm>
            <a:off x="13373546" y="6210300"/>
            <a:ext cx="180975" cy="180975"/>
          </a:xfrm>
          <a:prstGeom prst="ellipse">
            <a:avLst/>
          </a:prstGeom>
          <a:solidFill>
            <a:srgbClr val="0B0A0F"/>
          </a:solidFill>
          <a:ln w="19050">
            <a:solidFill>
              <a:srgbClr val="8A1F2A"/>
            </a:solidFill>
            <a:prstDash val="solid"/>
          </a:ln>
        </p:spPr>
      </p:sp>
      <p:sp>
        <p:nvSpPr>
          <p:cNvPr id="155" name="Text 145"/>
          <p:cNvSpPr/>
          <p:nvPr/>
        </p:nvSpPr>
        <p:spPr>
          <a:xfrm>
            <a:off x="13640246" y="6181725"/>
            <a:ext cx="50181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837B66"/>
                </a:solidFill>
                <a:latin typeface="Courier New" pitchFamily="34" charset="0"/>
                <a:ea typeface="Courier New" pitchFamily="34" charset="-122"/>
                <a:cs typeface="Courier New" pitchFamily="34" charset="-120"/>
              </a:rPr>
              <a:t>YEAR IV</a:t>
            </a:r>
            <a:endParaRPr lang="en-US" sz="900" dirty="0"/>
          </a:p>
        </p:txBody>
      </p:sp>
      <p:sp>
        <p:nvSpPr>
          <p:cNvPr id="156" name="Text 146"/>
          <p:cNvSpPr/>
          <p:nvPr/>
        </p:nvSpPr>
        <p:spPr>
          <a:xfrm>
            <a:off x="13640246" y="6357938"/>
            <a:ext cx="5018150"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ECE6D6"/>
                </a:solidFill>
                <a:latin typeface="Georgia" pitchFamily="34" charset="0"/>
                <a:ea typeface="Georgia" pitchFamily="34" charset="-122"/>
                <a:cs typeface="Georgia" pitchFamily="34" charset="-120"/>
              </a:rPr>
              <a:t>The Drowning</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438150"/>
            <a:ext cx="5396404" cy="252413"/>
          </a:xfrm>
          <a:prstGeom prst="rect">
            <a:avLst/>
          </a:prstGeom>
          <a:noFill/>
          <a:ln/>
        </p:spPr>
        <p:txBody>
          <a:bodyPr wrap="square" lIns="25400" tIns="25400" rIns="25400" bIns="25400" rtlCol="0" anchor="t">
            <a:normAutofit/>
          </a:bodyPr>
          <a:lstStyle/>
          <a:p>
            <a:pPr algn="l" indent="0" marL="0">
              <a:buNone/>
            </a:pPr>
            <a:r>
              <a:rPr lang="en-US" sz="1275" spc="332" kern="0" dirty="0">
                <a:solidFill>
                  <a:srgbClr val="DB4A3F"/>
                </a:solidFill>
                <a:latin typeface="Courier New" pitchFamily="34" charset="0"/>
                <a:ea typeface="Courier New" pitchFamily="34" charset="-122"/>
                <a:cs typeface="Courier New" pitchFamily="34" charset="-120"/>
              </a:rPr>
              <a:t>LIBRARY</a:t>
            </a:r>
            <a:endParaRPr lang="en-US" sz="1275" dirty="0"/>
          </a:p>
        </p:txBody>
      </p:sp>
      <p:sp>
        <p:nvSpPr>
          <p:cNvPr id="4" name="Text 2"/>
          <p:cNvSpPr/>
          <p:nvPr/>
        </p:nvSpPr>
        <p:spPr>
          <a:xfrm>
            <a:off x="533400" y="766763"/>
            <a:ext cx="5396404"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b="1" spc="-34" kern="0" dirty="0">
                <a:solidFill>
                  <a:srgbClr val="ECE6D6"/>
                </a:solidFill>
                <a:latin typeface="Georgia" pitchFamily="34" charset="0"/>
                <a:ea typeface="Georgia" pitchFamily="34" charset="-122"/>
                <a:cs typeface="Georgia" pitchFamily="34" charset="-120"/>
              </a:rPr>
              <a:t>UI Elements — Light Skin</a:t>
            </a:r>
            <a:endParaRPr lang="en-US" sz="3450" dirty="0"/>
          </a:p>
        </p:txBody>
      </p:sp>
      <p:sp>
        <p:nvSpPr>
          <p:cNvPr id="5" name="Shape 3"/>
          <p:cNvSpPr/>
          <p:nvPr/>
        </p:nvSpPr>
        <p:spPr>
          <a:xfrm>
            <a:off x="15400958" y="438150"/>
            <a:ext cx="2353642" cy="381000"/>
          </a:xfrm>
          <a:prstGeom prst="roundRect">
            <a:avLst>
              <a:gd name="adj" fmla="val 50000"/>
            </a:avLst>
          </a:prstGeom>
          <a:solidFill>
            <a:srgbClr val="F6F3FB"/>
          </a:solidFill>
          <a:ln w="9525">
            <a:solidFill>
              <a:srgbClr val="C7BBDC"/>
            </a:solidFill>
            <a:prstDash val="solid"/>
          </a:ln>
        </p:spPr>
      </p:sp>
      <p:sp>
        <p:nvSpPr>
          <p:cNvPr id="6" name="Shape 4"/>
          <p:cNvSpPr/>
          <p:nvPr/>
        </p:nvSpPr>
        <p:spPr>
          <a:xfrm>
            <a:off x="15515258" y="533400"/>
            <a:ext cx="190500" cy="190500"/>
          </a:xfrm>
          <a:prstGeom prst="ellipse">
            <a:avLst/>
          </a:prstGeom>
          <a:solidFill>
            <a:srgbClr val="ECE8F2"/>
          </a:solidFill>
          <a:ln w="9525">
            <a:solidFill>
              <a:srgbClr val="FFFFFF">
                <a:alpha val="18000"/>
              </a:srgbClr>
            </a:solidFill>
            <a:prstDash val="solid"/>
          </a:ln>
        </p:spPr>
      </p:sp>
      <p:sp>
        <p:nvSpPr>
          <p:cNvPr id="7" name="Text 5"/>
          <p:cNvSpPr/>
          <p:nvPr/>
        </p:nvSpPr>
        <p:spPr>
          <a:xfrm>
            <a:off x="15801008" y="533400"/>
            <a:ext cx="1867867" cy="228600"/>
          </a:xfrm>
          <a:prstGeom prst="rect">
            <a:avLst/>
          </a:prstGeom>
          <a:noFill/>
          <a:ln/>
        </p:spPr>
        <p:txBody>
          <a:bodyPr wrap="none" lIns="0" tIns="0" rIns="0" bIns="0" rtlCol="0" anchor="t">
            <a:normAutofit/>
          </a:bodyPr>
          <a:lstStyle/>
          <a:p>
            <a:pPr algn="l" indent="0" marL="0">
              <a:buNone/>
            </a:pPr>
            <a:r>
              <a:rPr lang="en-US" sz="1125" spc="68" kern="0" dirty="0">
                <a:solidFill>
                  <a:srgbClr val="3D3554"/>
                </a:solidFill>
                <a:latin typeface="Courier New" pitchFamily="34" charset="0"/>
                <a:ea typeface="Courier New" pitchFamily="34" charset="-122"/>
                <a:cs typeface="Courier New" pitchFamily="34" charset="-120"/>
              </a:rPr>
              <a:t>Light · ttrpg-light</a:t>
            </a:r>
            <a:endParaRPr lang="en-US" sz="1125" dirty="0"/>
          </a:p>
        </p:txBody>
      </p:sp>
      <p:sp>
        <p:nvSpPr>
          <p:cNvPr id="8" name="Shape 6"/>
          <p:cNvSpPr/>
          <p:nvPr/>
        </p:nvSpPr>
        <p:spPr>
          <a:xfrm>
            <a:off x="533400" y="1452563"/>
            <a:ext cx="17221200" cy="8339137"/>
          </a:xfrm>
          <a:prstGeom prst="roundRect">
            <a:avLst>
              <a:gd name="adj" fmla="val 1371"/>
            </a:avLst>
          </a:prstGeom>
          <a:ln w="9525">
            <a:solidFill>
              <a:srgbClr val="46454F"/>
            </a:solidFill>
            <a:prstDash val="solid"/>
          </a:ln>
          <a:effectLst>
            <a:outerShdw sx="100000" sy="100000" kx="0" ky="0" algn="bl" rotWithShape="0" blurRad="457200" dist="171450" dir="5400000">
              <a:srgbClr val="000000">
                <a:alpha val="52000"/>
              </a:srgbClr>
            </a:outerShdw>
          </a:effectLst>
        </p:spPr>
      </p:sp>
      <p:sp>
        <p:nvSpPr>
          <p:cNvPr id="9" name="Shape 7"/>
          <p:cNvSpPr/>
          <p:nvPr/>
        </p:nvSpPr>
        <p:spPr>
          <a:xfrm>
            <a:off x="542925" y="1462088"/>
            <a:ext cx="18116550" cy="9005888"/>
          </a:xfrm>
          <a:prstGeom prst="rect">
            <a:avLst/>
          </a:prstGeom>
          <a:solidFill>
            <a:srgbClr val="ECE8F2"/>
          </a:solidFill>
          <a:ln/>
        </p:spPr>
      </p:sp>
      <p:sp>
        <p:nvSpPr>
          <p:cNvPr id="10" name="Text 8"/>
          <p:cNvSpPr/>
          <p:nvPr/>
        </p:nvSpPr>
        <p:spPr>
          <a:xfrm>
            <a:off x="1000125" y="1804988"/>
            <a:ext cx="6786964"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BUTTONS</a:t>
            </a:r>
            <a:endParaRPr lang="en-US" sz="825" dirty="0"/>
          </a:p>
        </p:txBody>
      </p:sp>
      <p:sp>
        <p:nvSpPr>
          <p:cNvPr id="11" name="Shape 9"/>
          <p:cNvSpPr/>
          <p:nvPr/>
        </p:nvSpPr>
        <p:spPr>
          <a:xfrm>
            <a:off x="1000125" y="2076450"/>
            <a:ext cx="1478087" cy="361950"/>
          </a:xfrm>
          <a:prstGeom prst="roundRect">
            <a:avLst>
              <a:gd name="adj" fmla="val 7895"/>
            </a:avLst>
          </a:prstGeom>
          <a:solidFill>
            <a:srgbClr val="4A3478"/>
          </a:solidFill>
          <a:ln w="9525">
            <a:solidFill>
              <a:srgbClr val="4A3478"/>
            </a:solidFill>
            <a:prstDash val="solid"/>
          </a:ln>
          <a:effectLst>
            <a:outerShdw sx="100000" sy="100000" kx="0" ky="0" algn="bl" rotWithShape="0" blurRad="19050" dist="9525" dir="5400000">
              <a:srgbClr val="000000">
                <a:alpha val="35000"/>
              </a:srgbClr>
            </a:outerShdw>
          </a:effectLst>
        </p:spPr>
      </p:sp>
      <p:sp>
        <p:nvSpPr>
          <p:cNvPr id="12" name="Text 10"/>
          <p:cNvSpPr/>
          <p:nvPr/>
        </p:nvSpPr>
        <p:spPr>
          <a:xfrm>
            <a:off x="1143000" y="2181225"/>
            <a:ext cx="1192337"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FBF9FE"/>
                </a:solidFill>
                <a:latin typeface="Georgia" pitchFamily="34" charset="0"/>
                <a:ea typeface="Georgia" pitchFamily="34" charset="-122"/>
                <a:cs typeface="Georgia" pitchFamily="34" charset="-120"/>
              </a:rPr>
              <a:t>Swear the Oath</a:t>
            </a:r>
            <a:endParaRPr lang="en-US" sz="1200" dirty="0"/>
          </a:p>
        </p:txBody>
      </p:sp>
      <p:sp>
        <p:nvSpPr>
          <p:cNvPr id="13" name="Shape 11"/>
          <p:cNvSpPr/>
          <p:nvPr/>
        </p:nvSpPr>
        <p:spPr>
          <a:xfrm>
            <a:off x="2592512" y="2076450"/>
            <a:ext cx="1084511" cy="361950"/>
          </a:xfrm>
          <a:prstGeom prst="roundRect">
            <a:avLst>
              <a:gd name="adj" fmla="val 7895"/>
            </a:avLst>
          </a:prstGeom>
          <a:solidFill>
            <a:srgbClr val="FBF9FE"/>
          </a:solidFill>
          <a:ln w="9525">
            <a:solidFill>
              <a:srgbClr val="AB9CC6"/>
            </a:solidFill>
            <a:prstDash val="solid"/>
          </a:ln>
          <a:effectLst>
            <a:outerShdw sx="100000" sy="100000" kx="0" ky="0" algn="bl" rotWithShape="0" blurRad="19050" dist="9525" dir="5400000">
              <a:srgbClr val="000000">
                <a:alpha val="35000"/>
              </a:srgbClr>
            </a:outerShdw>
          </a:effectLst>
        </p:spPr>
      </p:sp>
      <p:sp>
        <p:nvSpPr>
          <p:cNvPr id="14" name="Text 12"/>
          <p:cNvSpPr/>
          <p:nvPr/>
        </p:nvSpPr>
        <p:spPr>
          <a:xfrm>
            <a:off x="2735387" y="2181225"/>
            <a:ext cx="798761"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1A1626"/>
                </a:solidFill>
                <a:latin typeface="Georgia" pitchFamily="34" charset="0"/>
                <a:ea typeface="Georgia" pitchFamily="34" charset="-122"/>
                <a:cs typeface="Georgia" pitchFamily="34" charset="-120"/>
              </a:rPr>
              <a:t>Withdraw</a:t>
            </a:r>
            <a:endParaRPr lang="en-US" sz="1200" dirty="0"/>
          </a:p>
        </p:txBody>
      </p:sp>
      <p:sp>
        <p:nvSpPr>
          <p:cNvPr id="15" name="Text 13"/>
          <p:cNvSpPr/>
          <p:nvPr/>
        </p:nvSpPr>
        <p:spPr>
          <a:xfrm>
            <a:off x="3934197" y="2181225"/>
            <a:ext cx="563984"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3D3554"/>
                </a:solidFill>
                <a:latin typeface="Georgia" pitchFamily="34" charset="0"/>
                <a:ea typeface="Georgia" pitchFamily="34" charset="-122"/>
                <a:cs typeface="Georgia" pitchFamily="34" charset="-120"/>
              </a:rPr>
              <a:t>Cancel</a:t>
            </a:r>
            <a:endParaRPr lang="en-US" sz="1200" dirty="0"/>
          </a:p>
        </p:txBody>
      </p:sp>
      <p:sp>
        <p:nvSpPr>
          <p:cNvPr id="16" name="Shape 14"/>
          <p:cNvSpPr/>
          <p:nvPr/>
        </p:nvSpPr>
        <p:spPr>
          <a:xfrm>
            <a:off x="1000125" y="2552700"/>
            <a:ext cx="1360363" cy="361950"/>
          </a:xfrm>
          <a:prstGeom prst="roundRect">
            <a:avLst>
              <a:gd name="adj" fmla="val 7895"/>
            </a:avLst>
          </a:prstGeom>
          <a:ln w="9525">
            <a:solidFill>
              <a:srgbClr val="8A1F2A"/>
            </a:solidFill>
            <a:prstDash val="solid"/>
          </a:ln>
        </p:spPr>
      </p:sp>
      <p:sp>
        <p:nvSpPr>
          <p:cNvPr id="17" name="Text 15"/>
          <p:cNvSpPr/>
          <p:nvPr/>
        </p:nvSpPr>
        <p:spPr>
          <a:xfrm>
            <a:off x="1143000" y="2657475"/>
            <a:ext cx="1074613"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8A1F2A"/>
                </a:solidFill>
                <a:latin typeface="Georgia" pitchFamily="34" charset="0"/>
                <a:ea typeface="Georgia" pitchFamily="34" charset="-122"/>
                <a:cs typeface="Georgia" pitchFamily="34" charset="-120"/>
              </a:rPr>
              <a:t>Strike Record</a:t>
            </a:r>
            <a:endParaRPr lang="en-US" sz="1200" dirty="0"/>
          </a:p>
        </p:txBody>
      </p:sp>
      <p:sp>
        <p:nvSpPr>
          <p:cNvPr id="18" name="Shape 16"/>
          <p:cNvSpPr/>
          <p:nvPr/>
        </p:nvSpPr>
        <p:spPr>
          <a:xfrm>
            <a:off x="2474788" y="2552700"/>
            <a:ext cx="902271" cy="361950"/>
          </a:xfrm>
          <a:prstGeom prst="roundRect">
            <a:avLst>
              <a:gd name="adj" fmla="val 7895"/>
            </a:avLst>
          </a:prstGeom>
          <a:solidFill>
            <a:srgbClr val="4A3478"/>
          </a:solidFill>
          <a:ln w="9525">
            <a:solidFill>
              <a:srgbClr val="4A3478"/>
            </a:solidFill>
            <a:prstDash val="solid"/>
          </a:ln>
          <a:effectLst>
            <a:outerShdw sx="100000" sy="100000" kx="0" ky="0" algn="bl" rotWithShape="0" blurRad="19050" dist="9525" dir="5400000">
              <a:srgbClr val="000000">
                <a:alpha val="35000"/>
              </a:srgbClr>
            </a:outerShdw>
          </a:effectLst>
        </p:spPr>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55763" y="2662238"/>
            <a:ext cx="142875" cy="142875"/>
          </a:xfrm>
          <a:prstGeom prst="rect">
            <a:avLst/>
          </a:prstGeom>
        </p:spPr>
      </p:pic>
      <p:sp>
        <p:nvSpPr>
          <p:cNvPr id="20" name="Text 17"/>
          <p:cNvSpPr/>
          <p:nvPr/>
        </p:nvSpPr>
        <p:spPr>
          <a:xfrm>
            <a:off x="2836738" y="2657475"/>
            <a:ext cx="397446" cy="190500"/>
          </a:xfrm>
          <a:prstGeom prst="rect">
            <a:avLst/>
          </a:prstGeom>
          <a:noFill/>
          <a:ln/>
        </p:spPr>
        <p:txBody>
          <a:bodyPr wrap="square" lIns="25400" tIns="25400" rIns="25400" bIns="25400" rtlCol="0" anchor="t">
            <a:normAutofit/>
          </a:bodyPr>
          <a:lstStyle/>
          <a:p>
            <a:pPr algn="ctr" indent="0" marL="0">
              <a:lnSpc>
                <a:spcPct val="100000"/>
              </a:lnSpc>
              <a:buNone/>
            </a:pPr>
            <a:r>
              <a:rPr lang="en-US" sz="1200" b="1" spc="48" kern="0" dirty="0">
                <a:solidFill>
                  <a:srgbClr val="FBF9FE"/>
                </a:solidFill>
                <a:latin typeface="Georgia" pitchFamily="34" charset="0"/>
                <a:ea typeface="Georgia" pitchFamily="34" charset="-122"/>
                <a:cs typeface="Georgia" pitchFamily="34" charset="-120"/>
              </a:rPr>
              <a:t>New</a:t>
            </a:r>
            <a:endParaRPr lang="en-US" sz="1200" dirty="0"/>
          </a:p>
        </p:txBody>
      </p:sp>
      <p:sp>
        <p:nvSpPr>
          <p:cNvPr id="21" name="Shape 18"/>
          <p:cNvSpPr/>
          <p:nvPr/>
        </p:nvSpPr>
        <p:spPr>
          <a:xfrm>
            <a:off x="3491359" y="2552700"/>
            <a:ext cx="361950" cy="361950"/>
          </a:xfrm>
          <a:prstGeom prst="roundRect">
            <a:avLst>
              <a:gd name="adj" fmla="val 7895"/>
            </a:avLst>
          </a:prstGeom>
          <a:solidFill>
            <a:srgbClr val="FBF9FE"/>
          </a:solidFill>
          <a:ln w="9525">
            <a:solidFill>
              <a:srgbClr val="C7BBDC"/>
            </a:solidFill>
            <a:prstDash val="solid"/>
          </a:ln>
        </p:spPr>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00896" y="2662238"/>
            <a:ext cx="142875" cy="142875"/>
          </a:xfrm>
          <a:prstGeom prst="rect">
            <a:avLst/>
          </a:prstGeom>
        </p:spPr>
      </p:pic>
      <p:sp>
        <p:nvSpPr>
          <p:cNvPr id="23" name="Shape 19"/>
          <p:cNvSpPr/>
          <p:nvPr/>
        </p:nvSpPr>
        <p:spPr>
          <a:xfrm>
            <a:off x="3967609" y="2552700"/>
            <a:ext cx="361950" cy="361950"/>
          </a:xfrm>
          <a:prstGeom prst="roundRect">
            <a:avLst>
              <a:gd name="adj" fmla="val 7895"/>
            </a:avLst>
          </a:prstGeom>
          <a:solidFill>
            <a:srgbClr val="4A3478"/>
          </a:solidFill>
          <a:ln w="9525">
            <a:solidFill>
              <a:srgbClr val="4A3478"/>
            </a:solidFill>
            <a:prstDash val="solid"/>
          </a:ln>
        </p:spPr>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77146" y="2662238"/>
            <a:ext cx="142875" cy="142875"/>
          </a:xfrm>
          <a:prstGeom prst="rect">
            <a:avLst/>
          </a:prstGeom>
        </p:spPr>
      </p:pic>
      <p:sp>
        <p:nvSpPr>
          <p:cNvPr id="25" name="Text 20"/>
          <p:cNvSpPr/>
          <p:nvPr/>
        </p:nvSpPr>
        <p:spPr>
          <a:xfrm>
            <a:off x="1000125" y="3200400"/>
            <a:ext cx="6786964"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BADGES &amp; TAGS</a:t>
            </a:r>
            <a:endParaRPr lang="en-US" sz="825" dirty="0"/>
          </a:p>
        </p:txBody>
      </p:sp>
      <p:sp>
        <p:nvSpPr>
          <p:cNvPr id="26" name="Shape 21"/>
          <p:cNvSpPr/>
          <p:nvPr/>
        </p:nvSpPr>
        <p:spPr>
          <a:xfrm>
            <a:off x="1000125" y="3471863"/>
            <a:ext cx="743769" cy="217140"/>
          </a:xfrm>
          <a:prstGeom prst="roundRect">
            <a:avLst>
              <a:gd name="adj" fmla="val 50000"/>
            </a:avLst>
          </a:prstGeom>
          <a:solidFill>
            <a:srgbClr val="4A3478">
              <a:alpha val="12000"/>
            </a:srgbClr>
          </a:solidFill>
          <a:ln/>
        </p:spPr>
      </p:sp>
      <p:sp>
        <p:nvSpPr>
          <p:cNvPr id="27" name="Shape 22"/>
          <p:cNvSpPr/>
          <p:nvPr/>
        </p:nvSpPr>
        <p:spPr>
          <a:xfrm>
            <a:off x="1095375" y="3551858"/>
            <a:ext cx="57150" cy="57150"/>
          </a:xfrm>
          <a:prstGeom prst="ellipse">
            <a:avLst/>
          </a:prstGeom>
          <a:solidFill>
            <a:srgbClr val="4A3478"/>
          </a:solidFill>
          <a:ln/>
        </p:spPr>
      </p:sp>
      <p:sp>
        <p:nvSpPr>
          <p:cNvPr id="28" name="Text 23"/>
          <p:cNvSpPr/>
          <p:nvPr/>
        </p:nvSpPr>
        <p:spPr>
          <a:xfrm>
            <a:off x="1209675" y="350043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4A3478"/>
                </a:solidFill>
                <a:latin typeface="Courier New" pitchFamily="34" charset="0"/>
                <a:ea typeface="Courier New" pitchFamily="34" charset="-122"/>
                <a:cs typeface="Courier New" pitchFamily="34" charset="-120"/>
              </a:rPr>
              <a:t>ACTIVE</a:t>
            </a:r>
            <a:endParaRPr lang="en-US" sz="900" dirty="0"/>
          </a:p>
        </p:txBody>
      </p:sp>
      <p:sp>
        <p:nvSpPr>
          <p:cNvPr id="29" name="Shape 24"/>
          <p:cNvSpPr/>
          <p:nvPr/>
        </p:nvSpPr>
        <p:spPr>
          <a:xfrm>
            <a:off x="1839144" y="3471863"/>
            <a:ext cx="670620" cy="217140"/>
          </a:xfrm>
          <a:prstGeom prst="roundRect">
            <a:avLst>
              <a:gd name="adj" fmla="val 50000"/>
            </a:avLst>
          </a:prstGeom>
          <a:solidFill>
            <a:srgbClr val="5B7A4E">
              <a:alpha val="16000"/>
            </a:srgbClr>
          </a:solidFill>
          <a:ln/>
        </p:spPr>
      </p:sp>
      <p:sp>
        <p:nvSpPr>
          <p:cNvPr id="30" name="Shape 25"/>
          <p:cNvSpPr/>
          <p:nvPr/>
        </p:nvSpPr>
        <p:spPr>
          <a:xfrm>
            <a:off x="1934394" y="3551858"/>
            <a:ext cx="57150" cy="57150"/>
          </a:xfrm>
          <a:prstGeom prst="ellipse">
            <a:avLst/>
          </a:prstGeom>
          <a:solidFill>
            <a:srgbClr val="5B7A4E"/>
          </a:solidFill>
          <a:ln/>
        </p:spPr>
      </p:sp>
      <p:sp>
        <p:nvSpPr>
          <p:cNvPr id="31" name="Text 26"/>
          <p:cNvSpPr/>
          <p:nvPr/>
        </p:nvSpPr>
        <p:spPr>
          <a:xfrm>
            <a:off x="2048694" y="3500438"/>
            <a:ext cx="442020"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32" name="Shape 27"/>
          <p:cNvSpPr/>
          <p:nvPr/>
        </p:nvSpPr>
        <p:spPr>
          <a:xfrm>
            <a:off x="2605013" y="3471863"/>
            <a:ext cx="816918" cy="217140"/>
          </a:xfrm>
          <a:prstGeom prst="roundRect">
            <a:avLst>
              <a:gd name="adj" fmla="val 50000"/>
            </a:avLst>
          </a:prstGeom>
          <a:solidFill>
            <a:srgbClr val="B5601F">
              <a:alpha val="16000"/>
            </a:srgbClr>
          </a:solidFill>
          <a:ln/>
        </p:spPr>
      </p:sp>
      <p:sp>
        <p:nvSpPr>
          <p:cNvPr id="33" name="Shape 28"/>
          <p:cNvSpPr/>
          <p:nvPr/>
        </p:nvSpPr>
        <p:spPr>
          <a:xfrm>
            <a:off x="2700263" y="3551858"/>
            <a:ext cx="57150" cy="57150"/>
          </a:xfrm>
          <a:prstGeom prst="ellipse">
            <a:avLst/>
          </a:prstGeom>
          <a:solidFill>
            <a:srgbClr val="B5601F"/>
          </a:solidFill>
          <a:ln/>
        </p:spPr>
      </p:sp>
      <p:sp>
        <p:nvSpPr>
          <p:cNvPr id="34" name="Text 29"/>
          <p:cNvSpPr/>
          <p:nvPr/>
        </p:nvSpPr>
        <p:spPr>
          <a:xfrm>
            <a:off x="2814563" y="3500438"/>
            <a:ext cx="588318"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B5601F"/>
                </a:solidFill>
                <a:latin typeface="Courier New" pitchFamily="34" charset="0"/>
                <a:ea typeface="Courier New" pitchFamily="34" charset="-122"/>
                <a:cs typeface="Courier New" pitchFamily="34" charset="-120"/>
              </a:rPr>
              <a:t>WOUNDED</a:t>
            </a:r>
            <a:endParaRPr lang="en-US" sz="900" dirty="0"/>
          </a:p>
        </p:txBody>
      </p:sp>
      <p:sp>
        <p:nvSpPr>
          <p:cNvPr id="35" name="Shape 30"/>
          <p:cNvSpPr/>
          <p:nvPr/>
        </p:nvSpPr>
        <p:spPr>
          <a:xfrm>
            <a:off x="3517181" y="3471863"/>
            <a:ext cx="743769" cy="217140"/>
          </a:xfrm>
          <a:prstGeom prst="roundRect">
            <a:avLst>
              <a:gd name="adj" fmla="val 50000"/>
            </a:avLst>
          </a:prstGeom>
          <a:solidFill>
            <a:srgbClr val="8A1F2A">
              <a:alpha val="18000"/>
            </a:srgbClr>
          </a:solidFill>
          <a:ln/>
        </p:spPr>
      </p:sp>
      <p:sp>
        <p:nvSpPr>
          <p:cNvPr id="36" name="Shape 31"/>
          <p:cNvSpPr/>
          <p:nvPr/>
        </p:nvSpPr>
        <p:spPr>
          <a:xfrm>
            <a:off x="3612431" y="3551858"/>
            <a:ext cx="57150" cy="57150"/>
          </a:xfrm>
          <a:prstGeom prst="ellipse">
            <a:avLst/>
          </a:prstGeom>
          <a:solidFill>
            <a:srgbClr val="8A1F2A"/>
          </a:solidFill>
          <a:ln/>
        </p:spPr>
      </p:sp>
      <p:sp>
        <p:nvSpPr>
          <p:cNvPr id="37" name="Text 32"/>
          <p:cNvSpPr/>
          <p:nvPr/>
        </p:nvSpPr>
        <p:spPr>
          <a:xfrm>
            <a:off x="3726731" y="350043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8A1F2A"/>
                </a:solidFill>
                <a:latin typeface="Courier New" pitchFamily="34" charset="0"/>
                <a:ea typeface="Courier New" pitchFamily="34" charset="-122"/>
                <a:cs typeface="Courier New" pitchFamily="34" charset="-120"/>
              </a:rPr>
              <a:t>FALLEN</a:t>
            </a:r>
            <a:endParaRPr lang="en-US" sz="900" dirty="0"/>
          </a:p>
        </p:txBody>
      </p:sp>
      <p:sp>
        <p:nvSpPr>
          <p:cNvPr id="38" name="Shape 33"/>
          <p:cNvSpPr/>
          <p:nvPr/>
        </p:nvSpPr>
        <p:spPr>
          <a:xfrm>
            <a:off x="4356199" y="3471863"/>
            <a:ext cx="629469" cy="217140"/>
          </a:xfrm>
          <a:prstGeom prst="roundRect">
            <a:avLst>
              <a:gd name="adj" fmla="val 50000"/>
            </a:avLst>
          </a:prstGeom>
          <a:ln w="9525">
            <a:solidFill>
              <a:srgbClr val="2C4F6E"/>
            </a:solidFill>
            <a:prstDash val="solid"/>
          </a:ln>
        </p:spPr>
      </p:sp>
      <p:sp>
        <p:nvSpPr>
          <p:cNvPr id="39" name="Text 34"/>
          <p:cNvSpPr/>
          <p:nvPr/>
        </p:nvSpPr>
        <p:spPr>
          <a:xfrm>
            <a:off x="4451449" y="3500438"/>
            <a:ext cx="515169" cy="198090"/>
          </a:xfrm>
          <a:prstGeom prst="rect">
            <a:avLst/>
          </a:prstGeom>
          <a:noFill/>
          <a:ln/>
        </p:spPr>
        <p:txBody>
          <a:bodyPr wrap="square" lIns="25400" tIns="25400" rIns="25400" bIns="25400" rtlCol="0" anchor="t">
            <a:normAutofit/>
          </a:bodyPr>
          <a:lstStyle/>
          <a:p>
            <a:pPr algn="l" indent="0" marL="0">
              <a:lnSpc>
                <a:spcPct val="140000"/>
              </a:lnSpc>
              <a:buNone/>
            </a:pPr>
            <a:r>
              <a:rPr lang="en-US" sz="900" spc="36" kern="0" dirty="0">
                <a:solidFill>
                  <a:srgbClr val="2C4F6E"/>
                </a:solidFill>
                <a:latin typeface="Courier New" pitchFamily="34" charset="0"/>
                <a:ea typeface="Courier New" pitchFamily="34" charset="-122"/>
                <a:cs typeface="Courier New" pitchFamily="34" charset="-120"/>
              </a:rPr>
              <a:t>MASTER</a:t>
            </a:r>
            <a:endParaRPr lang="en-US" sz="900" dirty="0"/>
          </a:p>
        </p:txBody>
      </p:sp>
      <p:sp>
        <p:nvSpPr>
          <p:cNvPr id="40" name="Shape 35"/>
          <p:cNvSpPr/>
          <p:nvPr/>
        </p:nvSpPr>
        <p:spPr>
          <a:xfrm>
            <a:off x="1000125" y="3803303"/>
            <a:ext cx="789533" cy="300038"/>
          </a:xfrm>
          <a:prstGeom prst="roundRect">
            <a:avLst>
              <a:gd name="adj" fmla="val 9524"/>
            </a:avLst>
          </a:prstGeom>
          <a:solidFill>
            <a:srgbClr val="FBF9FE"/>
          </a:solidFill>
          <a:ln w="9525">
            <a:solidFill>
              <a:srgbClr val="C7BBDC"/>
            </a:solidFill>
            <a:prstDash val="solid"/>
          </a:ln>
        </p:spPr>
      </p:sp>
      <p:sp>
        <p:nvSpPr>
          <p:cNvPr id="41" name="Text 36"/>
          <p:cNvSpPr/>
          <p:nvPr/>
        </p:nvSpPr>
        <p:spPr>
          <a:xfrm>
            <a:off x="1104900" y="3850928"/>
            <a:ext cx="656183" cy="242888"/>
          </a:xfrm>
          <a:prstGeom prst="rect">
            <a:avLst/>
          </a:prstGeom>
          <a:noFill/>
          <a:ln/>
        </p:spPr>
        <p:txBody>
          <a:bodyPr wrap="square" lIns="25400" tIns="25400" rIns="25400" bIns="25400" rtlCol="0" anchor="t">
            <a:normAutofit/>
          </a:bodyPr>
          <a:lstStyle/>
          <a:p>
            <a:pPr algn="l" indent="0" marL="0">
              <a:buNone/>
            </a:pPr>
            <a:r>
              <a:rPr lang="en-US" sz="1050" dirty="0">
                <a:solidFill>
                  <a:srgbClr val="3D3554"/>
                </a:solidFill>
                <a:latin typeface="Georgia" pitchFamily="34" charset="0"/>
                <a:ea typeface="Georgia" pitchFamily="34" charset="-122"/>
                <a:cs typeface="Georgia" pitchFamily="34" charset="-120"/>
              </a:rPr>
              <a:t>Runecraft</a:t>
            </a:r>
            <a:endParaRPr lang="en-US" sz="1050" dirty="0"/>
          </a:p>
        </p:txBody>
      </p:sp>
      <p:sp>
        <p:nvSpPr>
          <p:cNvPr id="42" name="Shape 37"/>
          <p:cNvSpPr/>
          <p:nvPr/>
        </p:nvSpPr>
        <p:spPr>
          <a:xfrm>
            <a:off x="1884908" y="3803303"/>
            <a:ext cx="701501" cy="300038"/>
          </a:xfrm>
          <a:prstGeom prst="roundRect">
            <a:avLst>
              <a:gd name="adj" fmla="val 9524"/>
            </a:avLst>
          </a:prstGeom>
          <a:solidFill>
            <a:srgbClr val="4A3478"/>
          </a:solidFill>
          <a:ln w="9525">
            <a:solidFill>
              <a:srgbClr val="4A3478"/>
            </a:solidFill>
            <a:prstDash val="solid"/>
          </a:ln>
        </p:spPr>
      </p:sp>
      <p:sp>
        <p:nvSpPr>
          <p:cNvPr id="43" name="Text 38"/>
          <p:cNvSpPr/>
          <p:nvPr/>
        </p:nvSpPr>
        <p:spPr>
          <a:xfrm>
            <a:off x="1989683" y="3850928"/>
            <a:ext cx="568151" cy="242888"/>
          </a:xfrm>
          <a:prstGeom prst="rect">
            <a:avLst/>
          </a:prstGeom>
          <a:noFill/>
          <a:ln/>
        </p:spPr>
        <p:txBody>
          <a:bodyPr wrap="square" lIns="25400" tIns="25400" rIns="25400" bIns="25400" rtlCol="0" anchor="t">
            <a:normAutofit/>
          </a:bodyPr>
          <a:lstStyle/>
          <a:p>
            <a:pPr algn="l" indent="0" marL="0">
              <a:buNone/>
            </a:pPr>
            <a:r>
              <a:rPr lang="en-US" sz="1050" dirty="0">
                <a:solidFill>
                  <a:srgbClr val="FBF9FE"/>
                </a:solidFill>
                <a:latin typeface="Georgia" pitchFamily="34" charset="0"/>
                <a:ea typeface="Georgia" pitchFamily="34" charset="-122"/>
                <a:cs typeface="Georgia" pitchFamily="34" charset="-120"/>
              </a:rPr>
              <a:t>Selected</a:t>
            </a:r>
            <a:endParaRPr lang="en-US" sz="1050" dirty="0"/>
          </a:p>
        </p:txBody>
      </p:sp>
      <p:sp>
        <p:nvSpPr>
          <p:cNvPr id="44" name="Shape 39"/>
          <p:cNvSpPr/>
          <p:nvPr/>
        </p:nvSpPr>
        <p:spPr>
          <a:xfrm>
            <a:off x="2681660" y="3803303"/>
            <a:ext cx="1036886" cy="300038"/>
          </a:xfrm>
          <a:prstGeom prst="roundRect">
            <a:avLst>
              <a:gd name="adj" fmla="val 9524"/>
            </a:avLst>
          </a:prstGeom>
          <a:solidFill>
            <a:srgbClr val="FBF9FE"/>
          </a:solidFill>
          <a:ln w="9525">
            <a:solidFill>
              <a:srgbClr val="C7BBDC"/>
            </a:solidFill>
            <a:prstDash val="solid"/>
          </a:ln>
        </p:spPr>
      </p:sp>
      <p:sp>
        <p:nvSpPr>
          <p:cNvPr id="45" name="Text 40"/>
          <p:cNvSpPr/>
          <p:nvPr/>
        </p:nvSpPr>
        <p:spPr>
          <a:xfrm>
            <a:off x="2786435" y="3850928"/>
            <a:ext cx="722561" cy="242888"/>
          </a:xfrm>
          <a:prstGeom prst="rect">
            <a:avLst/>
          </a:prstGeom>
          <a:noFill/>
          <a:ln/>
        </p:spPr>
        <p:txBody>
          <a:bodyPr wrap="square" lIns="25400" tIns="25400" rIns="25400" bIns="25400" rtlCol="0" anchor="t">
            <a:normAutofit/>
          </a:bodyPr>
          <a:lstStyle/>
          <a:p>
            <a:pPr algn="l" indent="0" marL="0">
              <a:buNone/>
            </a:pPr>
            <a:r>
              <a:rPr lang="en-US" sz="1050" dirty="0">
                <a:solidFill>
                  <a:srgbClr val="3D3554"/>
                </a:solidFill>
                <a:latin typeface="Georgia" pitchFamily="34" charset="0"/>
                <a:ea typeface="Georgia" pitchFamily="34" charset="-122"/>
                <a:cs typeface="Georgia" pitchFamily="34" charset="-120"/>
              </a:rPr>
              <a:t>Removable</a:t>
            </a:r>
            <a:endParaRPr lang="en-US" sz="1050" dirty="0"/>
          </a:p>
        </p:txBody>
      </p:sp>
      <p:pic>
        <p:nvPicPr>
          <p:cNvPr id="4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08995" y="3900934"/>
            <a:ext cx="104775" cy="104775"/>
          </a:xfrm>
          <a:prstGeom prst="rect">
            <a:avLst/>
          </a:prstGeom>
        </p:spPr>
      </p:pic>
      <p:sp>
        <p:nvSpPr>
          <p:cNvPr id="47" name="Text 41"/>
          <p:cNvSpPr/>
          <p:nvPr/>
        </p:nvSpPr>
        <p:spPr>
          <a:xfrm>
            <a:off x="1000125" y="4389090"/>
            <a:ext cx="6786964"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FORM CONTROLS</a:t>
            </a:r>
            <a:endParaRPr lang="en-US" sz="825" dirty="0"/>
          </a:p>
        </p:txBody>
      </p:sp>
      <p:sp>
        <p:nvSpPr>
          <p:cNvPr id="48" name="Shape 42"/>
          <p:cNvSpPr/>
          <p:nvPr/>
        </p:nvSpPr>
        <p:spPr>
          <a:xfrm>
            <a:off x="1000125" y="4660553"/>
            <a:ext cx="3695700" cy="442913"/>
          </a:xfrm>
          <a:prstGeom prst="roundRect">
            <a:avLst>
              <a:gd name="adj" fmla="val 6452"/>
            </a:avLst>
          </a:prstGeom>
          <a:solidFill>
            <a:srgbClr val="E5DFF0"/>
          </a:solidFill>
          <a:ln w="9525">
            <a:solidFill>
              <a:srgbClr val="C7BBDC"/>
            </a:solidFill>
            <a:prstDash val="solid"/>
          </a:ln>
        </p:spPr>
      </p:sp>
      <p:pic>
        <p:nvPicPr>
          <p:cNvPr id="49" name="Image 4" descr="preencoded.png">    </p:cNvPr>
          <p:cNvPicPr>
            <a:picLocks noChangeAspect="1"/>
          </p:cNvPicPr>
          <p:nvPr/>
        </p:nvPicPr>
        <p:blipFill>
          <a:blip r:embed="rId9"/>
          <a:stretch>
            <a:fillRect/>
          </a:stretch>
        </p:blipFill>
        <p:spPr>
          <a:xfrm>
            <a:off x="1000125" y="4660553"/>
            <a:ext cx="3695700" cy="442913"/>
          </a:xfrm>
          <a:prstGeom prst="rect">
            <a:avLst/>
          </a:prstGeom>
        </p:spPr>
      </p:pic>
      <p:sp>
        <p:nvSpPr>
          <p:cNvPr id="50" name="Shape 43"/>
          <p:cNvSpPr/>
          <p:nvPr/>
        </p:nvSpPr>
        <p:spPr>
          <a:xfrm>
            <a:off x="1000125" y="5236815"/>
            <a:ext cx="3429000" cy="442913"/>
          </a:xfrm>
          <a:prstGeom prst="roundRect">
            <a:avLst>
              <a:gd name="adj" fmla="val 6452"/>
            </a:avLst>
          </a:prstGeom>
          <a:solidFill>
            <a:srgbClr val="E5DFF0"/>
          </a:solidFill>
          <a:ln w="9525">
            <a:solidFill>
              <a:srgbClr val="C7BBDC"/>
            </a:solidFill>
            <a:prstDash val="solid"/>
          </a:ln>
        </p:spPr>
      </p:sp>
      <p:pic>
        <p:nvPicPr>
          <p:cNvPr id="51" name="Image 5" descr="preencoded.png">    </p:cNvPr>
          <p:cNvPicPr>
            <a:picLocks noChangeAspect="1"/>
          </p:cNvPicPr>
          <p:nvPr/>
        </p:nvPicPr>
        <p:blipFill>
          <a:blip r:embed="rId10"/>
          <a:stretch>
            <a:fillRect/>
          </a:stretch>
        </p:blipFill>
        <p:spPr>
          <a:xfrm>
            <a:off x="1000125" y="5236815"/>
            <a:ext cx="3429000" cy="442913"/>
          </a:xfrm>
          <a:prstGeom prst="rect">
            <a:avLst/>
          </a:prstGeom>
        </p:spPr>
      </p:pic>
      <p:pic>
        <p:nvPicPr>
          <p:cNvPr id="52"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91000" y="5401121"/>
            <a:ext cx="114300" cy="114300"/>
          </a:xfrm>
          <a:prstGeom prst="rect">
            <a:avLst/>
          </a:prstGeom>
        </p:spPr>
      </p:pic>
      <p:sp>
        <p:nvSpPr>
          <p:cNvPr id="53" name="Shape 44"/>
          <p:cNvSpPr/>
          <p:nvPr/>
        </p:nvSpPr>
        <p:spPr>
          <a:xfrm>
            <a:off x="1000125" y="5824984"/>
            <a:ext cx="209550" cy="209550"/>
          </a:xfrm>
          <a:prstGeom prst="roundRect">
            <a:avLst>
              <a:gd name="adj" fmla="val 9091"/>
            </a:avLst>
          </a:prstGeom>
          <a:solidFill>
            <a:srgbClr val="4A3478"/>
          </a:solidFill>
          <a:ln w="9525">
            <a:solidFill>
              <a:srgbClr val="4A3478"/>
            </a:solidFill>
            <a:prstDash val="solid"/>
          </a:ln>
        </p:spPr>
      </p:sp>
      <p:pic>
        <p:nvPicPr>
          <p:cNvPr id="54"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2988" y="5867846"/>
            <a:ext cx="123825" cy="123825"/>
          </a:xfrm>
          <a:prstGeom prst="rect">
            <a:avLst/>
          </a:prstGeom>
        </p:spPr>
      </p:pic>
      <p:sp>
        <p:nvSpPr>
          <p:cNvPr id="55" name="Text 45"/>
          <p:cNvSpPr/>
          <p:nvPr/>
        </p:nvSpPr>
        <p:spPr>
          <a:xfrm>
            <a:off x="1304925" y="5813078"/>
            <a:ext cx="842665" cy="271463"/>
          </a:xfrm>
          <a:prstGeom prst="rect">
            <a:avLst/>
          </a:prstGeom>
          <a:noFill/>
          <a:ln/>
        </p:spPr>
        <p:txBody>
          <a:bodyPr wrap="square" lIns="25400" tIns="25400" rIns="25400" bIns="25400" rtlCol="0" anchor="t">
            <a:normAutofit/>
          </a:bodyPr>
          <a:lstStyle/>
          <a:p>
            <a:pPr algn="l" indent="0" marL="0">
              <a:buNone/>
            </a:pPr>
            <a:r>
              <a:rPr lang="en-US" sz="1200" dirty="0">
                <a:solidFill>
                  <a:srgbClr val="1A1626"/>
                </a:solidFill>
                <a:latin typeface="Georgia" pitchFamily="34" charset="0"/>
                <a:ea typeface="Georgia" pitchFamily="34" charset="-122"/>
                <a:cs typeface="Georgia" pitchFamily="34" charset="-120"/>
              </a:rPr>
              <a:t>Oathbound</a:t>
            </a:r>
            <a:endParaRPr lang="en-US" sz="1200" dirty="0"/>
          </a:p>
        </p:txBody>
      </p:sp>
      <p:sp>
        <p:nvSpPr>
          <p:cNvPr id="56" name="Shape 46"/>
          <p:cNvSpPr/>
          <p:nvPr/>
        </p:nvSpPr>
        <p:spPr>
          <a:xfrm>
            <a:off x="2299990" y="5834509"/>
            <a:ext cx="323850" cy="190500"/>
          </a:xfrm>
          <a:prstGeom prst="roundRect">
            <a:avLst>
              <a:gd name="adj" fmla="val 50000"/>
            </a:avLst>
          </a:prstGeom>
          <a:solidFill>
            <a:srgbClr val="4A3478"/>
          </a:solidFill>
          <a:ln w="9525">
            <a:solidFill>
              <a:srgbClr val="4A3478"/>
            </a:solidFill>
            <a:prstDash val="solid"/>
          </a:ln>
        </p:spPr>
      </p:sp>
      <p:sp>
        <p:nvSpPr>
          <p:cNvPr id="57" name="Shape 47"/>
          <p:cNvSpPr/>
          <p:nvPr/>
        </p:nvSpPr>
        <p:spPr>
          <a:xfrm>
            <a:off x="2461915" y="5863084"/>
            <a:ext cx="133350" cy="133350"/>
          </a:xfrm>
          <a:prstGeom prst="ellipse">
            <a:avLst/>
          </a:prstGeom>
          <a:solidFill>
            <a:srgbClr val="FBF9FE"/>
          </a:solidFill>
          <a:ln/>
          <a:effectLst>
            <a:outerShdw sx="100000" sy="100000" kx="0" ky="0" algn="bl" rotWithShape="0" blurRad="19050" dist="9525" dir="5400000">
              <a:srgbClr val="000000">
                <a:alpha val="35000"/>
              </a:srgbClr>
            </a:outerShdw>
          </a:effectLst>
        </p:spPr>
      </p:sp>
      <p:sp>
        <p:nvSpPr>
          <p:cNvPr id="58" name="Text 48"/>
          <p:cNvSpPr/>
          <p:nvPr/>
        </p:nvSpPr>
        <p:spPr>
          <a:xfrm>
            <a:off x="2738140" y="5813078"/>
            <a:ext cx="960611" cy="271463"/>
          </a:xfrm>
          <a:prstGeom prst="rect">
            <a:avLst/>
          </a:prstGeom>
          <a:noFill/>
          <a:ln/>
        </p:spPr>
        <p:txBody>
          <a:bodyPr wrap="square" lIns="25400" tIns="25400" rIns="25400" bIns="25400" rtlCol="0" anchor="t">
            <a:normAutofit/>
          </a:bodyPr>
          <a:lstStyle/>
          <a:p>
            <a:pPr algn="l" indent="0" marL="0">
              <a:buNone/>
            </a:pPr>
            <a:r>
              <a:rPr lang="en-US" sz="1200" dirty="0">
                <a:solidFill>
                  <a:srgbClr val="1A1626"/>
                </a:solidFill>
                <a:latin typeface="Georgia" pitchFamily="34" charset="0"/>
                <a:ea typeface="Georgia" pitchFamily="34" charset="-122"/>
                <a:cs typeface="Georgia" pitchFamily="34" charset="-120"/>
              </a:rPr>
              <a:t>Master mode</a:t>
            </a:r>
            <a:endParaRPr lang="en-US" sz="1200" dirty="0"/>
          </a:p>
        </p:txBody>
      </p:sp>
      <p:sp>
        <p:nvSpPr>
          <p:cNvPr id="59" name="Text 49"/>
          <p:cNvSpPr/>
          <p:nvPr/>
        </p:nvSpPr>
        <p:spPr>
          <a:xfrm>
            <a:off x="1000125" y="6332190"/>
            <a:ext cx="6786964"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TABS</a:t>
            </a:r>
            <a:endParaRPr lang="en-US" sz="825" dirty="0"/>
          </a:p>
        </p:txBody>
      </p:sp>
      <p:sp>
        <p:nvSpPr>
          <p:cNvPr id="60" name="Shape 50"/>
          <p:cNvSpPr/>
          <p:nvPr/>
        </p:nvSpPr>
        <p:spPr>
          <a:xfrm>
            <a:off x="1000125" y="7017990"/>
            <a:ext cx="6169968" cy="9525"/>
          </a:xfrm>
          <a:prstGeom prst="rect">
            <a:avLst/>
          </a:prstGeom>
          <a:solidFill>
            <a:srgbClr val="D8D0E6"/>
          </a:solidFill>
          <a:ln/>
        </p:spPr>
      </p:sp>
      <p:sp>
        <p:nvSpPr>
          <p:cNvPr id="61" name="Text 51"/>
          <p:cNvSpPr/>
          <p:nvPr/>
        </p:nvSpPr>
        <p:spPr>
          <a:xfrm>
            <a:off x="1152525" y="6734621"/>
            <a:ext cx="430262" cy="190500"/>
          </a:xfrm>
          <a:prstGeom prst="rect">
            <a:avLst/>
          </a:prstGeom>
          <a:noFill/>
          <a:ln/>
        </p:spPr>
        <p:txBody>
          <a:bodyPr wrap="square" lIns="0" tIns="0" rIns="0" bIns="0" rtlCol="0" anchor="t">
            <a:normAutofit/>
          </a:bodyPr>
          <a:lstStyle/>
          <a:p>
            <a:pPr algn="ctr" indent="0" marL="0">
              <a:buNone/>
            </a:pPr>
            <a:r>
              <a:rPr lang="en-US" sz="1050" b="1" spc="42" kern="0" dirty="0">
                <a:solidFill>
                  <a:srgbClr val="1A1626"/>
                </a:solidFill>
                <a:latin typeface="Georgia" pitchFamily="34" charset="0"/>
                <a:ea typeface="Georgia" pitchFamily="34" charset="-122"/>
                <a:cs typeface="Georgia" pitchFamily="34" charset="-120"/>
              </a:rPr>
              <a:t>Sheet</a:t>
            </a:r>
            <a:endParaRPr lang="en-US" sz="1050" dirty="0"/>
          </a:p>
        </p:txBody>
      </p:sp>
      <p:sp>
        <p:nvSpPr>
          <p:cNvPr id="62" name="Shape 52"/>
          <p:cNvSpPr/>
          <p:nvPr/>
        </p:nvSpPr>
        <p:spPr>
          <a:xfrm>
            <a:off x="1000125" y="7008465"/>
            <a:ext cx="658862" cy="19050"/>
          </a:xfrm>
          <a:prstGeom prst="rect">
            <a:avLst/>
          </a:prstGeom>
          <a:solidFill>
            <a:srgbClr val="4A3478"/>
          </a:solidFill>
          <a:ln/>
        </p:spPr>
      </p:sp>
      <p:sp>
        <p:nvSpPr>
          <p:cNvPr id="63" name="Text 53"/>
          <p:cNvSpPr/>
          <p:nvPr/>
        </p:nvSpPr>
        <p:spPr>
          <a:xfrm>
            <a:off x="1849487" y="6708428"/>
            <a:ext cx="709910" cy="242888"/>
          </a:xfrm>
          <a:prstGeom prst="rect">
            <a:avLst/>
          </a:prstGeom>
          <a:noFill/>
          <a:ln/>
        </p:spPr>
        <p:txBody>
          <a:bodyPr wrap="square" lIns="0" tIns="0" rIns="0" bIns="0" rtlCol="0" anchor="t">
            <a:normAutofit/>
          </a:bodyPr>
          <a:lstStyle/>
          <a:p>
            <a:pPr algn="ctr" indent="0" marL="0">
              <a:buNone/>
            </a:pPr>
            <a:r>
              <a:rPr lang="en-US" sz="1050" spc="42" kern="0" dirty="0">
                <a:solidFill>
                  <a:srgbClr val="6E6485"/>
                </a:solidFill>
                <a:latin typeface="Georgia" pitchFamily="34" charset="0"/>
                <a:ea typeface="Georgia" pitchFamily="34" charset="-122"/>
                <a:cs typeface="Georgia" pitchFamily="34" charset="-120"/>
              </a:rPr>
              <a:t>Chronicle</a:t>
            </a:r>
            <a:endParaRPr lang="en-US" sz="1050" dirty="0"/>
          </a:p>
        </p:txBody>
      </p:sp>
      <p:sp>
        <p:nvSpPr>
          <p:cNvPr id="64" name="Shape 54"/>
          <p:cNvSpPr/>
          <p:nvPr/>
        </p:nvSpPr>
        <p:spPr>
          <a:xfrm>
            <a:off x="2549872" y="6727478"/>
            <a:ext cx="281211" cy="166688"/>
          </a:xfrm>
          <a:prstGeom prst="roundRect">
            <a:avLst>
              <a:gd name="adj" fmla="val 50000"/>
            </a:avLst>
          </a:prstGeom>
          <a:solidFill>
            <a:srgbClr val="FBF9FE"/>
          </a:solidFill>
          <a:ln/>
        </p:spPr>
      </p:sp>
      <p:sp>
        <p:nvSpPr>
          <p:cNvPr id="65" name="Text 55"/>
          <p:cNvSpPr/>
          <p:nvPr/>
        </p:nvSpPr>
        <p:spPr>
          <a:xfrm>
            <a:off x="2602487" y="6737003"/>
            <a:ext cx="175982" cy="185737"/>
          </a:xfrm>
          <a:prstGeom prst="rect">
            <a:avLst/>
          </a:prstGeom>
          <a:noFill/>
          <a:ln/>
        </p:spPr>
        <p:txBody>
          <a:bodyPr wrap="square" lIns="25400" tIns="25400" rIns="25400" bIns="25400" rtlCol="0" anchor="t">
            <a:normAutofit/>
          </a:bodyPr>
          <a:lstStyle/>
          <a:p>
            <a:pPr algn="ctr" indent="0" marL="0">
              <a:buNone/>
            </a:pPr>
            <a:r>
              <a:rPr lang="en-US" sz="900" spc="42" kern="0" dirty="0">
                <a:solidFill>
                  <a:srgbClr val="6E6485"/>
                </a:solidFill>
                <a:latin typeface="Courier New" pitchFamily="34" charset="0"/>
                <a:ea typeface="Courier New" pitchFamily="34" charset="-122"/>
                <a:cs typeface="Courier New" pitchFamily="34" charset="-120"/>
              </a:rPr>
              <a:t>12</a:t>
            </a:r>
            <a:endParaRPr lang="en-US" sz="900" dirty="0"/>
          </a:p>
        </p:txBody>
      </p:sp>
      <p:sp>
        <p:nvSpPr>
          <p:cNvPr id="66" name="Text 56"/>
          <p:cNvSpPr/>
          <p:nvPr/>
        </p:nvSpPr>
        <p:spPr>
          <a:xfrm>
            <a:off x="3173983" y="6708428"/>
            <a:ext cx="627757" cy="242888"/>
          </a:xfrm>
          <a:prstGeom prst="rect">
            <a:avLst/>
          </a:prstGeom>
          <a:noFill/>
          <a:ln/>
        </p:spPr>
        <p:txBody>
          <a:bodyPr wrap="square" lIns="0" tIns="0" rIns="0" bIns="0" rtlCol="0" anchor="t">
            <a:normAutofit/>
          </a:bodyPr>
          <a:lstStyle/>
          <a:p>
            <a:pPr algn="ctr" indent="0" marL="0">
              <a:buNone/>
            </a:pPr>
            <a:r>
              <a:rPr lang="en-US" sz="1050" spc="42" kern="0" dirty="0">
                <a:solidFill>
                  <a:srgbClr val="6E6485"/>
                </a:solidFill>
                <a:latin typeface="Georgia" pitchFamily="34" charset="0"/>
                <a:ea typeface="Georgia" pitchFamily="34" charset="-122"/>
                <a:cs typeface="Georgia" pitchFamily="34" charset="-120"/>
              </a:rPr>
              <a:t>Remarks</a:t>
            </a:r>
            <a:endParaRPr lang="en-US" sz="1050" dirty="0"/>
          </a:p>
        </p:txBody>
      </p:sp>
      <p:sp>
        <p:nvSpPr>
          <p:cNvPr id="67" name="Shape 57"/>
          <p:cNvSpPr/>
          <p:nvPr/>
        </p:nvSpPr>
        <p:spPr>
          <a:xfrm>
            <a:off x="3792215" y="6727478"/>
            <a:ext cx="207318" cy="166688"/>
          </a:xfrm>
          <a:prstGeom prst="ellipse">
            <a:avLst/>
          </a:prstGeom>
          <a:solidFill>
            <a:srgbClr val="FBF9FE"/>
          </a:solidFill>
          <a:ln/>
        </p:spPr>
      </p:sp>
      <p:sp>
        <p:nvSpPr>
          <p:cNvPr id="68" name="Text 58"/>
          <p:cNvSpPr/>
          <p:nvPr/>
        </p:nvSpPr>
        <p:spPr>
          <a:xfrm>
            <a:off x="3848524" y="6737003"/>
            <a:ext cx="94699" cy="185737"/>
          </a:xfrm>
          <a:prstGeom prst="rect">
            <a:avLst/>
          </a:prstGeom>
          <a:noFill/>
          <a:ln/>
        </p:spPr>
        <p:txBody>
          <a:bodyPr wrap="square" lIns="25400" tIns="25400" rIns="25400" bIns="25400" rtlCol="0" anchor="t">
            <a:normAutofit/>
          </a:bodyPr>
          <a:lstStyle/>
          <a:p>
            <a:pPr algn="ctr" indent="0" marL="0">
              <a:buNone/>
            </a:pPr>
            <a:r>
              <a:rPr lang="en-US" sz="900" spc="42" kern="0" dirty="0">
                <a:solidFill>
                  <a:srgbClr val="6E6485"/>
                </a:solidFill>
                <a:latin typeface="Courier New" pitchFamily="34" charset="0"/>
                <a:ea typeface="Courier New" pitchFamily="34" charset="-122"/>
                <a:cs typeface="Courier New" pitchFamily="34" charset="-120"/>
              </a:rPr>
              <a:t>4</a:t>
            </a:r>
            <a:endParaRPr lang="en-US" sz="900" dirty="0"/>
          </a:p>
        </p:txBody>
      </p:sp>
      <p:sp>
        <p:nvSpPr>
          <p:cNvPr id="69" name="Text 59"/>
          <p:cNvSpPr/>
          <p:nvPr/>
        </p:nvSpPr>
        <p:spPr>
          <a:xfrm>
            <a:off x="7589193" y="1804988"/>
            <a:ext cx="5901779"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CHARACTER CARD</a:t>
            </a:r>
            <a:endParaRPr lang="en-US" sz="825" dirty="0"/>
          </a:p>
        </p:txBody>
      </p:sp>
      <p:sp>
        <p:nvSpPr>
          <p:cNvPr id="70" name="Shape 60"/>
          <p:cNvSpPr/>
          <p:nvPr/>
        </p:nvSpPr>
        <p:spPr>
          <a:xfrm>
            <a:off x="7589193" y="2076450"/>
            <a:ext cx="5365254" cy="1520130"/>
          </a:xfrm>
          <a:prstGeom prst="roundRect">
            <a:avLst>
              <a:gd name="adj" fmla="val 3133"/>
            </a:avLst>
          </a:prstGeom>
          <a:solidFill>
            <a:srgbClr val="F6F3FB"/>
          </a:solidFill>
          <a:ln w="9525">
            <a:solidFill>
              <a:srgbClr val="D8D0E6"/>
            </a:solidFill>
            <a:prstDash val="solid"/>
          </a:ln>
          <a:effectLst>
            <a:outerShdw sx="100000" sy="100000" kx="0" ky="0" algn="bl" rotWithShape="0" blurRad="133350" dist="38100" dir="5400000">
              <a:srgbClr val="000000">
                <a:alpha val="40000"/>
              </a:srgbClr>
            </a:outerShdw>
          </a:effectLst>
        </p:spPr>
      </p:sp>
      <p:sp>
        <p:nvSpPr>
          <p:cNvPr id="71" name="Shape 61"/>
          <p:cNvSpPr/>
          <p:nvPr/>
        </p:nvSpPr>
        <p:spPr>
          <a:xfrm>
            <a:off x="7598718" y="2085975"/>
            <a:ext cx="28575" cy="1501080"/>
          </a:xfrm>
          <a:prstGeom prst="rect">
            <a:avLst/>
          </a:prstGeom>
          <a:solidFill>
            <a:srgbClr val="4A3478"/>
          </a:solidFill>
          <a:ln/>
        </p:spPr>
      </p:sp>
      <p:sp>
        <p:nvSpPr>
          <p:cNvPr id="72" name="Shape 62"/>
          <p:cNvSpPr/>
          <p:nvPr/>
        </p:nvSpPr>
        <p:spPr>
          <a:xfrm>
            <a:off x="7770168" y="2238375"/>
            <a:ext cx="628650" cy="628650"/>
          </a:xfrm>
          <a:prstGeom prst="roundRect">
            <a:avLst>
              <a:gd name="adj" fmla="val 4545"/>
            </a:avLst>
          </a:prstGeom>
          <a:solidFill>
            <a:srgbClr val="FBF9FE"/>
          </a:solidFill>
          <a:ln w="9525">
            <a:solidFill>
              <a:srgbClr val="C7BBDC"/>
            </a:solidFill>
            <a:prstDash val="solid"/>
          </a:ln>
          <a:effectLst>
            <a:outerShdw sx="100000" sy="100000" kx="0" ky="0" algn="bl" rotWithShape="0" blurRad="19050" dist="9525" dir="5400000">
              <a:srgbClr val="000000">
                <a:alpha val="35000"/>
              </a:srgbClr>
            </a:outerShdw>
          </a:effectLst>
        </p:spPr>
      </p:sp>
      <p:sp>
        <p:nvSpPr>
          <p:cNvPr id="73" name="Text 63"/>
          <p:cNvSpPr/>
          <p:nvPr/>
        </p:nvSpPr>
        <p:spPr>
          <a:xfrm>
            <a:off x="7741593" y="2247900"/>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3D3554"/>
                </a:solidFill>
                <a:latin typeface="Georgia" pitchFamily="34" charset="0"/>
                <a:ea typeface="Georgia" pitchFamily="34" charset="-122"/>
                <a:cs typeface="Georgia" pitchFamily="34" charset="-120"/>
              </a:rPr>
              <a:t>KN</a:t>
            </a:r>
            <a:endParaRPr lang="en-US" sz="1950" dirty="0"/>
          </a:p>
        </p:txBody>
      </p:sp>
      <p:sp>
        <p:nvSpPr>
          <p:cNvPr id="74" name="Shape 64"/>
          <p:cNvSpPr/>
          <p:nvPr/>
        </p:nvSpPr>
        <p:spPr>
          <a:xfrm>
            <a:off x="8211815" y="2747590"/>
            <a:ext cx="196528" cy="196528"/>
          </a:xfrm>
          <a:prstGeom prst="ellipse">
            <a:avLst/>
          </a:prstGeom>
          <a:solidFill>
            <a:srgbClr val="5B7A4E"/>
          </a:solidFill>
          <a:ln w="19050">
            <a:solidFill>
              <a:srgbClr val="F6F3FB"/>
            </a:solidFill>
            <a:prstDash val="solid"/>
          </a:ln>
        </p:spPr>
      </p:sp>
      <p:sp>
        <p:nvSpPr>
          <p:cNvPr id="75" name="Text 65"/>
          <p:cNvSpPr/>
          <p:nvPr/>
        </p:nvSpPr>
        <p:spPr>
          <a:xfrm>
            <a:off x="8532168" y="2238375"/>
            <a:ext cx="1477246" cy="279053"/>
          </a:xfrm>
          <a:prstGeom prst="rect">
            <a:avLst/>
          </a:prstGeom>
          <a:noFill/>
          <a:ln/>
        </p:spPr>
        <p:txBody>
          <a:bodyPr wrap="square" lIns="25400" tIns="25400" rIns="25400" bIns="25400" rtlCol="0" anchor="t">
            <a:normAutofit/>
          </a:bodyPr>
          <a:lstStyle/>
          <a:p>
            <a:pPr algn="l" indent="0" marL="0">
              <a:lnSpc>
                <a:spcPct val="115000"/>
              </a:lnSpc>
              <a:buNone/>
            </a:pPr>
            <a:r>
              <a:rPr lang="en-US" sz="1650" b="1" dirty="0">
                <a:solidFill>
                  <a:srgbClr val="1A1626"/>
                </a:solidFill>
                <a:latin typeface="Georgia" pitchFamily="34" charset="0"/>
                <a:ea typeface="Georgia" pitchFamily="34" charset="-122"/>
                <a:cs typeface="Georgia" pitchFamily="34" charset="-120"/>
              </a:rPr>
              <a:t>Kára Nightveil</a:t>
            </a:r>
            <a:endParaRPr lang="en-US" sz="1650" dirty="0"/>
          </a:p>
        </p:txBody>
      </p:sp>
      <p:sp>
        <p:nvSpPr>
          <p:cNvPr id="76" name="Text 66"/>
          <p:cNvSpPr/>
          <p:nvPr/>
        </p:nvSpPr>
        <p:spPr>
          <a:xfrm>
            <a:off x="12430497" y="2285033"/>
            <a:ext cx="419174" cy="185738"/>
          </a:xfrm>
          <a:prstGeom prst="rect">
            <a:avLst/>
          </a:prstGeom>
          <a:noFill/>
          <a:ln/>
        </p:spPr>
        <p:txBody>
          <a:bodyPr wrap="square" lIns="25400" tIns="25400" rIns="25400" bIns="25400" rtlCol="0" anchor="t">
            <a:normAutofit/>
          </a:bodyPr>
          <a:lstStyle/>
          <a:p>
            <a:pPr algn="l" indent="0" marL="0">
              <a:buNone/>
            </a:pPr>
            <a:r>
              <a:rPr lang="en-US" sz="900" dirty="0">
                <a:solidFill>
                  <a:srgbClr val="6E6485"/>
                </a:solidFill>
                <a:latin typeface="Courier New" pitchFamily="34" charset="0"/>
                <a:ea typeface="Courier New" pitchFamily="34" charset="-122"/>
                <a:cs typeface="Courier New" pitchFamily="34" charset="-120"/>
              </a:rPr>
              <a:t>LVL 6</a:t>
            </a:r>
            <a:endParaRPr lang="en-US" sz="900" dirty="0"/>
          </a:p>
        </p:txBody>
      </p:sp>
      <p:sp>
        <p:nvSpPr>
          <p:cNvPr id="77" name="Text 67"/>
          <p:cNvSpPr/>
          <p:nvPr/>
        </p:nvSpPr>
        <p:spPr>
          <a:xfrm>
            <a:off x="8532168" y="2488853"/>
            <a:ext cx="4665434" cy="190500"/>
          </a:xfrm>
          <a:prstGeom prst="rect">
            <a:avLst/>
          </a:prstGeom>
          <a:noFill/>
          <a:ln/>
        </p:spPr>
        <p:txBody>
          <a:bodyPr wrap="square" lIns="25400" tIns="25400" rIns="25400" bIns="25400" rtlCol="0" anchor="t">
            <a:normAutofit/>
          </a:bodyPr>
          <a:lstStyle/>
          <a:p>
            <a:pPr algn="l" indent="0" marL="0">
              <a:buNone/>
            </a:pPr>
            <a:r>
              <a:rPr lang="en-US" sz="1050" i="1" dirty="0">
                <a:solidFill>
                  <a:srgbClr val="6E6485"/>
                </a:solidFill>
                <a:latin typeface="Georgia" pitchFamily="34" charset="0"/>
                <a:ea typeface="Georgia" pitchFamily="34" charset="-122"/>
                <a:cs typeface="Georgia" pitchFamily="34" charset="-120"/>
              </a:rPr>
              <a:t>Reader of the drowned</a:t>
            </a:r>
            <a:endParaRPr lang="en-US" sz="1050" dirty="0"/>
          </a:p>
        </p:txBody>
      </p:sp>
      <p:sp>
        <p:nvSpPr>
          <p:cNvPr id="78" name="Shape 68"/>
          <p:cNvSpPr/>
          <p:nvPr/>
        </p:nvSpPr>
        <p:spPr>
          <a:xfrm>
            <a:off x="8532168" y="2717453"/>
            <a:ext cx="848916" cy="217140"/>
          </a:xfrm>
          <a:prstGeom prst="roundRect">
            <a:avLst>
              <a:gd name="adj" fmla="val 50000"/>
            </a:avLst>
          </a:prstGeom>
          <a:ln w="9525">
            <a:solidFill>
              <a:srgbClr val="2C4F6E"/>
            </a:solidFill>
            <a:prstDash val="solid"/>
          </a:ln>
        </p:spPr>
      </p:sp>
      <p:sp>
        <p:nvSpPr>
          <p:cNvPr id="79" name="Text 69"/>
          <p:cNvSpPr/>
          <p:nvPr/>
        </p:nvSpPr>
        <p:spPr>
          <a:xfrm>
            <a:off x="8627418" y="2746028"/>
            <a:ext cx="734616" cy="198090"/>
          </a:xfrm>
          <a:prstGeom prst="rect">
            <a:avLst/>
          </a:prstGeom>
          <a:noFill/>
          <a:ln/>
        </p:spPr>
        <p:txBody>
          <a:bodyPr wrap="square" lIns="25400" tIns="25400" rIns="25400" bIns="25400" rtlCol="0" anchor="ctr">
            <a:normAutofit/>
          </a:bodyPr>
          <a:lstStyle/>
          <a:p>
            <a:pPr algn="l" indent="0" marL="0">
              <a:lnSpc>
                <a:spcPct val="140000"/>
              </a:lnSpc>
              <a:buNone/>
            </a:pPr>
            <a:r>
              <a:rPr lang="en-US" sz="900" spc="36" kern="0" dirty="0">
                <a:solidFill>
                  <a:srgbClr val="2C4F6E"/>
                </a:solidFill>
                <a:latin typeface="Courier New" pitchFamily="34" charset="0"/>
                <a:ea typeface="Courier New" pitchFamily="34" charset="-122"/>
                <a:cs typeface="Courier New" pitchFamily="34" charset="-120"/>
              </a:rPr>
              <a:t>HOUSE ASH</a:t>
            </a:r>
            <a:endParaRPr lang="en-US" sz="900" dirty="0"/>
          </a:p>
        </p:txBody>
      </p:sp>
      <p:sp>
        <p:nvSpPr>
          <p:cNvPr id="80" name="Shape 70"/>
          <p:cNvSpPr/>
          <p:nvPr/>
        </p:nvSpPr>
        <p:spPr>
          <a:xfrm>
            <a:off x="9457283" y="2717453"/>
            <a:ext cx="670620" cy="217140"/>
          </a:xfrm>
          <a:prstGeom prst="roundRect">
            <a:avLst>
              <a:gd name="adj" fmla="val 50000"/>
            </a:avLst>
          </a:prstGeom>
          <a:solidFill>
            <a:srgbClr val="5B7A4E">
              <a:alpha val="16000"/>
            </a:srgbClr>
          </a:solidFill>
          <a:ln/>
        </p:spPr>
      </p:sp>
      <p:sp>
        <p:nvSpPr>
          <p:cNvPr id="81" name="Shape 71"/>
          <p:cNvSpPr/>
          <p:nvPr/>
        </p:nvSpPr>
        <p:spPr>
          <a:xfrm>
            <a:off x="9552533" y="2797448"/>
            <a:ext cx="57150" cy="57150"/>
          </a:xfrm>
          <a:prstGeom prst="ellipse">
            <a:avLst/>
          </a:prstGeom>
          <a:solidFill>
            <a:srgbClr val="5B7A4E"/>
          </a:solidFill>
          <a:ln/>
        </p:spPr>
      </p:sp>
      <p:sp>
        <p:nvSpPr>
          <p:cNvPr id="82" name="Text 72"/>
          <p:cNvSpPr/>
          <p:nvPr/>
        </p:nvSpPr>
        <p:spPr>
          <a:xfrm>
            <a:off x="9666833" y="2750790"/>
            <a:ext cx="442020" cy="185738"/>
          </a:xfrm>
          <a:prstGeom prst="rect">
            <a:avLst/>
          </a:prstGeom>
          <a:noFill/>
          <a:ln/>
        </p:spPr>
        <p:txBody>
          <a:bodyPr wrap="square" lIns="0" tIns="0" rIns="0" bIns="0" rtlCol="0" anchor="t">
            <a:normAutofit/>
          </a:bodyPr>
          <a:lstStyle/>
          <a:p>
            <a:pPr algn="l" indent="0" marL="0">
              <a:lnSpc>
                <a:spcPct val="140000"/>
              </a:lnSpc>
              <a:buNone/>
            </a:pPr>
            <a:r>
              <a:rPr lang="en-US" sz="900" spc="36" kern="0" dirty="0">
                <a:solidFill>
                  <a:srgbClr val="5B7A4E"/>
                </a:solidFill>
                <a:latin typeface="Courier New" pitchFamily="34" charset="0"/>
                <a:ea typeface="Courier New" pitchFamily="34" charset="-122"/>
                <a:cs typeface="Courier New" pitchFamily="34" charset="-120"/>
              </a:rPr>
              <a:t>ALIVE</a:t>
            </a:r>
            <a:endParaRPr lang="en-US" sz="900" dirty="0"/>
          </a:p>
        </p:txBody>
      </p:sp>
      <p:sp>
        <p:nvSpPr>
          <p:cNvPr id="83" name="Shape 73"/>
          <p:cNvSpPr/>
          <p:nvPr/>
        </p:nvSpPr>
        <p:spPr>
          <a:xfrm>
            <a:off x="7598718" y="3086993"/>
            <a:ext cx="5346204" cy="500063"/>
          </a:xfrm>
          <a:prstGeom prst="rect">
            <a:avLst/>
          </a:prstGeom>
          <a:solidFill>
            <a:srgbClr val="E2DCEE"/>
          </a:solidFill>
          <a:ln/>
        </p:spPr>
      </p:sp>
      <p:sp>
        <p:nvSpPr>
          <p:cNvPr id="84" name="Shape 74"/>
          <p:cNvSpPr/>
          <p:nvPr/>
        </p:nvSpPr>
        <p:spPr>
          <a:xfrm>
            <a:off x="7598718" y="3086993"/>
            <a:ext cx="5346204" cy="9525"/>
          </a:xfrm>
          <a:prstGeom prst="rect">
            <a:avLst/>
          </a:prstGeom>
          <a:solidFill>
            <a:srgbClr val="D8D0E6"/>
          </a:solidFill>
          <a:ln/>
        </p:spPr>
      </p:sp>
      <p:sp>
        <p:nvSpPr>
          <p:cNvPr id="85" name="Text 75"/>
          <p:cNvSpPr/>
          <p:nvPr/>
        </p:nvSpPr>
        <p:spPr>
          <a:xfrm>
            <a:off x="7572799" y="3182243"/>
            <a:ext cx="1827505"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6E6485"/>
                </a:solidFill>
                <a:latin typeface="Courier New" pitchFamily="34" charset="0"/>
                <a:ea typeface="Courier New" pitchFamily="34" charset="-122"/>
                <a:cs typeface="Courier New" pitchFamily="34" charset="-120"/>
              </a:rPr>
              <a:t>HP</a:t>
            </a:r>
            <a:endParaRPr lang="en-US" sz="750" dirty="0"/>
          </a:p>
        </p:txBody>
      </p:sp>
      <p:sp>
        <p:nvSpPr>
          <p:cNvPr id="86" name="Text 76"/>
          <p:cNvSpPr/>
          <p:nvPr/>
        </p:nvSpPr>
        <p:spPr>
          <a:xfrm>
            <a:off x="7572799" y="3306068"/>
            <a:ext cx="1827505"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1A1626"/>
                </a:solidFill>
                <a:latin typeface="Georgia" pitchFamily="34" charset="0"/>
                <a:ea typeface="Georgia" pitchFamily="34" charset="-122"/>
                <a:cs typeface="Georgia" pitchFamily="34" charset="-120"/>
              </a:rPr>
              <a:t>21</a:t>
            </a:r>
            <a:endParaRPr lang="en-US" sz="1350" dirty="0"/>
          </a:p>
        </p:txBody>
      </p:sp>
      <p:sp>
        <p:nvSpPr>
          <p:cNvPr id="87" name="Shape 77"/>
          <p:cNvSpPr/>
          <p:nvPr/>
        </p:nvSpPr>
        <p:spPr>
          <a:xfrm>
            <a:off x="9374386" y="3096518"/>
            <a:ext cx="9525" cy="490538"/>
          </a:xfrm>
          <a:prstGeom prst="rect">
            <a:avLst/>
          </a:prstGeom>
          <a:solidFill>
            <a:srgbClr val="D8D0E6"/>
          </a:solidFill>
          <a:ln/>
        </p:spPr>
      </p:sp>
      <p:sp>
        <p:nvSpPr>
          <p:cNvPr id="88" name="Text 78"/>
          <p:cNvSpPr/>
          <p:nvPr/>
        </p:nvSpPr>
        <p:spPr>
          <a:xfrm>
            <a:off x="9357989" y="3182243"/>
            <a:ext cx="1827587"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6E6485"/>
                </a:solidFill>
                <a:latin typeface="Courier New" pitchFamily="34" charset="0"/>
                <a:ea typeface="Courier New" pitchFamily="34" charset="-122"/>
                <a:cs typeface="Courier New" pitchFamily="34" charset="-120"/>
              </a:rPr>
              <a:t>ARMOUR</a:t>
            </a:r>
            <a:endParaRPr lang="en-US" sz="750" dirty="0"/>
          </a:p>
        </p:txBody>
      </p:sp>
      <p:sp>
        <p:nvSpPr>
          <p:cNvPr id="89" name="Text 79"/>
          <p:cNvSpPr/>
          <p:nvPr/>
        </p:nvSpPr>
        <p:spPr>
          <a:xfrm>
            <a:off x="9357989" y="3306068"/>
            <a:ext cx="1827587"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1A1626"/>
                </a:solidFill>
                <a:latin typeface="Georgia" pitchFamily="34" charset="0"/>
                <a:ea typeface="Georgia" pitchFamily="34" charset="-122"/>
                <a:cs typeface="Georgia" pitchFamily="34" charset="-120"/>
              </a:rPr>
              <a:t>2</a:t>
            </a:r>
            <a:endParaRPr lang="en-US" sz="1350" dirty="0"/>
          </a:p>
        </p:txBody>
      </p:sp>
      <p:sp>
        <p:nvSpPr>
          <p:cNvPr id="90" name="Shape 80"/>
          <p:cNvSpPr/>
          <p:nvPr/>
        </p:nvSpPr>
        <p:spPr>
          <a:xfrm>
            <a:off x="11159654" y="3096518"/>
            <a:ext cx="9525" cy="490538"/>
          </a:xfrm>
          <a:prstGeom prst="rect">
            <a:avLst/>
          </a:prstGeom>
          <a:solidFill>
            <a:srgbClr val="D8D0E6"/>
          </a:solidFill>
          <a:ln/>
        </p:spPr>
      </p:sp>
      <p:sp>
        <p:nvSpPr>
          <p:cNvPr id="91" name="Text 81"/>
          <p:cNvSpPr/>
          <p:nvPr/>
        </p:nvSpPr>
        <p:spPr>
          <a:xfrm>
            <a:off x="11143257" y="3182243"/>
            <a:ext cx="1827587" cy="161925"/>
          </a:xfrm>
          <a:prstGeom prst="rect">
            <a:avLst/>
          </a:prstGeom>
          <a:noFill/>
          <a:ln/>
        </p:spPr>
        <p:txBody>
          <a:bodyPr wrap="square" lIns="25400" tIns="25400" rIns="25400" bIns="25400" rtlCol="0" anchor="t">
            <a:normAutofit/>
          </a:bodyPr>
          <a:lstStyle/>
          <a:p>
            <a:pPr algn="ctr" indent="0" marL="0">
              <a:buNone/>
            </a:pPr>
            <a:r>
              <a:rPr lang="en-US" sz="750" spc="30" kern="0" dirty="0">
                <a:solidFill>
                  <a:srgbClr val="6E6485"/>
                </a:solidFill>
                <a:latin typeface="Courier New" pitchFamily="34" charset="0"/>
                <a:ea typeface="Courier New" pitchFamily="34" charset="-122"/>
                <a:cs typeface="Courier New" pitchFamily="34" charset="-120"/>
              </a:rPr>
              <a:t>STANDING</a:t>
            </a:r>
            <a:endParaRPr lang="en-US" sz="750" dirty="0"/>
          </a:p>
        </p:txBody>
      </p:sp>
      <p:sp>
        <p:nvSpPr>
          <p:cNvPr id="92" name="Text 82"/>
          <p:cNvSpPr/>
          <p:nvPr/>
        </p:nvSpPr>
        <p:spPr>
          <a:xfrm>
            <a:off x="11143257" y="3306068"/>
            <a:ext cx="1827587" cy="233362"/>
          </a:xfrm>
          <a:prstGeom prst="rect">
            <a:avLst/>
          </a:prstGeom>
          <a:noFill/>
          <a:ln/>
        </p:spPr>
        <p:txBody>
          <a:bodyPr wrap="square" lIns="25400" tIns="25400" rIns="25400" bIns="25400" rtlCol="0" anchor="t">
            <a:normAutofit/>
          </a:bodyPr>
          <a:lstStyle/>
          <a:p>
            <a:pPr algn="ctr" indent="0" marL="0">
              <a:buNone/>
            </a:pPr>
            <a:r>
              <a:rPr lang="en-US" sz="1350" b="1" dirty="0">
                <a:solidFill>
                  <a:srgbClr val="1A1626"/>
                </a:solidFill>
                <a:latin typeface="Georgia" pitchFamily="34" charset="0"/>
                <a:ea typeface="Georgia" pitchFamily="34" charset="-122"/>
                <a:cs typeface="Georgia" pitchFamily="34" charset="-120"/>
              </a:rPr>
              <a:t>88</a:t>
            </a:r>
            <a:endParaRPr lang="en-US" sz="1350" dirty="0"/>
          </a:p>
        </p:txBody>
      </p:sp>
      <p:sp>
        <p:nvSpPr>
          <p:cNvPr id="93" name="Text 83"/>
          <p:cNvSpPr/>
          <p:nvPr/>
        </p:nvSpPr>
        <p:spPr>
          <a:xfrm>
            <a:off x="7589193" y="3882330"/>
            <a:ext cx="5901779"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ATTRIBUTES</a:t>
            </a:r>
            <a:endParaRPr lang="en-US" sz="825" dirty="0"/>
          </a:p>
        </p:txBody>
      </p:sp>
      <p:sp>
        <p:nvSpPr>
          <p:cNvPr id="94" name="Shape 84"/>
          <p:cNvSpPr/>
          <p:nvPr/>
        </p:nvSpPr>
        <p:spPr>
          <a:xfrm>
            <a:off x="7589193" y="4153793"/>
            <a:ext cx="1712193" cy="969615"/>
          </a:xfrm>
          <a:prstGeom prst="roundRect">
            <a:avLst>
              <a:gd name="adj" fmla="val 2947"/>
            </a:avLst>
          </a:prstGeom>
          <a:solidFill>
            <a:srgbClr val="E5DFF0"/>
          </a:solidFill>
          <a:ln w="9525">
            <a:solidFill>
              <a:srgbClr val="D8D0E6"/>
            </a:solidFill>
            <a:prstDash val="solid"/>
          </a:ln>
        </p:spPr>
      </p:sp>
      <p:sp>
        <p:nvSpPr>
          <p:cNvPr id="95" name="Text 85"/>
          <p:cNvSpPr/>
          <p:nvPr/>
        </p:nvSpPr>
        <p:spPr>
          <a:xfrm>
            <a:off x="7660745" y="4277618"/>
            <a:ext cx="1569087"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E6485"/>
                </a:solidFill>
                <a:latin typeface="Courier New" pitchFamily="34" charset="0"/>
                <a:ea typeface="Courier New" pitchFamily="34" charset="-122"/>
                <a:cs typeface="Courier New" pitchFamily="34" charset="-120"/>
              </a:rPr>
              <a:t>STR</a:t>
            </a:r>
            <a:endParaRPr lang="en-US" sz="900" dirty="0"/>
          </a:p>
        </p:txBody>
      </p:sp>
      <p:sp>
        <p:nvSpPr>
          <p:cNvPr id="96" name="Text 86"/>
          <p:cNvSpPr/>
          <p:nvPr/>
        </p:nvSpPr>
        <p:spPr>
          <a:xfrm>
            <a:off x="7660745" y="4444305"/>
            <a:ext cx="1569087"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1A1626"/>
                </a:solidFill>
                <a:latin typeface="Georgia" pitchFamily="34" charset="0"/>
                <a:ea typeface="Georgia" pitchFamily="34" charset="-122"/>
                <a:cs typeface="Georgia" pitchFamily="34" charset="-120"/>
              </a:rPr>
              <a:t>9</a:t>
            </a:r>
            <a:endParaRPr lang="en-US" sz="2700" dirty="0"/>
          </a:p>
        </p:txBody>
      </p:sp>
      <p:sp>
        <p:nvSpPr>
          <p:cNvPr id="97" name="Text 87"/>
          <p:cNvSpPr/>
          <p:nvPr/>
        </p:nvSpPr>
        <p:spPr>
          <a:xfrm>
            <a:off x="7660745" y="4823371"/>
            <a:ext cx="1569087"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8A1F2A"/>
                </a:solidFill>
                <a:latin typeface="Courier New" pitchFamily="34" charset="0"/>
                <a:ea typeface="Courier New" pitchFamily="34" charset="-122"/>
                <a:cs typeface="Courier New" pitchFamily="34" charset="-120"/>
              </a:rPr>
              <a:t>-1</a:t>
            </a:r>
            <a:endParaRPr lang="en-US" sz="1050" dirty="0"/>
          </a:p>
        </p:txBody>
      </p:sp>
      <p:sp>
        <p:nvSpPr>
          <p:cNvPr id="98" name="Shape 88"/>
          <p:cNvSpPr/>
          <p:nvPr/>
        </p:nvSpPr>
        <p:spPr>
          <a:xfrm>
            <a:off x="9415686" y="4153793"/>
            <a:ext cx="1712193" cy="969615"/>
          </a:xfrm>
          <a:prstGeom prst="roundRect">
            <a:avLst>
              <a:gd name="adj" fmla="val 2947"/>
            </a:avLst>
          </a:prstGeom>
          <a:solidFill>
            <a:srgbClr val="E5DFF0"/>
          </a:solidFill>
          <a:ln w="9525">
            <a:solidFill>
              <a:srgbClr val="D8D0E6"/>
            </a:solidFill>
            <a:prstDash val="solid"/>
          </a:ln>
        </p:spPr>
      </p:sp>
      <p:sp>
        <p:nvSpPr>
          <p:cNvPr id="99" name="Text 89"/>
          <p:cNvSpPr/>
          <p:nvPr/>
        </p:nvSpPr>
        <p:spPr>
          <a:xfrm>
            <a:off x="9487239" y="4277618"/>
            <a:ext cx="1569087"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E6485"/>
                </a:solidFill>
                <a:latin typeface="Courier New" pitchFamily="34" charset="0"/>
                <a:ea typeface="Courier New" pitchFamily="34" charset="-122"/>
                <a:cs typeface="Courier New" pitchFamily="34" charset="-120"/>
              </a:rPr>
              <a:t>DEX</a:t>
            </a:r>
            <a:endParaRPr lang="en-US" sz="900" dirty="0"/>
          </a:p>
        </p:txBody>
      </p:sp>
      <p:sp>
        <p:nvSpPr>
          <p:cNvPr id="100" name="Text 90"/>
          <p:cNvSpPr/>
          <p:nvPr/>
        </p:nvSpPr>
        <p:spPr>
          <a:xfrm>
            <a:off x="9487239" y="4444305"/>
            <a:ext cx="1569087"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1A1626"/>
                </a:solidFill>
                <a:latin typeface="Georgia" pitchFamily="34" charset="0"/>
                <a:ea typeface="Georgia" pitchFamily="34" charset="-122"/>
                <a:cs typeface="Georgia" pitchFamily="34" charset="-120"/>
              </a:rPr>
              <a:t>14</a:t>
            </a:r>
            <a:endParaRPr lang="en-US" sz="2700" dirty="0"/>
          </a:p>
        </p:txBody>
      </p:sp>
      <p:sp>
        <p:nvSpPr>
          <p:cNvPr id="101" name="Text 91"/>
          <p:cNvSpPr/>
          <p:nvPr/>
        </p:nvSpPr>
        <p:spPr>
          <a:xfrm>
            <a:off x="9487239" y="4823371"/>
            <a:ext cx="1569087"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+2</a:t>
            </a:r>
            <a:endParaRPr lang="en-US" sz="1050" dirty="0"/>
          </a:p>
        </p:txBody>
      </p:sp>
      <p:sp>
        <p:nvSpPr>
          <p:cNvPr id="102" name="Shape 92"/>
          <p:cNvSpPr/>
          <p:nvPr/>
        </p:nvSpPr>
        <p:spPr>
          <a:xfrm>
            <a:off x="11242179" y="4153793"/>
            <a:ext cx="1712268" cy="969615"/>
          </a:xfrm>
          <a:prstGeom prst="roundRect">
            <a:avLst>
              <a:gd name="adj" fmla="val 2947"/>
            </a:avLst>
          </a:prstGeom>
          <a:solidFill>
            <a:srgbClr val="E5DFF0"/>
          </a:solidFill>
          <a:ln w="9525">
            <a:solidFill>
              <a:srgbClr val="D8D0E6"/>
            </a:solidFill>
            <a:prstDash val="solid"/>
          </a:ln>
        </p:spPr>
      </p:sp>
      <p:sp>
        <p:nvSpPr>
          <p:cNvPr id="103" name="Text 93"/>
          <p:cNvSpPr/>
          <p:nvPr/>
        </p:nvSpPr>
        <p:spPr>
          <a:xfrm>
            <a:off x="11313728" y="4277618"/>
            <a:ext cx="1569169"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E6485"/>
                </a:solidFill>
                <a:latin typeface="Courier New" pitchFamily="34" charset="0"/>
                <a:ea typeface="Courier New" pitchFamily="34" charset="-122"/>
                <a:cs typeface="Courier New" pitchFamily="34" charset="-120"/>
              </a:rPr>
              <a:t>CON</a:t>
            </a:r>
            <a:endParaRPr lang="en-US" sz="900" dirty="0"/>
          </a:p>
        </p:txBody>
      </p:sp>
      <p:sp>
        <p:nvSpPr>
          <p:cNvPr id="104" name="Text 94"/>
          <p:cNvSpPr/>
          <p:nvPr/>
        </p:nvSpPr>
        <p:spPr>
          <a:xfrm>
            <a:off x="11313728" y="4444305"/>
            <a:ext cx="1569169"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1A1626"/>
                </a:solidFill>
                <a:latin typeface="Georgia" pitchFamily="34" charset="0"/>
                <a:ea typeface="Georgia" pitchFamily="34" charset="-122"/>
                <a:cs typeface="Georgia" pitchFamily="34" charset="-120"/>
              </a:rPr>
              <a:t>12</a:t>
            </a:r>
            <a:endParaRPr lang="en-US" sz="2700" dirty="0"/>
          </a:p>
        </p:txBody>
      </p:sp>
      <p:sp>
        <p:nvSpPr>
          <p:cNvPr id="105" name="Text 95"/>
          <p:cNvSpPr/>
          <p:nvPr/>
        </p:nvSpPr>
        <p:spPr>
          <a:xfrm>
            <a:off x="11313728" y="4823371"/>
            <a:ext cx="1569169"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+1</a:t>
            </a:r>
            <a:endParaRPr lang="en-US" sz="1050" dirty="0"/>
          </a:p>
        </p:txBody>
      </p:sp>
      <p:sp>
        <p:nvSpPr>
          <p:cNvPr id="106" name="Shape 96"/>
          <p:cNvSpPr/>
          <p:nvPr/>
        </p:nvSpPr>
        <p:spPr>
          <a:xfrm>
            <a:off x="7589193" y="5237708"/>
            <a:ext cx="1712193" cy="969615"/>
          </a:xfrm>
          <a:prstGeom prst="roundRect">
            <a:avLst>
              <a:gd name="adj" fmla="val 2947"/>
            </a:avLst>
          </a:prstGeom>
          <a:solidFill>
            <a:srgbClr val="E5DFF0"/>
          </a:solidFill>
          <a:ln w="9525">
            <a:solidFill>
              <a:srgbClr val="D8D0E6"/>
            </a:solidFill>
            <a:prstDash val="solid"/>
          </a:ln>
        </p:spPr>
      </p:sp>
      <p:sp>
        <p:nvSpPr>
          <p:cNvPr id="107" name="Text 97"/>
          <p:cNvSpPr/>
          <p:nvPr/>
        </p:nvSpPr>
        <p:spPr>
          <a:xfrm>
            <a:off x="7660745" y="5361533"/>
            <a:ext cx="1569087"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E6485"/>
                </a:solidFill>
                <a:latin typeface="Courier New" pitchFamily="34" charset="0"/>
                <a:ea typeface="Courier New" pitchFamily="34" charset="-122"/>
                <a:cs typeface="Courier New" pitchFamily="34" charset="-120"/>
              </a:rPr>
              <a:t>INT</a:t>
            </a:r>
            <a:endParaRPr lang="en-US" sz="900" dirty="0"/>
          </a:p>
        </p:txBody>
      </p:sp>
      <p:sp>
        <p:nvSpPr>
          <p:cNvPr id="108" name="Text 98"/>
          <p:cNvSpPr/>
          <p:nvPr/>
        </p:nvSpPr>
        <p:spPr>
          <a:xfrm>
            <a:off x="7660745" y="5528221"/>
            <a:ext cx="1569087"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1A1626"/>
                </a:solidFill>
                <a:latin typeface="Georgia" pitchFamily="34" charset="0"/>
                <a:ea typeface="Georgia" pitchFamily="34" charset="-122"/>
                <a:cs typeface="Georgia" pitchFamily="34" charset="-120"/>
              </a:rPr>
              <a:t>17</a:t>
            </a:r>
            <a:endParaRPr lang="en-US" sz="2700" dirty="0"/>
          </a:p>
        </p:txBody>
      </p:sp>
      <p:sp>
        <p:nvSpPr>
          <p:cNvPr id="109" name="Text 99"/>
          <p:cNvSpPr/>
          <p:nvPr/>
        </p:nvSpPr>
        <p:spPr>
          <a:xfrm>
            <a:off x="7660745" y="5907286"/>
            <a:ext cx="1569087"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+3</a:t>
            </a:r>
            <a:endParaRPr lang="en-US" sz="1050" dirty="0"/>
          </a:p>
        </p:txBody>
      </p:sp>
      <p:sp>
        <p:nvSpPr>
          <p:cNvPr id="110" name="Shape 100"/>
          <p:cNvSpPr/>
          <p:nvPr/>
        </p:nvSpPr>
        <p:spPr>
          <a:xfrm>
            <a:off x="9415686" y="5237708"/>
            <a:ext cx="1712193" cy="969615"/>
          </a:xfrm>
          <a:prstGeom prst="roundRect">
            <a:avLst>
              <a:gd name="adj" fmla="val 2947"/>
            </a:avLst>
          </a:prstGeom>
          <a:solidFill>
            <a:srgbClr val="E5DFF0"/>
          </a:solidFill>
          <a:ln w="9525">
            <a:solidFill>
              <a:srgbClr val="D8D0E6"/>
            </a:solidFill>
            <a:prstDash val="solid"/>
          </a:ln>
        </p:spPr>
      </p:sp>
      <p:sp>
        <p:nvSpPr>
          <p:cNvPr id="111" name="Text 101"/>
          <p:cNvSpPr/>
          <p:nvPr/>
        </p:nvSpPr>
        <p:spPr>
          <a:xfrm>
            <a:off x="9487239" y="5361533"/>
            <a:ext cx="1569087"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E6485"/>
                </a:solidFill>
                <a:latin typeface="Courier New" pitchFamily="34" charset="0"/>
                <a:ea typeface="Courier New" pitchFamily="34" charset="-122"/>
                <a:cs typeface="Courier New" pitchFamily="34" charset="-120"/>
              </a:rPr>
              <a:t>WIS</a:t>
            </a:r>
            <a:endParaRPr lang="en-US" sz="900" dirty="0"/>
          </a:p>
        </p:txBody>
      </p:sp>
      <p:sp>
        <p:nvSpPr>
          <p:cNvPr id="112" name="Text 102"/>
          <p:cNvSpPr/>
          <p:nvPr/>
        </p:nvSpPr>
        <p:spPr>
          <a:xfrm>
            <a:off x="9487239" y="5528221"/>
            <a:ext cx="1569087"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1A1626"/>
                </a:solidFill>
                <a:latin typeface="Georgia" pitchFamily="34" charset="0"/>
                <a:ea typeface="Georgia" pitchFamily="34" charset="-122"/>
                <a:cs typeface="Georgia" pitchFamily="34" charset="-120"/>
              </a:rPr>
              <a:t>16</a:t>
            </a:r>
            <a:endParaRPr lang="en-US" sz="2700" dirty="0"/>
          </a:p>
        </p:txBody>
      </p:sp>
      <p:sp>
        <p:nvSpPr>
          <p:cNvPr id="113" name="Text 103"/>
          <p:cNvSpPr/>
          <p:nvPr/>
        </p:nvSpPr>
        <p:spPr>
          <a:xfrm>
            <a:off x="9487239" y="5907286"/>
            <a:ext cx="1569087"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+3</a:t>
            </a:r>
            <a:endParaRPr lang="en-US" sz="1050" dirty="0"/>
          </a:p>
        </p:txBody>
      </p:sp>
      <p:sp>
        <p:nvSpPr>
          <p:cNvPr id="114" name="Shape 104"/>
          <p:cNvSpPr/>
          <p:nvPr/>
        </p:nvSpPr>
        <p:spPr>
          <a:xfrm>
            <a:off x="11242179" y="5237708"/>
            <a:ext cx="1712268" cy="969615"/>
          </a:xfrm>
          <a:prstGeom prst="roundRect">
            <a:avLst>
              <a:gd name="adj" fmla="val 2947"/>
            </a:avLst>
          </a:prstGeom>
          <a:solidFill>
            <a:srgbClr val="E5DFF0"/>
          </a:solidFill>
          <a:ln w="9525">
            <a:solidFill>
              <a:srgbClr val="D8D0E6"/>
            </a:solidFill>
            <a:prstDash val="solid"/>
          </a:ln>
        </p:spPr>
      </p:sp>
      <p:sp>
        <p:nvSpPr>
          <p:cNvPr id="115" name="Text 105"/>
          <p:cNvSpPr/>
          <p:nvPr/>
        </p:nvSpPr>
        <p:spPr>
          <a:xfrm>
            <a:off x="11313728" y="5361533"/>
            <a:ext cx="1569169" cy="185738"/>
          </a:xfrm>
          <a:prstGeom prst="rect">
            <a:avLst/>
          </a:prstGeom>
          <a:noFill/>
          <a:ln/>
        </p:spPr>
        <p:txBody>
          <a:bodyPr wrap="square" lIns="25400" tIns="25400" rIns="25400" bIns="25400" rtlCol="0" anchor="t">
            <a:normAutofit/>
          </a:bodyPr>
          <a:lstStyle/>
          <a:p>
            <a:pPr algn="ctr" indent="0" marL="0">
              <a:buNone/>
            </a:pPr>
            <a:r>
              <a:rPr lang="en-US" sz="900" spc="108" kern="0" dirty="0">
                <a:solidFill>
                  <a:srgbClr val="6E6485"/>
                </a:solidFill>
                <a:latin typeface="Courier New" pitchFamily="34" charset="0"/>
                <a:ea typeface="Courier New" pitchFamily="34" charset="-122"/>
                <a:cs typeface="Courier New" pitchFamily="34" charset="-120"/>
              </a:rPr>
              <a:t>CHA</a:t>
            </a:r>
            <a:endParaRPr lang="en-US" sz="900" dirty="0"/>
          </a:p>
        </p:txBody>
      </p:sp>
      <p:sp>
        <p:nvSpPr>
          <p:cNvPr id="116" name="Text 106"/>
          <p:cNvSpPr/>
          <p:nvPr/>
        </p:nvSpPr>
        <p:spPr>
          <a:xfrm>
            <a:off x="11313728" y="5528221"/>
            <a:ext cx="1569169" cy="398115"/>
          </a:xfrm>
          <a:prstGeom prst="rect">
            <a:avLst/>
          </a:prstGeom>
          <a:noFill/>
          <a:ln/>
        </p:spPr>
        <p:txBody>
          <a:bodyPr wrap="square" lIns="25400" tIns="25400" rIns="25400" bIns="25400" rtlCol="0" anchor="t">
            <a:normAutofit/>
          </a:bodyPr>
          <a:lstStyle/>
          <a:p>
            <a:pPr algn="ctr" indent="0" marL="0">
              <a:lnSpc>
                <a:spcPct val="105000"/>
              </a:lnSpc>
              <a:buNone/>
            </a:pPr>
            <a:r>
              <a:rPr lang="en-US" sz="2700" b="1" dirty="0">
                <a:solidFill>
                  <a:srgbClr val="1A1626"/>
                </a:solidFill>
                <a:latin typeface="Georgia" pitchFamily="34" charset="0"/>
                <a:ea typeface="Georgia" pitchFamily="34" charset="-122"/>
                <a:cs typeface="Georgia" pitchFamily="34" charset="-120"/>
              </a:rPr>
              <a:t>11</a:t>
            </a:r>
            <a:endParaRPr lang="en-US" sz="2700" dirty="0"/>
          </a:p>
        </p:txBody>
      </p:sp>
      <p:sp>
        <p:nvSpPr>
          <p:cNvPr id="117" name="Text 107"/>
          <p:cNvSpPr/>
          <p:nvPr/>
        </p:nvSpPr>
        <p:spPr>
          <a:xfrm>
            <a:off x="11313728" y="5907286"/>
            <a:ext cx="1569169" cy="214313"/>
          </a:xfrm>
          <a:prstGeom prst="rect">
            <a:avLst/>
          </a:prstGeom>
          <a:noFill/>
          <a:ln/>
        </p:spPr>
        <p:txBody>
          <a:bodyPr wrap="square" lIns="25400" tIns="25400" rIns="25400" bIns="25400" rtlCol="0" anchor="t">
            <a:normAutofit/>
          </a:bodyPr>
          <a:lstStyle/>
          <a:p>
            <a:pPr algn="ctr" indent="0" marL="0">
              <a:buNone/>
            </a:pPr>
            <a:r>
              <a:rPr lang="en-US" sz="1050" dirty="0">
                <a:solidFill>
                  <a:srgbClr val="5B7A4E"/>
                </a:solidFill>
                <a:latin typeface="Courier New" pitchFamily="34" charset="0"/>
                <a:ea typeface="Courier New" pitchFamily="34" charset="-122"/>
                <a:cs typeface="Courier New" pitchFamily="34" charset="-120"/>
              </a:rPr>
              <a:t>+0</a:t>
            </a:r>
            <a:endParaRPr lang="en-US" sz="1050" dirty="0"/>
          </a:p>
        </p:txBody>
      </p:sp>
      <p:sp>
        <p:nvSpPr>
          <p:cNvPr id="118" name="Text 108"/>
          <p:cNvSpPr/>
          <p:nvPr/>
        </p:nvSpPr>
        <p:spPr>
          <a:xfrm>
            <a:off x="7589193" y="6493073"/>
            <a:ext cx="5901779"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AVATARS</a:t>
            </a:r>
            <a:endParaRPr lang="en-US" sz="825" dirty="0"/>
          </a:p>
        </p:txBody>
      </p:sp>
      <p:sp>
        <p:nvSpPr>
          <p:cNvPr id="119" name="Shape 109"/>
          <p:cNvSpPr/>
          <p:nvPr/>
        </p:nvSpPr>
        <p:spPr>
          <a:xfrm>
            <a:off x="7589193" y="6859786"/>
            <a:ext cx="438150" cy="438150"/>
          </a:xfrm>
          <a:prstGeom prst="ellipse">
            <a:avLst/>
          </a:prstGeom>
          <a:solidFill>
            <a:srgbClr val="FBF9FE"/>
          </a:solidFill>
          <a:ln w="9525">
            <a:solidFill>
              <a:srgbClr val="C7BBDC"/>
            </a:solidFill>
            <a:prstDash val="solid"/>
          </a:ln>
          <a:effectLst>
            <a:outerShdw sx="100000" sy="100000" kx="0" ky="0" algn="bl" rotWithShape="0" blurRad="19050" dist="9525" dir="5400000">
              <a:srgbClr val="000000">
                <a:alpha val="35000"/>
              </a:srgbClr>
            </a:outerShdw>
          </a:effectLst>
        </p:spPr>
      </p:sp>
      <p:sp>
        <p:nvSpPr>
          <p:cNvPr id="120" name="Text 110"/>
          <p:cNvSpPr/>
          <p:nvPr/>
        </p:nvSpPr>
        <p:spPr>
          <a:xfrm>
            <a:off x="7560618" y="6869311"/>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3D3554"/>
                </a:solidFill>
                <a:latin typeface="Georgia" pitchFamily="34" charset="0"/>
                <a:ea typeface="Georgia" pitchFamily="34" charset="-122"/>
                <a:cs typeface="Georgia" pitchFamily="34" charset="-120"/>
              </a:rPr>
              <a:t>IV</a:t>
            </a:r>
            <a:endParaRPr lang="en-US" sz="1350" dirty="0"/>
          </a:p>
        </p:txBody>
      </p:sp>
      <p:sp>
        <p:nvSpPr>
          <p:cNvPr id="121" name="Shape 111"/>
          <p:cNvSpPr/>
          <p:nvPr/>
        </p:nvSpPr>
        <p:spPr>
          <a:xfrm>
            <a:off x="7889825" y="7160419"/>
            <a:ext cx="147042" cy="147042"/>
          </a:xfrm>
          <a:prstGeom prst="ellipse">
            <a:avLst/>
          </a:prstGeom>
          <a:solidFill>
            <a:srgbClr val="B5601F"/>
          </a:solidFill>
          <a:ln w="19050">
            <a:solidFill>
              <a:srgbClr val="F6F3FB"/>
            </a:solidFill>
            <a:prstDash val="solid"/>
          </a:ln>
        </p:spPr>
      </p:sp>
      <p:sp>
        <p:nvSpPr>
          <p:cNvPr id="122" name="Shape 112"/>
          <p:cNvSpPr/>
          <p:nvPr/>
        </p:nvSpPr>
        <p:spPr>
          <a:xfrm>
            <a:off x="8141643" y="6850261"/>
            <a:ext cx="457200" cy="457200"/>
          </a:xfrm>
          <a:prstGeom prst="ellipse">
            <a:avLst/>
          </a:prstGeom>
          <a:solidFill>
            <a:srgbClr val="FBF9FE"/>
          </a:solidFill>
          <a:ln w="19050">
            <a:solidFill>
              <a:srgbClr val="4A3478"/>
            </a:solidFill>
            <a:prstDash val="solid"/>
          </a:ln>
          <a:effectLst>
            <a:outerShdw sx="100000" sy="100000" kx="0" ky="0" algn="bl" rotWithShape="0" blurRad="19050" dist="9525" dir="5400000">
              <a:srgbClr val="000000">
                <a:alpha val="35000"/>
              </a:srgbClr>
            </a:outerShdw>
          </a:effectLst>
        </p:spPr>
      </p:sp>
      <p:sp>
        <p:nvSpPr>
          <p:cNvPr id="123" name="Text 113"/>
          <p:cNvSpPr/>
          <p:nvPr/>
        </p:nvSpPr>
        <p:spPr>
          <a:xfrm>
            <a:off x="8122593" y="6869311"/>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3D3554"/>
                </a:solidFill>
                <a:latin typeface="Georgia" pitchFamily="34" charset="0"/>
                <a:ea typeface="Georgia" pitchFamily="34" charset="-122"/>
                <a:cs typeface="Georgia" pitchFamily="34" charset="-120"/>
              </a:rPr>
              <a:t>KN</a:t>
            </a:r>
            <a:endParaRPr lang="en-US" sz="1350" dirty="0"/>
          </a:p>
        </p:txBody>
      </p:sp>
      <p:sp>
        <p:nvSpPr>
          <p:cNvPr id="124" name="Shape 114"/>
          <p:cNvSpPr/>
          <p:nvPr/>
        </p:nvSpPr>
        <p:spPr>
          <a:xfrm>
            <a:off x="8461325" y="7169944"/>
            <a:ext cx="147042" cy="147042"/>
          </a:xfrm>
          <a:prstGeom prst="ellipse">
            <a:avLst/>
          </a:prstGeom>
          <a:solidFill>
            <a:srgbClr val="5B7A4E"/>
          </a:solidFill>
          <a:ln w="19050">
            <a:solidFill>
              <a:srgbClr val="F6F3FB"/>
            </a:solidFill>
            <a:prstDash val="solid"/>
          </a:ln>
        </p:spPr>
      </p:sp>
      <p:sp>
        <p:nvSpPr>
          <p:cNvPr id="125" name="Shape 115"/>
          <p:cNvSpPr/>
          <p:nvPr/>
        </p:nvSpPr>
        <p:spPr>
          <a:xfrm>
            <a:off x="8713143" y="6859786"/>
            <a:ext cx="438150" cy="438150"/>
          </a:xfrm>
          <a:prstGeom prst="roundRect">
            <a:avLst>
              <a:gd name="adj" fmla="val 6522"/>
            </a:avLst>
          </a:prstGeom>
          <a:solidFill>
            <a:srgbClr val="FBF9FE"/>
          </a:solidFill>
          <a:ln w="9525">
            <a:solidFill>
              <a:srgbClr val="C7BBDC"/>
            </a:solidFill>
            <a:prstDash val="solid"/>
          </a:ln>
          <a:effectLst>
            <a:outerShdw sx="100000" sy="100000" kx="0" ky="0" algn="bl" rotWithShape="0" blurRad="19050" dist="9525" dir="5400000">
              <a:srgbClr val="000000">
                <a:alpha val="35000"/>
              </a:srgbClr>
            </a:outerShdw>
          </a:effectLst>
        </p:spPr>
      </p:sp>
      <p:sp>
        <p:nvSpPr>
          <p:cNvPr id="126" name="Text 116"/>
          <p:cNvSpPr/>
          <p:nvPr/>
        </p:nvSpPr>
        <p:spPr>
          <a:xfrm>
            <a:off x="8684568" y="6869311"/>
            <a:ext cx="495300" cy="457200"/>
          </a:xfrm>
          <a:prstGeom prst="rect">
            <a:avLst/>
          </a:prstGeom>
          <a:noFill/>
          <a:ln/>
        </p:spPr>
        <p:txBody>
          <a:bodyPr wrap="square" lIns="25400" tIns="25400" rIns="25400" bIns="25400" rtlCol="0" anchor="ctr">
            <a:normAutofit/>
          </a:bodyPr>
          <a:lstStyle/>
          <a:p>
            <a:pPr algn="ctr" indent="0" marL="0">
              <a:buNone/>
            </a:pPr>
            <a:r>
              <a:rPr lang="en-US" sz="1350" b="1" dirty="0">
                <a:solidFill>
                  <a:srgbClr val="3D3554"/>
                </a:solidFill>
                <a:latin typeface="Georgia" pitchFamily="34" charset="0"/>
                <a:ea typeface="Georgia" pitchFamily="34" charset="-122"/>
                <a:cs typeface="Georgia" pitchFamily="34" charset="-120"/>
              </a:rPr>
              <a:t>DV</a:t>
            </a:r>
            <a:endParaRPr lang="en-US" sz="1350" dirty="0"/>
          </a:p>
        </p:txBody>
      </p:sp>
      <p:sp>
        <p:nvSpPr>
          <p:cNvPr id="127" name="Shape 117"/>
          <p:cNvSpPr/>
          <p:nvPr/>
        </p:nvSpPr>
        <p:spPr>
          <a:xfrm>
            <a:off x="9013775" y="7160419"/>
            <a:ext cx="147042" cy="147042"/>
          </a:xfrm>
          <a:prstGeom prst="ellipse">
            <a:avLst/>
          </a:prstGeom>
          <a:solidFill>
            <a:srgbClr val="8A1F2A"/>
          </a:solidFill>
          <a:ln w="19050">
            <a:solidFill>
              <a:srgbClr val="F6F3FB"/>
            </a:solidFill>
            <a:prstDash val="solid"/>
          </a:ln>
        </p:spPr>
      </p:sp>
      <p:sp>
        <p:nvSpPr>
          <p:cNvPr id="128" name="Shape 118"/>
          <p:cNvSpPr/>
          <p:nvPr/>
        </p:nvSpPr>
        <p:spPr>
          <a:xfrm>
            <a:off x="9265593" y="6764536"/>
            <a:ext cx="628650" cy="628650"/>
          </a:xfrm>
          <a:prstGeom prst="ellipse">
            <a:avLst/>
          </a:prstGeom>
          <a:solidFill>
            <a:srgbClr val="FBF9FE"/>
          </a:solidFill>
          <a:ln w="9525">
            <a:solidFill>
              <a:srgbClr val="C7BBDC"/>
            </a:solidFill>
            <a:prstDash val="solid"/>
          </a:ln>
          <a:effectLst>
            <a:outerShdw sx="100000" sy="100000" kx="0" ky="0" algn="bl" rotWithShape="0" blurRad="19050" dist="9525" dir="5400000">
              <a:srgbClr val="000000">
                <a:alpha val="35000"/>
              </a:srgbClr>
            </a:outerShdw>
          </a:effectLst>
        </p:spPr>
      </p:sp>
      <p:sp>
        <p:nvSpPr>
          <p:cNvPr id="129" name="Text 119"/>
          <p:cNvSpPr/>
          <p:nvPr/>
        </p:nvSpPr>
        <p:spPr>
          <a:xfrm>
            <a:off x="9237018" y="6774061"/>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3D3554"/>
                </a:solidFill>
                <a:latin typeface="Georgia" pitchFamily="34" charset="0"/>
                <a:ea typeface="Georgia" pitchFamily="34" charset="-122"/>
                <a:cs typeface="Georgia" pitchFamily="34" charset="-120"/>
              </a:rPr>
              <a:t>SF</a:t>
            </a:r>
            <a:endParaRPr lang="en-US" sz="1950" dirty="0"/>
          </a:p>
        </p:txBody>
      </p:sp>
      <p:sp>
        <p:nvSpPr>
          <p:cNvPr id="130" name="Text 120"/>
          <p:cNvSpPr/>
          <p:nvPr/>
        </p:nvSpPr>
        <p:spPr>
          <a:xfrm>
            <a:off x="13373546" y="1804988"/>
            <a:ext cx="5311520"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DICE</a:t>
            </a:r>
            <a:endParaRPr lang="en-US" sz="825" dirty="0"/>
          </a:p>
        </p:txBody>
      </p:sp>
      <p:sp>
        <p:nvSpPr>
          <p:cNvPr id="131" name="Shape 121"/>
          <p:cNvSpPr/>
          <p:nvPr/>
        </p:nvSpPr>
        <p:spPr>
          <a:xfrm>
            <a:off x="13373546" y="2076450"/>
            <a:ext cx="4828654" cy="2347913"/>
          </a:xfrm>
          <a:prstGeom prst="roundRect">
            <a:avLst>
              <a:gd name="adj" fmla="val 2028"/>
            </a:avLst>
          </a:prstGeom>
          <a:solidFill>
            <a:srgbClr val="F6F3FB"/>
          </a:solidFill>
          <a:ln w="9525">
            <a:solidFill>
              <a:srgbClr val="D8D0E6"/>
            </a:solidFill>
            <a:prstDash val="solid"/>
          </a:ln>
          <a:effectLst>
            <a:outerShdw sx="100000" sy="100000" kx="0" ky="0" algn="bl" rotWithShape="0" blurRad="133350" dist="38100" dir="5400000">
              <a:srgbClr val="000000">
                <a:alpha val="40000"/>
              </a:srgbClr>
            </a:outerShdw>
          </a:effectLst>
        </p:spPr>
      </p:sp>
      <p:sp>
        <p:nvSpPr>
          <p:cNvPr id="132" name="Shape 122"/>
          <p:cNvSpPr/>
          <p:nvPr/>
        </p:nvSpPr>
        <p:spPr>
          <a:xfrm>
            <a:off x="13611671" y="2314575"/>
            <a:ext cx="388739" cy="290513"/>
          </a:xfrm>
          <a:prstGeom prst="roundRect">
            <a:avLst>
              <a:gd name="adj" fmla="val 9836"/>
            </a:avLst>
          </a:prstGeom>
          <a:solidFill>
            <a:srgbClr val="FBF9FE"/>
          </a:solidFill>
          <a:ln w="9525">
            <a:solidFill>
              <a:srgbClr val="C7BBDC"/>
            </a:solidFill>
            <a:prstDash val="solid"/>
          </a:ln>
        </p:spPr>
      </p:sp>
      <p:sp>
        <p:nvSpPr>
          <p:cNvPr id="133" name="Text 123"/>
          <p:cNvSpPr/>
          <p:nvPr/>
        </p:nvSpPr>
        <p:spPr>
          <a:xfrm>
            <a:off x="13687871" y="2371725"/>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3D3554"/>
                </a:solidFill>
                <a:latin typeface="Courier New" pitchFamily="34" charset="0"/>
                <a:ea typeface="Courier New" pitchFamily="34" charset="-122"/>
                <a:cs typeface="Courier New" pitchFamily="34" charset="-120"/>
              </a:rPr>
              <a:t>d 6</a:t>
            </a:r>
            <a:endParaRPr lang="en-US" sz="1050" dirty="0"/>
          </a:p>
        </p:txBody>
      </p:sp>
      <p:sp>
        <p:nvSpPr>
          <p:cNvPr id="134" name="Shape 124"/>
          <p:cNvSpPr/>
          <p:nvPr/>
        </p:nvSpPr>
        <p:spPr>
          <a:xfrm>
            <a:off x="14057561" y="2314575"/>
            <a:ext cx="388739" cy="290513"/>
          </a:xfrm>
          <a:prstGeom prst="roundRect">
            <a:avLst>
              <a:gd name="adj" fmla="val 9836"/>
            </a:avLst>
          </a:prstGeom>
          <a:solidFill>
            <a:srgbClr val="FBF9FE"/>
          </a:solidFill>
          <a:ln w="9525">
            <a:solidFill>
              <a:srgbClr val="C7BBDC"/>
            </a:solidFill>
            <a:prstDash val="solid"/>
          </a:ln>
        </p:spPr>
      </p:sp>
      <p:sp>
        <p:nvSpPr>
          <p:cNvPr id="135" name="Text 125"/>
          <p:cNvSpPr/>
          <p:nvPr/>
        </p:nvSpPr>
        <p:spPr>
          <a:xfrm>
            <a:off x="14133761" y="2371725"/>
            <a:ext cx="236339"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3D3554"/>
                </a:solidFill>
                <a:latin typeface="Courier New" pitchFamily="34" charset="0"/>
                <a:ea typeface="Courier New" pitchFamily="34" charset="-122"/>
                <a:cs typeface="Courier New" pitchFamily="34" charset="-120"/>
              </a:rPr>
              <a:t>d 8</a:t>
            </a:r>
            <a:endParaRPr lang="en-US" sz="1050" dirty="0"/>
          </a:p>
        </p:txBody>
      </p:sp>
      <p:sp>
        <p:nvSpPr>
          <p:cNvPr id="136" name="Shape 126"/>
          <p:cNvSpPr/>
          <p:nvPr/>
        </p:nvSpPr>
        <p:spPr>
          <a:xfrm>
            <a:off x="14503450" y="2314575"/>
            <a:ext cx="468734" cy="290513"/>
          </a:xfrm>
          <a:prstGeom prst="roundRect">
            <a:avLst>
              <a:gd name="adj" fmla="val 9836"/>
            </a:avLst>
          </a:prstGeom>
          <a:solidFill>
            <a:srgbClr val="FBF9FE"/>
          </a:solidFill>
          <a:ln w="9525">
            <a:solidFill>
              <a:srgbClr val="C7BBDC"/>
            </a:solidFill>
            <a:prstDash val="solid"/>
          </a:ln>
        </p:spPr>
      </p:sp>
      <p:sp>
        <p:nvSpPr>
          <p:cNvPr id="137" name="Text 127"/>
          <p:cNvSpPr/>
          <p:nvPr/>
        </p:nvSpPr>
        <p:spPr>
          <a:xfrm>
            <a:off x="14579650" y="2371725"/>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3D3554"/>
                </a:solidFill>
                <a:latin typeface="Courier New" pitchFamily="34" charset="0"/>
                <a:ea typeface="Courier New" pitchFamily="34" charset="-122"/>
                <a:cs typeface="Courier New" pitchFamily="34" charset="-120"/>
              </a:rPr>
              <a:t>d 12</a:t>
            </a:r>
            <a:endParaRPr lang="en-US" sz="1050" dirty="0"/>
          </a:p>
        </p:txBody>
      </p:sp>
      <p:sp>
        <p:nvSpPr>
          <p:cNvPr id="138" name="Shape 128"/>
          <p:cNvSpPr/>
          <p:nvPr/>
        </p:nvSpPr>
        <p:spPr>
          <a:xfrm>
            <a:off x="15029334" y="2314575"/>
            <a:ext cx="468734" cy="290513"/>
          </a:xfrm>
          <a:prstGeom prst="roundRect">
            <a:avLst>
              <a:gd name="adj" fmla="val 9836"/>
            </a:avLst>
          </a:prstGeom>
          <a:solidFill>
            <a:srgbClr val="4A3478">
              <a:alpha val="12000"/>
            </a:srgbClr>
          </a:solidFill>
          <a:ln w="9525">
            <a:solidFill>
              <a:srgbClr val="4A3478"/>
            </a:solidFill>
            <a:prstDash val="solid"/>
          </a:ln>
        </p:spPr>
      </p:sp>
      <p:sp>
        <p:nvSpPr>
          <p:cNvPr id="139" name="Text 129"/>
          <p:cNvSpPr/>
          <p:nvPr/>
        </p:nvSpPr>
        <p:spPr>
          <a:xfrm>
            <a:off x="15105534" y="2371725"/>
            <a:ext cx="316334" cy="214312"/>
          </a:xfrm>
          <a:prstGeom prst="rect">
            <a:avLst/>
          </a:prstGeom>
          <a:noFill/>
          <a:ln/>
        </p:spPr>
        <p:txBody>
          <a:bodyPr wrap="square" lIns="25400" tIns="25400" rIns="25400" bIns="25400" rtlCol="0" anchor="t">
            <a:normAutofit/>
          </a:bodyPr>
          <a:lstStyle/>
          <a:p>
            <a:pPr algn="ctr" indent="0" marL="0">
              <a:buNone/>
            </a:pPr>
            <a:r>
              <a:rPr lang="en-US" sz="1050" dirty="0">
                <a:solidFill>
                  <a:srgbClr val="4A3478"/>
                </a:solidFill>
                <a:latin typeface="Courier New" pitchFamily="34" charset="0"/>
                <a:ea typeface="Courier New" pitchFamily="34" charset="-122"/>
                <a:cs typeface="Courier New" pitchFamily="34" charset="-120"/>
              </a:rPr>
              <a:t>d 20</a:t>
            </a:r>
            <a:endParaRPr lang="en-US" sz="1050" dirty="0"/>
          </a:p>
        </p:txBody>
      </p:sp>
      <p:sp>
        <p:nvSpPr>
          <p:cNvPr id="140" name="Shape 130"/>
          <p:cNvSpPr/>
          <p:nvPr/>
        </p:nvSpPr>
        <p:spPr>
          <a:xfrm>
            <a:off x="13611671" y="2738438"/>
            <a:ext cx="914400" cy="914400"/>
          </a:xfrm>
          <a:prstGeom prst="roundRect">
            <a:avLst>
              <a:gd name="adj" fmla="val 5208"/>
            </a:avLst>
          </a:prstGeom>
          <a:solidFill>
            <a:srgbClr val="E5DFF0"/>
          </a:solidFill>
          <a:ln w="19050">
            <a:solidFill>
              <a:srgbClr val="AB9CC6"/>
            </a:solidFill>
            <a:prstDash val="solid"/>
          </a:ln>
        </p:spPr>
      </p:sp>
      <p:sp>
        <p:nvSpPr>
          <p:cNvPr id="141" name="Text 131"/>
          <p:cNvSpPr/>
          <p:nvPr/>
        </p:nvSpPr>
        <p:spPr>
          <a:xfrm>
            <a:off x="13711535" y="2890838"/>
            <a:ext cx="79087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1A1626"/>
                </a:solidFill>
                <a:latin typeface="Georgia" pitchFamily="34" charset="0"/>
                <a:ea typeface="Georgia" pitchFamily="34" charset="-122"/>
                <a:cs typeface="Georgia" pitchFamily="34" charset="-120"/>
              </a:rPr>
              <a:t>20</a:t>
            </a:r>
            <a:endParaRPr lang="en-US" sz="4800" dirty="0"/>
          </a:p>
        </p:txBody>
      </p:sp>
      <p:sp>
        <p:nvSpPr>
          <p:cNvPr id="142" name="Text 132"/>
          <p:cNvSpPr/>
          <p:nvPr/>
        </p:nvSpPr>
        <p:spPr>
          <a:xfrm>
            <a:off x="14678471" y="2916064"/>
            <a:ext cx="3614165"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4A3478"/>
                </a:solidFill>
                <a:latin typeface="Courier New" pitchFamily="34" charset="0"/>
                <a:ea typeface="Courier New" pitchFamily="34" charset="-122"/>
                <a:cs typeface="Courier New" pitchFamily="34" charset="-120"/>
              </a:rPr>
              <a:t>AWAITING THE THROW</a:t>
            </a:r>
            <a:endParaRPr lang="en-US" sz="900" dirty="0"/>
          </a:p>
        </p:txBody>
      </p:sp>
      <p:sp>
        <p:nvSpPr>
          <p:cNvPr id="143" name="Text 133"/>
          <p:cNvSpPr/>
          <p:nvPr/>
        </p:nvSpPr>
        <p:spPr>
          <a:xfrm>
            <a:off x="14678471" y="3063701"/>
            <a:ext cx="3614165" cy="449535"/>
          </a:xfrm>
          <a:prstGeom prst="rect">
            <a:avLst/>
          </a:prstGeom>
          <a:noFill/>
          <a:ln/>
        </p:spPr>
        <p:txBody>
          <a:bodyPr wrap="square" lIns="25400" tIns="25400" rIns="25400" bIns="25400" rtlCol="0" anchor="t">
            <a:normAutofit/>
          </a:bodyPr>
          <a:lstStyle/>
          <a:p>
            <a:pPr algn="l" indent="0" marL="0">
              <a:lnSpc>
                <a:spcPct val="120000"/>
              </a:lnSpc>
              <a:buNone/>
            </a:pPr>
            <a:r>
              <a:rPr lang="en-US" sz="2700" b="1" dirty="0">
                <a:solidFill>
                  <a:srgbClr val="1A1626"/>
                </a:solidFill>
                <a:latin typeface="Georgia" pitchFamily="34" charset="0"/>
                <a:ea typeface="Georgia" pitchFamily="34" charset="-122"/>
                <a:cs typeface="Georgia" pitchFamily="34" charset="-120"/>
              </a:rPr>
              <a:t>—</a:t>
            </a:r>
            <a:endParaRPr lang="en-US" sz="2700" dirty="0"/>
          </a:p>
        </p:txBody>
      </p:sp>
      <p:sp>
        <p:nvSpPr>
          <p:cNvPr id="144" name="Shape 134"/>
          <p:cNvSpPr/>
          <p:nvPr/>
        </p:nvSpPr>
        <p:spPr>
          <a:xfrm>
            <a:off x="13611671" y="3786188"/>
            <a:ext cx="4352404" cy="400050"/>
          </a:xfrm>
          <a:prstGeom prst="roundRect">
            <a:avLst>
              <a:gd name="adj" fmla="val 7143"/>
            </a:avLst>
          </a:prstGeom>
          <a:solidFill>
            <a:srgbClr val="4A3478"/>
          </a:solidFill>
          <a:ln w="9525">
            <a:solidFill>
              <a:srgbClr val="4A3478"/>
            </a:solidFill>
            <a:prstDash val="solid"/>
          </a:ln>
        </p:spPr>
      </p:sp>
      <p:sp>
        <p:nvSpPr>
          <p:cNvPr id="145" name="Text 135"/>
          <p:cNvSpPr/>
          <p:nvPr/>
        </p:nvSpPr>
        <p:spPr>
          <a:xfrm>
            <a:off x="13660685" y="3900488"/>
            <a:ext cx="4254376" cy="20955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FBF9FE"/>
                </a:solidFill>
                <a:latin typeface="Georgia" pitchFamily="34" charset="0"/>
                <a:ea typeface="Georgia" pitchFamily="34" charset="-122"/>
                <a:cs typeface="Georgia" pitchFamily="34" charset="-120"/>
              </a:rPr>
              <a:t>Roll d 20</a:t>
            </a:r>
            <a:endParaRPr lang="en-US" sz="1200" dirty="0"/>
          </a:p>
        </p:txBody>
      </p:sp>
      <p:sp>
        <p:nvSpPr>
          <p:cNvPr id="146" name="Text 136"/>
          <p:cNvSpPr/>
          <p:nvPr/>
        </p:nvSpPr>
        <p:spPr>
          <a:xfrm>
            <a:off x="13373546" y="4710113"/>
            <a:ext cx="5311520" cy="176212"/>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4A3478"/>
                </a:solidFill>
                <a:latin typeface="Courier New" pitchFamily="34" charset="0"/>
                <a:ea typeface="Courier New" pitchFamily="34" charset="-122"/>
                <a:cs typeface="Courier New" pitchFamily="34" charset="-120"/>
              </a:rPr>
              <a:t>CHRONICLE</a:t>
            </a:r>
            <a:endParaRPr lang="en-US" sz="825" dirty="0"/>
          </a:p>
        </p:txBody>
      </p:sp>
      <p:sp>
        <p:nvSpPr>
          <p:cNvPr id="147" name="Shape 137"/>
          <p:cNvSpPr/>
          <p:nvPr/>
        </p:nvSpPr>
        <p:spPr>
          <a:xfrm>
            <a:off x="13440221" y="5038725"/>
            <a:ext cx="9525" cy="1476375"/>
          </a:xfrm>
          <a:prstGeom prst="rect">
            <a:avLst/>
          </a:prstGeom>
          <a:solidFill>
            <a:srgbClr val="C7BBDC"/>
          </a:solidFill>
          <a:ln/>
        </p:spPr>
      </p:sp>
      <p:sp>
        <p:nvSpPr>
          <p:cNvPr id="148" name="Shape 138"/>
          <p:cNvSpPr/>
          <p:nvPr/>
        </p:nvSpPr>
        <p:spPr>
          <a:xfrm>
            <a:off x="13373546" y="5010150"/>
            <a:ext cx="180975" cy="180975"/>
          </a:xfrm>
          <a:prstGeom prst="ellipse">
            <a:avLst/>
          </a:prstGeom>
          <a:solidFill>
            <a:srgbClr val="ECE8F2"/>
          </a:solidFill>
          <a:ln w="19050">
            <a:solidFill>
              <a:srgbClr val="AB9CC6"/>
            </a:solidFill>
            <a:prstDash val="solid"/>
          </a:ln>
        </p:spPr>
      </p:sp>
      <p:sp>
        <p:nvSpPr>
          <p:cNvPr id="149" name="Text 139"/>
          <p:cNvSpPr/>
          <p:nvPr/>
        </p:nvSpPr>
        <p:spPr>
          <a:xfrm>
            <a:off x="13640246" y="4981575"/>
            <a:ext cx="50181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6E6485"/>
                </a:solidFill>
                <a:latin typeface="Courier New" pitchFamily="34" charset="0"/>
                <a:ea typeface="Courier New" pitchFamily="34" charset="-122"/>
                <a:cs typeface="Courier New" pitchFamily="34" charset="-120"/>
              </a:rPr>
              <a:t>YEAR I</a:t>
            </a:r>
            <a:endParaRPr lang="en-US" sz="900" dirty="0"/>
          </a:p>
        </p:txBody>
      </p:sp>
      <p:sp>
        <p:nvSpPr>
          <p:cNvPr id="150" name="Text 140"/>
          <p:cNvSpPr/>
          <p:nvPr/>
        </p:nvSpPr>
        <p:spPr>
          <a:xfrm>
            <a:off x="13640246" y="5157788"/>
            <a:ext cx="5018150"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1A1626"/>
                </a:solidFill>
                <a:latin typeface="Georgia" pitchFamily="34" charset="0"/>
                <a:ea typeface="Georgia" pitchFamily="34" charset="-122"/>
                <a:cs typeface="Georgia" pitchFamily="34" charset="-120"/>
              </a:rPr>
              <a:t>The Crossing</a:t>
            </a:r>
            <a:endParaRPr lang="en-US" sz="1350" dirty="0"/>
          </a:p>
        </p:txBody>
      </p:sp>
      <p:sp>
        <p:nvSpPr>
          <p:cNvPr id="151" name="Shape 141"/>
          <p:cNvSpPr/>
          <p:nvPr/>
        </p:nvSpPr>
        <p:spPr>
          <a:xfrm>
            <a:off x="13373546" y="5610225"/>
            <a:ext cx="180975" cy="180975"/>
          </a:xfrm>
          <a:prstGeom prst="ellipse">
            <a:avLst/>
          </a:prstGeom>
          <a:solidFill>
            <a:srgbClr val="ECE8F2"/>
          </a:solidFill>
          <a:ln w="19050">
            <a:solidFill>
              <a:srgbClr val="4A3478"/>
            </a:solidFill>
            <a:prstDash val="solid"/>
          </a:ln>
          <a:effectLst>
            <a:outerShdw sx="100000" sy="100000" kx="0" ky="0" algn="bl" rotWithShape="0" blurRad="95250" dist="50800" dir="16200000">
              <a:srgbClr val="4A3478">
                <a:alpha val="100000"/>
              </a:srgbClr>
            </a:outerShdw>
          </a:effectLst>
        </p:spPr>
      </p:sp>
      <p:sp>
        <p:nvSpPr>
          <p:cNvPr id="152" name="Text 142"/>
          <p:cNvSpPr/>
          <p:nvPr/>
        </p:nvSpPr>
        <p:spPr>
          <a:xfrm>
            <a:off x="13640246" y="5581650"/>
            <a:ext cx="50181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6E6485"/>
                </a:solidFill>
                <a:latin typeface="Courier New" pitchFamily="34" charset="0"/>
                <a:ea typeface="Courier New" pitchFamily="34" charset="-122"/>
                <a:cs typeface="Courier New" pitchFamily="34" charset="-120"/>
              </a:rPr>
              <a:t>YEAR III</a:t>
            </a:r>
            <a:endParaRPr lang="en-US" sz="900" dirty="0"/>
          </a:p>
        </p:txBody>
      </p:sp>
      <p:sp>
        <p:nvSpPr>
          <p:cNvPr id="153" name="Text 143"/>
          <p:cNvSpPr/>
          <p:nvPr/>
        </p:nvSpPr>
        <p:spPr>
          <a:xfrm>
            <a:off x="13640246" y="5757863"/>
            <a:ext cx="5018150"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1A1626"/>
                </a:solidFill>
                <a:latin typeface="Georgia" pitchFamily="34" charset="0"/>
                <a:ea typeface="Georgia" pitchFamily="34" charset="-122"/>
                <a:cs typeface="Georgia" pitchFamily="34" charset="-120"/>
              </a:rPr>
              <a:t>Oath of Salt</a:t>
            </a:r>
            <a:endParaRPr lang="en-US" sz="1350" dirty="0"/>
          </a:p>
        </p:txBody>
      </p:sp>
      <p:sp>
        <p:nvSpPr>
          <p:cNvPr id="154" name="Shape 144"/>
          <p:cNvSpPr/>
          <p:nvPr/>
        </p:nvSpPr>
        <p:spPr>
          <a:xfrm>
            <a:off x="13373546" y="6210300"/>
            <a:ext cx="180975" cy="180975"/>
          </a:xfrm>
          <a:prstGeom prst="ellipse">
            <a:avLst/>
          </a:prstGeom>
          <a:solidFill>
            <a:srgbClr val="ECE8F2"/>
          </a:solidFill>
          <a:ln w="19050">
            <a:solidFill>
              <a:srgbClr val="8A1F2A"/>
            </a:solidFill>
            <a:prstDash val="solid"/>
          </a:ln>
        </p:spPr>
      </p:sp>
      <p:sp>
        <p:nvSpPr>
          <p:cNvPr id="155" name="Text 145"/>
          <p:cNvSpPr/>
          <p:nvPr/>
        </p:nvSpPr>
        <p:spPr>
          <a:xfrm>
            <a:off x="13640246" y="6181725"/>
            <a:ext cx="5018150" cy="185738"/>
          </a:xfrm>
          <a:prstGeom prst="rect">
            <a:avLst/>
          </a:prstGeom>
          <a:noFill/>
          <a:ln/>
        </p:spPr>
        <p:txBody>
          <a:bodyPr wrap="square" lIns="25400" tIns="25400" rIns="25400" bIns="25400" rtlCol="0" anchor="t">
            <a:normAutofit/>
          </a:bodyPr>
          <a:lstStyle/>
          <a:p>
            <a:pPr algn="l" indent="0" marL="0">
              <a:buNone/>
            </a:pPr>
            <a:r>
              <a:rPr lang="en-US" sz="900" spc="252" kern="0" dirty="0">
                <a:solidFill>
                  <a:srgbClr val="6E6485"/>
                </a:solidFill>
                <a:latin typeface="Courier New" pitchFamily="34" charset="0"/>
                <a:ea typeface="Courier New" pitchFamily="34" charset="-122"/>
                <a:cs typeface="Courier New" pitchFamily="34" charset="-120"/>
              </a:rPr>
              <a:t>YEAR IV</a:t>
            </a:r>
            <a:endParaRPr lang="en-US" sz="900" dirty="0"/>
          </a:p>
        </p:txBody>
      </p:sp>
      <p:sp>
        <p:nvSpPr>
          <p:cNvPr id="156" name="Text 146"/>
          <p:cNvSpPr/>
          <p:nvPr/>
        </p:nvSpPr>
        <p:spPr>
          <a:xfrm>
            <a:off x="13640246" y="6357938"/>
            <a:ext cx="5018150" cy="252413"/>
          </a:xfrm>
          <a:prstGeom prst="rect">
            <a:avLst/>
          </a:prstGeom>
          <a:noFill/>
          <a:ln/>
        </p:spPr>
        <p:txBody>
          <a:bodyPr wrap="square" lIns="25400" tIns="25400" rIns="25400" bIns="25400" rtlCol="0" anchor="t">
            <a:normAutofit/>
          </a:bodyPr>
          <a:lstStyle/>
          <a:p>
            <a:pPr algn="l" indent="0" marL="0">
              <a:lnSpc>
                <a:spcPct val="125000"/>
              </a:lnSpc>
              <a:buNone/>
            </a:pPr>
            <a:r>
              <a:rPr lang="en-US" sz="1350" b="1" dirty="0">
                <a:solidFill>
                  <a:srgbClr val="1A1626"/>
                </a:solidFill>
                <a:latin typeface="Georgia" pitchFamily="34" charset="0"/>
                <a:ea typeface="Georgia" pitchFamily="34" charset="-122"/>
                <a:cs typeface="Georgia" pitchFamily="34" charset="-120"/>
              </a:rPr>
              <a:t>The Drowning</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0A0F"/>
          </a:solidFill>
          <a:ln/>
        </p:spPr>
      </p:sp>
      <p:sp>
        <p:nvSpPr>
          <p:cNvPr id="3" name="Text 1"/>
          <p:cNvSpPr/>
          <p:nvPr/>
        </p:nvSpPr>
        <p:spPr>
          <a:xfrm>
            <a:off x="533400" y="3630290"/>
            <a:ext cx="599777" cy="552450"/>
          </a:xfrm>
          <a:prstGeom prst="rect">
            <a:avLst/>
          </a:prstGeom>
          <a:noFill/>
          <a:ln/>
        </p:spPr>
        <p:txBody>
          <a:bodyPr wrap="square" lIns="25400" tIns="25400" rIns="25400" bIns="25400" rtlCol="0" anchor="t">
            <a:normAutofit/>
          </a:bodyPr>
          <a:lstStyle/>
          <a:p>
            <a:pPr algn="l" indent="0" marL="0">
              <a:buNone/>
            </a:pPr>
            <a:r>
              <a:rPr lang="en-US" sz="3000" spc="1200" kern="0" dirty="0">
                <a:solidFill>
                  <a:srgbClr val="DB4A3F"/>
                </a:solidFill>
                <a:latin typeface="Georgia" pitchFamily="34" charset="0"/>
                <a:ea typeface="Georgia" pitchFamily="34" charset="-122"/>
                <a:cs typeface="Georgia" pitchFamily="34" charset="-120"/>
              </a:rPr>
              <a:t>ᛏ</a:t>
            </a:r>
            <a:endParaRPr lang="en-US" sz="3000" dirty="0"/>
          </a:p>
        </p:txBody>
      </p:sp>
      <p:sp>
        <p:nvSpPr>
          <p:cNvPr id="4" name="Text 2"/>
          <p:cNvSpPr/>
          <p:nvPr/>
        </p:nvSpPr>
        <p:spPr>
          <a:xfrm>
            <a:off x="533400" y="4392290"/>
            <a:ext cx="10332942" cy="1583382"/>
          </a:xfrm>
          <a:prstGeom prst="rect">
            <a:avLst/>
          </a:prstGeom>
          <a:noFill/>
          <a:ln/>
        </p:spPr>
        <p:txBody>
          <a:bodyPr wrap="square" lIns="25400" tIns="25400" rIns="25400" bIns="25400" rtlCol="0" anchor="t">
            <a:normAutofit/>
          </a:bodyPr>
          <a:lstStyle/>
          <a:p>
            <a:pPr algn="l" indent="0" marL="0">
              <a:lnSpc>
                <a:spcPct val="104000"/>
              </a:lnSpc>
              <a:buNone/>
            </a:pPr>
            <a:r>
              <a:rPr lang="en-US" sz="5850" b="1" dirty="0">
                <a:solidFill>
                  <a:srgbClr val="ECE6D6"/>
                </a:solidFill>
                <a:latin typeface="Georgia" pitchFamily="34" charset="0"/>
                <a:ea typeface="Georgia" pitchFamily="34" charset="-122"/>
                <a:cs typeface="Georgia" pitchFamily="34" charset="-120"/>
              </a:rPr>
              <a:t>What the keep records, the saga keeps.</a:t>
            </a:r>
            <a:endParaRPr lang="en-US" sz="5850" dirty="0"/>
          </a:p>
        </p:txBody>
      </p:sp>
      <p:sp>
        <p:nvSpPr>
          <p:cNvPr id="5" name="Text 3"/>
          <p:cNvSpPr/>
          <p:nvPr/>
        </p:nvSpPr>
        <p:spPr>
          <a:xfrm>
            <a:off x="533400" y="6394772"/>
            <a:ext cx="6752585" cy="242888"/>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837B66"/>
                </a:solidFill>
                <a:latin typeface="Courier New" pitchFamily="34" charset="0"/>
                <a:ea typeface="Courier New" pitchFamily="34" charset="-122"/>
                <a:cs typeface="Courier New" pitchFamily="34" charset="-120"/>
              </a:rPr>
              <a:t>TRIWIZARD DESIGN SYSTEM · ASK FOR ANY SCREEN IN DEPTH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2026-06-29T20:30:32Z</dcterms:created>
  <dcterms:modified xsi:type="dcterms:W3CDTF">2026-06-29T20:30:32Z</dcterms:modified>
</cp:coreProperties>
</file>